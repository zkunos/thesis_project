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7.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d23db98fff94c41" /><Relationship Type="http://schemas.openxmlformats.org/officeDocument/2006/relationships/extended-properties" Target="/docProps/app.xml" Id="R4e20d0fc7db14c52" /><Relationship Type="http://schemas.openxmlformats.org/officeDocument/2006/relationships/officeDocument" Target="/ppt/presentation.xml" Id="Rf9d5f85038c547ed" /></Relationships>
</file>

<file path=ppt/presentation.xml><?xml version="1.0" encoding="utf-8"?>
<p:presentation xmlns:p="http://schemas.openxmlformats.org/presentationml/2006/main">
  <p:sldMasterIdLst>
    <p:sldMasterId xmlns:r="http://schemas.openxmlformats.org/officeDocument/2006/relationships" id="2147483648" r:id="R791ef4f78c11431b"/>
  </p:sldMasterIdLst>
  <p:notesMasterIdLst>
    <p:notesMasterId xmlns:r="http://schemas.openxmlformats.org/officeDocument/2006/relationships" r:id="R6cf11d2ef65d4703"/>
  </p:notesMasterIdLst>
  <p:sldIdLst>
    <p:sldId xmlns:r="http://schemas.openxmlformats.org/officeDocument/2006/relationships" id="256" r:id="Red3e38d8002944ea"/>
    <p:sldId xmlns:r="http://schemas.openxmlformats.org/officeDocument/2006/relationships" id="257" r:id="R5b02bdfb6e7e41f4"/>
    <p:sldId xmlns:r="http://schemas.openxmlformats.org/officeDocument/2006/relationships" id="258" r:id="Raf6ebfe82b1340bf"/>
    <p:sldId xmlns:r="http://schemas.openxmlformats.org/officeDocument/2006/relationships" id="259" r:id="Rae230ff16c2b4433"/>
    <p:sldId xmlns:r="http://schemas.openxmlformats.org/officeDocument/2006/relationships" id="260" r:id="R420a93e9c79d4a24"/>
    <p:sldId xmlns:r="http://schemas.openxmlformats.org/officeDocument/2006/relationships" id="261" r:id="Raf9c11aa15d04953"/>
    <p:sldId xmlns:r="http://schemas.openxmlformats.org/officeDocument/2006/relationships" id="262" r:id="Rbb57ec7392214f91"/>
    <p:sldId xmlns:r="http://schemas.openxmlformats.org/officeDocument/2006/relationships" id="263" r:id="R14266b57a3be4f18"/>
    <p:sldId xmlns:r="http://schemas.openxmlformats.org/officeDocument/2006/relationships" id="264" r:id="R03756239322742d6"/>
    <p:sldId xmlns:r="http://schemas.openxmlformats.org/officeDocument/2006/relationships" id="265" r:id="R4488567051cc48e0"/>
    <p:sldId xmlns:r="http://schemas.openxmlformats.org/officeDocument/2006/relationships" id="266" r:id="R310c9a6a5b9f4364"/>
    <p:sldId xmlns:r="http://schemas.openxmlformats.org/officeDocument/2006/relationships" id="267" r:id="Re2b7b948a0ff49e6"/>
    <p:sldId xmlns:r="http://schemas.openxmlformats.org/officeDocument/2006/relationships" id="268" r:id="Rd6c278b634ce47c9"/>
    <p:sldId xmlns:r="http://schemas.openxmlformats.org/officeDocument/2006/relationships" id="269" r:id="R1152a426e3ca4178"/>
    <p:sldId xmlns:r="http://schemas.openxmlformats.org/officeDocument/2006/relationships" id="270" r:id="R8faa0fe011d6443e"/>
    <p:sldId xmlns:r="http://schemas.openxmlformats.org/officeDocument/2006/relationships" id="271" r:id="Rac4ea72d4ca34769"/>
    <p:sldId xmlns:r="http://schemas.openxmlformats.org/officeDocument/2006/relationships" id="272" r:id="R1771e10cb2ff40cb"/>
    <p:sldId xmlns:r="http://schemas.openxmlformats.org/officeDocument/2006/relationships" id="273" r:id="Rdc0496d283614d87"/>
    <p:sldId xmlns:r="http://schemas.openxmlformats.org/officeDocument/2006/relationships" id="274" r:id="R5d01107a64f944cb"/>
    <p:sldId xmlns:r="http://schemas.openxmlformats.org/officeDocument/2006/relationships" id="275" r:id="R4d28ca14a0aa4ffb"/>
    <p:sldId xmlns:r="http://schemas.openxmlformats.org/officeDocument/2006/relationships" id="276" r:id="R0d39005641e34900"/>
    <p:sldId xmlns:r="http://schemas.openxmlformats.org/officeDocument/2006/relationships" id="277" r:id="R6cfab21cad9c443e"/>
    <p:sldId xmlns:r="http://schemas.openxmlformats.org/officeDocument/2006/relationships" id="278" r:id="R368eb2e8b0a84d51"/>
    <p:sldId xmlns:r="http://schemas.openxmlformats.org/officeDocument/2006/relationships" id="279" r:id="Rb51f2dd55d214894"/>
    <p:sldId xmlns:r="http://schemas.openxmlformats.org/officeDocument/2006/relationships" id="280" r:id="Rd34f16df1472494e"/>
    <p:sldId xmlns:r="http://schemas.openxmlformats.org/officeDocument/2006/relationships" id="281" r:id="Reb9e3ed9e1794913"/>
    <p:sldId xmlns:r="http://schemas.openxmlformats.org/officeDocument/2006/relationships" id="282" r:id="R3fe84eb6e8da4a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d78951aefb4fb7" /><Relationship Type="http://schemas.openxmlformats.org/officeDocument/2006/relationships/slideMaster" Target="/ppt/slideMasters/slideMaster1.xml" Id="R791ef4f78c11431b" /><Relationship Type="http://schemas.openxmlformats.org/officeDocument/2006/relationships/notesMaster" Target="/ppt/notesMasters/notesMaster1.xml" Id="R6cf11d2ef65d4703" /><Relationship Type="http://schemas.openxmlformats.org/officeDocument/2006/relationships/presProps" Target="/ppt/presProps.xml" Id="Redea4a8998704a3d" /><Relationship Type="http://schemas.openxmlformats.org/officeDocument/2006/relationships/tableStyles" Target="/ppt/tableStyles.xml" Id="R37cb22a696cd4211" /><Relationship Type="http://schemas.openxmlformats.org/officeDocument/2006/relationships/slide" Target="/ppt/slides/slide1.xml" Id="Red3e38d8002944ea" /><Relationship Type="http://schemas.openxmlformats.org/officeDocument/2006/relationships/slide" Target="/ppt/slides/slide2.xml" Id="R5b02bdfb6e7e41f4" /><Relationship Type="http://schemas.openxmlformats.org/officeDocument/2006/relationships/slide" Target="/ppt/slides/slide3.xml" Id="Raf6ebfe82b1340bf" /><Relationship Type="http://schemas.openxmlformats.org/officeDocument/2006/relationships/slide" Target="/ppt/slides/slide4.xml" Id="Rae230ff16c2b4433" /><Relationship Type="http://schemas.openxmlformats.org/officeDocument/2006/relationships/slide" Target="/ppt/slides/slide5.xml" Id="R420a93e9c79d4a24" /><Relationship Type="http://schemas.openxmlformats.org/officeDocument/2006/relationships/slide" Target="/ppt/slides/slide6.xml" Id="Raf9c11aa15d04953" /><Relationship Type="http://schemas.openxmlformats.org/officeDocument/2006/relationships/slide" Target="/ppt/slides/slide7.xml" Id="Rbb57ec7392214f91" /><Relationship Type="http://schemas.openxmlformats.org/officeDocument/2006/relationships/slide" Target="/ppt/slides/slide8.xml" Id="R14266b57a3be4f18" /><Relationship Type="http://schemas.openxmlformats.org/officeDocument/2006/relationships/slide" Target="/ppt/slides/slide9.xml" Id="R03756239322742d6" /><Relationship Type="http://schemas.openxmlformats.org/officeDocument/2006/relationships/slide" Target="/ppt/slides/slide10.xml" Id="R4488567051cc48e0" /><Relationship Type="http://schemas.openxmlformats.org/officeDocument/2006/relationships/slide" Target="/ppt/slides/slide11.xml" Id="R310c9a6a5b9f4364" /><Relationship Type="http://schemas.openxmlformats.org/officeDocument/2006/relationships/slide" Target="/ppt/slides/slide12.xml" Id="Re2b7b948a0ff49e6" /><Relationship Type="http://schemas.openxmlformats.org/officeDocument/2006/relationships/slide" Target="/ppt/slides/slide13.xml" Id="Rd6c278b634ce47c9" /><Relationship Type="http://schemas.openxmlformats.org/officeDocument/2006/relationships/slide" Target="/ppt/slides/slide14.xml" Id="R1152a426e3ca4178" /><Relationship Type="http://schemas.openxmlformats.org/officeDocument/2006/relationships/slide" Target="/ppt/slides/slide15.xml" Id="R8faa0fe011d6443e" /><Relationship Type="http://schemas.openxmlformats.org/officeDocument/2006/relationships/slide" Target="/ppt/slides/slide16.xml" Id="Rac4ea72d4ca34769" /><Relationship Type="http://schemas.openxmlformats.org/officeDocument/2006/relationships/slide" Target="/ppt/slides/slide17.xml" Id="R1771e10cb2ff40cb" /><Relationship Type="http://schemas.openxmlformats.org/officeDocument/2006/relationships/slide" Target="/ppt/slides/slide18.xml" Id="Rdc0496d283614d87" /><Relationship Type="http://schemas.openxmlformats.org/officeDocument/2006/relationships/slide" Target="/ppt/slides/slide19.xml" Id="R5d01107a64f944cb" /><Relationship Type="http://schemas.openxmlformats.org/officeDocument/2006/relationships/slide" Target="/ppt/slides/slide20.xml" Id="R4d28ca14a0aa4ffb" /><Relationship Type="http://schemas.openxmlformats.org/officeDocument/2006/relationships/slide" Target="/ppt/slides/slide21.xml" Id="R0d39005641e34900" /><Relationship Type="http://schemas.openxmlformats.org/officeDocument/2006/relationships/slide" Target="/ppt/slides/slide22.xml" Id="R6cfab21cad9c443e" /><Relationship Type="http://schemas.openxmlformats.org/officeDocument/2006/relationships/slide" Target="/ppt/slides/slide23.xml" Id="R368eb2e8b0a84d51" /><Relationship Type="http://schemas.openxmlformats.org/officeDocument/2006/relationships/slide" Target="/ppt/slides/slide24.xml" Id="Rb51f2dd55d214894" /><Relationship Type="http://schemas.openxmlformats.org/officeDocument/2006/relationships/slide" Target="/ppt/slides/slide25.xml" Id="Rd34f16df1472494e" /><Relationship Type="http://schemas.openxmlformats.org/officeDocument/2006/relationships/slide" Target="/ppt/slides/slide26.xml" Id="Reb9e3ed9e1794913" /><Relationship Type="http://schemas.openxmlformats.org/officeDocument/2006/relationships/slide" Target="/ppt/slides/slide27.xml" Id="R3fe84eb6e8da4a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26b1944e3d44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gnitive research">
      <a:dk1>
        <a:srgbClr val="000000"/>
      </a:dk1>
      <a:lt1>
        <a:srgbClr val="FFFFFF"/>
      </a:lt1>
      <a:dk2>
        <a:srgbClr val="14323B"/>
      </a:dk2>
      <a:lt2>
        <a:srgbClr val="E5ECEE"/>
      </a:lt2>
      <a:accent1>
        <a:srgbClr val="087F8C"/>
      </a:accent1>
      <a:accent2>
        <a:srgbClr val="BA7D24"/>
      </a:accent2>
      <a:accent3>
        <a:srgbClr val="2975A2"/>
      </a:accent3>
      <a:accent4>
        <a:srgbClr val="B85647"/>
      </a:accent4>
      <a:accent5>
        <a:srgbClr val="775CA5"/>
      </a:accent5>
      <a:accent6>
        <a:srgbClr val="72A6A6"/>
      </a:accent6>
      <a:hlink>
        <a:srgbClr val="087F8C"/>
      </a:hlink>
      <a:folHlink>
        <a:srgbClr val="775CA5"/>
      </a:folHlink>
    </a:clrScheme>
    <a:fontScheme name="">
      <a:majorFont>
        <a:latin typeface="Arial"/>
        <a:ea typeface=""/>
        <a:cs typeface=""/>
      </a:majorFont>
      <a:minorFont>
        <a:latin typeface="Arial"/>
        <a:ea typeface=""/>
        <a:cs typeface=""/>
      </a:minorFont>
    </a:fontScheme>
    <a:fmtScheme name="Cognitive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fa681334ae4bf3" /><Relationship Type="http://schemas.openxmlformats.org/officeDocument/2006/relationships/notesMaster" Target="/ppt/notesMasters/notesMaster1.xml" Id="R0e01b432c77048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b068d86c794afe" /><Relationship Type="http://schemas.openxmlformats.org/officeDocument/2006/relationships/notesMaster" Target="/ppt/notesMasters/notesMaster1.xml" Id="R43cfe608819747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d530aa715f4c82" /><Relationship Type="http://schemas.openxmlformats.org/officeDocument/2006/relationships/notesMaster" Target="/ppt/notesMasters/notesMaster1.xml" Id="Rcdb3073476c547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635cb9b6a141f2" /><Relationship Type="http://schemas.openxmlformats.org/officeDocument/2006/relationships/notesMaster" Target="/ppt/notesMasters/notesMaster1.xml" Id="R8a7aac528e244d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ac290e49174a7d" /><Relationship Type="http://schemas.openxmlformats.org/officeDocument/2006/relationships/notesMaster" Target="/ppt/notesMasters/notesMaster1.xml" Id="Rd6557813489a47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2bc90ef4774dea" /><Relationship Type="http://schemas.openxmlformats.org/officeDocument/2006/relationships/notesMaster" Target="/ppt/notesMasters/notesMaster1.xml" Id="R2a74181c48b543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c1214c8ad44b48" /><Relationship Type="http://schemas.openxmlformats.org/officeDocument/2006/relationships/notesMaster" Target="/ppt/notesMasters/notesMaster1.xml" Id="R81cf5ce393da4d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d8e6a37ad04f43" /><Relationship Type="http://schemas.openxmlformats.org/officeDocument/2006/relationships/notesMaster" Target="/ppt/notesMasters/notesMaster1.xml" Id="R33028698871845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2f829f6c864236" /><Relationship Type="http://schemas.openxmlformats.org/officeDocument/2006/relationships/notesMaster" Target="/ppt/notesMasters/notesMaster1.xml" Id="Rff067cbe485142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b72dfe58a7444f" /><Relationship Type="http://schemas.openxmlformats.org/officeDocument/2006/relationships/notesMaster" Target="/ppt/notesMasters/notesMaster1.xml" Id="R9f16c8f8ed214a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8297a448004f44" /><Relationship Type="http://schemas.openxmlformats.org/officeDocument/2006/relationships/notesMaster" Target="/ppt/notesMasters/notesMaster1.xml" Id="Re834b3c8e0614e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19a0b952f84e4e" /><Relationship Type="http://schemas.openxmlformats.org/officeDocument/2006/relationships/notesMaster" Target="/ppt/notesMasters/notesMaster1.xml" Id="Rffe15d2be4fc47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ed482f705c43b7" /><Relationship Type="http://schemas.openxmlformats.org/officeDocument/2006/relationships/notesMaster" Target="/ppt/notesMasters/notesMaster1.xml" Id="R5780cb88a69e48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44cd876be4452f" /><Relationship Type="http://schemas.openxmlformats.org/officeDocument/2006/relationships/notesMaster" Target="/ppt/notesMasters/notesMaster1.xml" Id="R509aca290e4843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6fc438cee746d6" /><Relationship Type="http://schemas.openxmlformats.org/officeDocument/2006/relationships/notesMaster" Target="/ppt/notesMasters/notesMaster1.xml" Id="Rdf34bb9aa81e4d7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05840428894dda" /><Relationship Type="http://schemas.openxmlformats.org/officeDocument/2006/relationships/notesMaster" Target="/ppt/notesMasters/notesMaster1.xml" Id="R718d308608e74d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45d12d9aa8492f" /><Relationship Type="http://schemas.openxmlformats.org/officeDocument/2006/relationships/notesMaster" Target="/ppt/notesMasters/notesMaster1.xml" Id="Re1a6dc44b4e346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0fd8d3273c4bfe" /><Relationship Type="http://schemas.openxmlformats.org/officeDocument/2006/relationships/notesMaster" Target="/ppt/notesMasters/notesMaster1.xml" Id="R00d624bfce05462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8d1f3ca763340b5" /><Relationship Type="http://schemas.openxmlformats.org/officeDocument/2006/relationships/notesMaster" Target="/ppt/notesMasters/notesMaster1.xml" Id="R69ecf185d88a4f8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b8331fb87594698" /><Relationship Type="http://schemas.openxmlformats.org/officeDocument/2006/relationships/notesMaster" Target="/ppt/notesMasters/notesMaster1.xml" Id="R34cb845b2b8d4c2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6fac38174ad4e31" /><Relationship Type="http://schemas.openxmlformats.org/officeDocument/2006/relationships/notesMaster" Target="/ppt/notesMasters/notesMaster1.xml" Id="R5a6d651070a647b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0a1649d061463f" /><Relationship Type="http://schemas.openxmlformats.org/officeDocument/2006/relationships/notesMaster" Target="/ppt/notesMasters/notesMaster1.xml" Id="Rd37b949cdd13481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336d9e8f66e47f7" /><Relationship Type="http://schemas.openxmlformats.org/officeDocument/2006/relationships/notesMaster" Target="/ppt/notesMasters/notesMaster1.xml" Id="Ree5190852dad481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69b8eb9b0724ee4" /><Relationship Type="http://schemas.openxmlformats.org/officeDocument/2006/relationships/notesMaster" Target="/ppt/notesMasters/notesMaster1.xml" Id="R2acde85465644b9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6aa03776aa64327" /><Relationship Type="http://schemas.openxmlformats.org/officeDocument/2006/relationships/notesMaster" Target="/ppt/notesMasters/notesMaster1.xml" Id="R3ae2b73d8a804b1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3d60e9755ad4d4f" /><Relationship Type="http://schemas.openxmlformats.org/officeDocument/2006/relationships/notesMaster" Target="/ppt/notesMasters/notesMaster1.xml" Id="Ra00b059dc401485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38bec6bb6984beb" /><Relationship Type="http://schemas.openxmlformats.org/officeDocument/2006/relationships/notesMaster" Target="/ppt/notesMasters/notesMaster1.xml" Id="R4f2ebc9241f148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30 seconds</a:t>
            </a:r>
          </a:p>
          <a:p xmlns:a="http://schemas.openxmlformats.org/drawingml/2006/main">
            <a:r>
              <a:t/>
            </a:r>
          </a:p>
          <a:p xmlns:a="http://schemas.openxmlformats.org/drawingml/2006/main">
            <a:r>
              <a:t>My thesis asks whether routine cognitive assessments after acquired brain injury reveal reproducible groups, and whether those groups justify a phenotype interpretation. I studied the influence of missing-data handling first, then added a separate patient-level validation design. I will show the evidence for repeatability, the choices that change membership, and the limits on clinical interpretation.</a:t>
            </a:r>
          </a:p>
          <a:p xmlns:a="http://schemas.openxmlformats.org/drawingml/2006/main">
            <a:r>
              <a:t/>
            </a:r>
          </a:p>
          <a:p xmlns:a="http://schemas.openxmlformats.org/drawingml/2006/main">
            <a:r>
              <a:t>Sources</a:t>
            </a:r>
          </a:p>
          <a:p xmlns:a="http://schemas.openxmlformats.org/drawingml/2006/main">
            <a:r>
              <a:t>report/main_short.pdf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
            </a:r>
          </a:p>
          <a:p xmlns:a="http://schemas.openxmlformats.org/drawingml/2006/main">
            <a:r>
              <a:t>Routine assessments capture different aspects of cognition, but they are incomplete and repeated over time. The central question is whether the data support qualitatively distinct cognitive profiles or mainly differences in score level. My answer is qualified: reproducible partitions exist within specified analyses. Their membership changes substantially with representation choices. The evidence therefore supports descriptive score groupings, while the clinical phenotype claim remains unresolved. I will keep repeatability, discreteness and clinical utility separate throughout the defense.</a:t>
            </a:r>
          </a:p>
          <a:p xmlns:a="http://schemas.openxmlformats.org/drawingml/2006/main">
            <a:r>
              <a:t/>
            </a:r>
          </a:p>
          <a:p xmlns:a="http://schemas.openxmlformats.org/drawingml/2006/main">
            <a:r>
              <a:t>Sources</a:t>
            </a:r>
          </a:p>
          <a:p xmlns:a="http://schemas.openxmlformats.org/drawingml/2006/main">
            <a:r>
              <a:t>report/main_short.pdf Chapters 1, 5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
            </a:r>
          </a:p>
          <a:p xmlns:a="http://schemas.openxmlformats.org/drawingml/2006/main">
            <a:r>
              <a:t>The historical analysis contains 17,406 eligible assessments from 7,285 patients. We retained 14 tests and grouped them into six domains. Eligibility required at least one observed retained test. The 50 percent missingness rule applied to variable selection, not to every assessment row. Only 9,245 assessments are complete across the retained tests, so complete-case analysis changes the sample substantially. For the extension, I selected one earliest eligible assessment per patient. These different units of analysis are essential for interpreting the results.</a:t>
            </a:r>
          </a:p>
          <a:p xmlns:a="http://schemas.openxmlformats.org/drawingml/2006/main">
            <a:r>
              <a:t/>
            </a:r>
          </a:p>
          <a:p xmlns:a="http://schemas.openxmlformats.org/drawingml/2006/main">
            <a:r>
              <a:t>Sources</a:t>
            </a:r>
          </a:p>
          <a:p xmlns:a="http://schemas.openxmlformats.org/drawingml/2006/main">
            <a:r>
              <a:t>report/main_short.pdf Section 4.1</a:t>
            </a:r>
          </a:p>
          <a:p xmlns:a="http://schemas.openxmlformats.org/drawingml/2006/main">
            <a:r>
              <a:t>report/Chapters_short/ClusteringExtensionMethods.tex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65 seconds</a:t>
            </a:r>
          </a:p>
          <a:p xmlns:a="http://schemas.openxmlformats.org/drawingml/2006/main">
            <a:r>
              <a:t/>
            </a:r>
          </a:p>
          <a:p xmlns:a="http://schemas.openxmlformats.org/drawingml/2006/main">
            <a:r>
              <a:t>The original discovery uses UMAP followed by HDBSCAN on assessment data. The H2 diagnostic is a separate test. It freezes one scaler, one MICE-based UMAP model and one three-group k-means assignment rule, then changes only the imputed values. It cannot establish that independent pipelines recover the same hierarchy. The patient extension instead fits preprocessing and clustering on discovery patients and compares assignments for the same held-out patients. The cohort, representation and validation design differ, so a higher ARI in the extension is not a performance improvement over historical H2.</a:t>
            </a:r>
          </a:p>
          <a:p xmlns:a="http://schemas.openxmlformats.org/drawingml/2006/main">
            <a:r>
              <a:t/>
            </a:r>
          </a:p>
          <a:p xmlns:a="http://schemas.openxmlformats.org/drawingml/2006/main">
            <a:r>
              <a:t>Sources</a:t>
            </a:r>
          </a:p>
          <a:p xmlns:a="http://schemas.openxmlformats.org/drawingml/2006/main">
            <a:r>
              <a:t>report/Chapters_short/Chapter4.tex Sections 4.3, 4.6 and 4.12</a:t>
            </a:r>
          </a:p>
          <a:p xmlns:a="http://schemas.openxmlformats.org/drawingml/2006/main">
            <a:r>
              <a:t>report/Chapters_short/ClusteringExtensionMethods.tex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
            </a:r>
          </a:p>
          <a:p xmlns:a="http://schemas.openxmlformats.org/drawingml/2006/main">
            <a:r>
              <a:t>The selected MICE analysis produced three groups of 6,725, 6,328 and 4,353 assessments. The profiles broadly move together across cognitive domains. The selected embedding gives a silhouette of 0.526 after reassignment, but those same labels give 0.079 in robust-scaled six-domain space. This is an important distinction: a clear separation in an embedding does not by itself demonstrate natural categories in the measured data. I therefore describe these historical groups as cohort-relative score bands. The original names do not establish normality against an external clinical reference.</a:t>
            </a:r>
          </a:p>
          <a:p xmlns:a="http://schemas.openxmlformats.org/drawingml/2006/main">
            <a:r>
              <a:t/>
            </a:r>
          </a:p>
          <a:p xmlns:a="http://schemas.openxmlformats.org/drawingml/2006/main">
            <a:r>
              <a:t>Sources</a:t>
            </a:r>
          </a:p>
          <a:p xmlns:a="http://schemas.openxmlformats.org/drawingml/2006/main">
            <a:r>
              <a:t>report/Chapters_short/Chapter4.tex Sections 4.3–4.5</a:t>
            </a:r>
          </a:p>
          <a:p xmlns:a="http://schemas.openxmlformats.org/drawingml/2006/main">
            <a:r>
              <a:t>results/Cluster_Names.csv</a:t>
            </a:r>
          </a:p>
          <a:p xmlns:a="http://schemas.openxmlformats.org/drawingml/2006/main">
            <a:r>
              <a:t>results/Clustering_Metrics_Summary.csv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65 seconds</a:t>
            </a:r>
          </a:p>
          <a:p xmlns:a="http://schemas.openxmlformats.org/drawingml/2006/main">
            <a:r>
              <a:t/>
            </a:r>
          </a:p>
          <a:p xmlns:a="http://schemas.openxmlformats.org/drawingml/2006/main">
            <a:r>
              <a:t>H1 is only partially supported. All ten imputation methods met the selected embedding silhouette and noise criteria, but core Jaccard agreement was moderate and the number of groups varied. H2 is supported within the fixed-reference design: median pairwise ARI is 0.739 and mean ARI is 0.710. H3 shows an association with clinical units, with Cramer V of 0.162, but added predictive value beyond diagnosis is unconfirmed. H4 mainly improves conditioning: VIF falls from 2.77 to 1.88, while the silhouette change is small. These qualifications motivate the patient-level extension.</a:t>
            </a:r>
          </a:p>
          <a:p xmlns:a="http://schemas.openxmlformats.org/drawingml/2006/main">
            <a:r>
              <a:t/>
            </a:r>
          </a:p>
          <a:p xmlns:a="http://schemas.openxmlformats.org/drawingml/2006/main">
            <a:r>
              <a:t>Sources</a:t>
            </a:r>
          </a:p>
          <a:p xmlns:a="http://schemas.openxmlformats.org/drawingml/2006/main">
            <a:r>
              <a:t>report/Chapters_short/Chapter4.tex Sections 4.5–4.8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65 seconds</a:t>
            </a:r>
          </a:p>
          <a:p xmlns:a="http://schemas.openxmlformats.org/drawingml/2006/main">
            <a:r>
              <a:t/>
            </a:r>
          </a:p>
          <a:p xmlns:a="http://schemas.openxmlformats.org/drawingml/2006/main">
            <a:r>
              <a:t>The extension takes the first eligible assessment of each patient and splits patients into 5,828 discovery and 1,457 validation profiles. Each patient appears in one split only. Discovery data determine clipping bounds, scaling, the imputer and domain weights. I reverse the timed attention test so that higher scores mean better performance. Discovery fits then assign the validation patients. Twenty stochastic imputations and fifty patient-subsample fits assess repeatability. Feature selection still came from the historical full cohort, so the split does not independently validate that earlier selection step.</a:t>
            </a:r>
          </a:p>
          <a:p xmlns:a="http://schemas.openxmlformats.org/drawingml/2006/main">
            <a:r>
              <a:t/>
            </a:r>
          </a:p>
          <a:p xmlns:a="http://schemas.openxmlformats.org/drawingml/2006/main">
            <a:r>
              <a:t>Sources</a:t>
            </a:r>
          </a:p>
          <a:p xmlns:a="http://schemas.openxmlformats.org/drawingml/2006/main">
            <a:r>
              <a:t>report/Chapters_short/ClusteringExtensionMethods.tex Cohort and preprocessing subsections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70 seconds</a:t>
            </a:r>
          </a:p>
          <a:p xmlns:a="http://schemas.openxmlformats.org/drawingml/2006/main">
            <a:r>
              <a:t/>
            </a:r>
          </a:p>
          <a:p xmlns:a="http://schemas.openxmlformats.org/drawingml/2006/main">
            <a:r>
              <a:t>For each of twenty stochastic imputations I refitted the clustering model and domain scaling, then compared labels for the same validation patients. The chart shows mean pairwise ARI for k-means and sampled PAM at fixed cluster counts. K-means is highly repeatable at two and three groups, but agreement falls at four groups. PAM is less stable at three and four groups. Separate fifty-run checks give mean ARI 0.968 when discovery patients are subsampled and 1.000 when only initialization changes. These results remain conditional on the bounded Bayesian imputation model and the robust domain representation.</a:t>
            </a:r>
          </a:p>
          <a:p xmlns:a="http://schemas.openxmlformats.org/drawingml/2006/main">
            <a:r>
              <a:t/>
            </a:r>
          </a:p>
          <a:p xmlns:a="http://schemas.openxmlformats.org/drawingml/2006/main">
            <a:r>
              <a:t>Sources</a:t>
            </a:r>
          </a:p>
          <a:p xmlns:a="http://schemas.openxmlformats.org/drawingml/2006/main">
            <a:r>
              <a:t>report/Chapters_short/ClusteringExtensionResults.tex Independent Imputation and Patient Stability</a:t>
            </a:r>
          </a:p>
          <a:p xmlns:a="http://schemas.openxmlformats.org/drawingml/2006/main">
            <a:r>
              <a:t>results/research_2026/refit_agreement.csv</a:t>
            </a:r>
          </a:p>
          <a:p xmlns:a="http://schemas.openxmlformats.org/drawingml/2006/main">
            <a:r>
              <a:t>https://doi.org/10.1186/s12874-026-02869-2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70 seconds</a:t>
            </a:r>
          </a:p>
          <a:p xmlns:a="http://schemas.openxmlformats.org/drawingml/2006/main">
            <a:r>
              <a:t/>
            </a:r>
          </a:p>
          <a:p xmlns:a="http://schemas.openxmlformats.org/drawingml/2006/main">
            <a:r>
              <a:t>Robust scaling divides by each domain’s interquartile range. Ceiling-heavy scores can have very narrow central ranges, amplifying their tails. Language and orientation then have much larger variances than memory or executive function. Equal-domain scaling gives each domain unit variance. At fixed three-group k-means, agreement between the robust and equal-domain validation labels is only 0.243. This is a substantive membership change, despite high repeatability within either representation. Equal-domain scaling was added after inspecting discovery variances, so it is an exploratory sensitivity. Neither weighting scheme has clinical validation.</a:t>
            </a:r>
          </a:p>
          <a:p xmlns:a="http://schemas.openxmlformats.org/drawingml/2006/main">
            <a:r>
              <a:t/>
            </a:r>
          </a:p>
          <a:p xmlns:a="http://schemas.openxmlformats.org/drawingml/2006/main">
            <a:r>
              <a:t>Sources</a:t>
            </a:r>
          </a:p>
          <a:p xmlns:a="http://schemas.openxmlformats.org/drawingml/2006/main">
            <a:r>
              <a:t>report/Chapters_short/ClusteringExtensionResults.tex Scaling, Missingness and Preprocessing Sensitivity</a:t>
            </a:r>
          </a:p>
          <a:p xmlns:a="http://schemas.openxmlformats.org/drawingml/2006/main">
            <a:r>
              <a:t>results/research_2026/scaling_audit.csv</a:t>
            </a:r>
          </a:p>
          <a:p xmlns:a="http://schemas.openxmlformats.org/drawingml/2006/main">
            <a:r>
              <a:t>results/research_2026/common_geometry_comparison.csv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70 seconds</a:t>
            </a:r>
          </a:p>
          <a:p xmlns:a="http://schemas.openxmlformats.org/drawingml/2006/main">
            <a:r>
              <a:t/>
            </a:r>
          </a:p>
          <a:p xmlns:a="http://schemas.openxmlformats.org/drawingml/2006/main">
            <a:r>
              <a:t>Both panels show the same underlying direction-aligned domain composites on the same vertical scale. Only the representation used to form the three groups changes. Under robust scaling, the large group contains 1,221 validation patients and the smallest contains 51, with marked language deficits. Equal-domain scaling yields groups of 194, 571 and 692 patients. Labels and colours are local to each solution. R1 and E1 do not identify the same people. These profiles help explain why I cannot transfer the historical clinical tier names to the patient-level labels.</a:t>
            </a:r>
          </a:p>
          <a:p xmlns:a="http://schemas.openxmlformats.org/drawingml/2006/main">
            <a:r>
              <a:t/>
            </a:r>
          </a:p>
          <a:p xmlns:a="http://schemas.openxmlformats.org/drawingml/2006/main">
            <a:r>
              <a:t>Sources</a:t>
            </a:r>
          </a:p>
          <a:p xmlns:a="http://schemas.openxmlformats.org/drawingml/2006/main">
            <a:r>
              <a:t>report/Chapters_short/ClusteringExtensionResults.tex Figure 4.12 and profile counts</a:t>
            </a:r>
          </a:p>
          <a:p xmlns:a="http://schemas.openxmlformats.org/drawingml/2006/main">
            <a:r>
              <a:t>results/dashboard/robust_profiles.csv</a:t>
            </a:r>
          </a:p>
          <a:p xmlns:a="http://schemas.openxmlformats.org/drawingml/2006/main">
            <a:r>
              <a:t>results/research_2026/scaling_profiles.csv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65 seconds</a:t>
            </a:r>
          </a:p>
          <a:p xmlns:a="http://schemas.openxmlformats.org/drawingml/2006/main">
            <a:r>
              <a:t/>
            </a:r>
          </a:p>
          <a:p xmlns:a="http://schemas.openxmlformats.org/drawingml/2006/main">
            <a:r>
              <a:t>Missingness is also associated with the fixed robust three-group assignments. For MRAVLT075, missingness ranges from about ten to eighty percent across groups, with Cramer V 0.412. FEPMR ranges from sixteen to eighty-six percent, with V 0.371. This association does not establish that missingness caused the groups, but it prevents us from dismissing the testing process. Changing the imputer matters too: mean imputation agrees with the reference at ARI 0.921, while KNN yields 0.538. High stability under one imputation model therefore does not demonstrate robustness to all missing-data assumptions.</a:t>
            </a:r>
          </a:p>
          <a:p xmlns:a="http://schemas.openxmlformats.org/drawingml/2006/main">
            <a:r>
              <a:t/>
            </a:r>
          </a:p>
          <a:p xmlns:a="http://schemas.openxmlformats.org/drawingml/2006/main">
            <a:r>
              <a:t>Sources</a:t>
            </a:r>
          </a:p>
          <a:p xmlns:a="http://schemas.openxmlformats.org/drawingml/2006/main">
            <a:r>
              <a:t>report/Chapters_short/ClusteringExtensionResults.tex Scaling, Missingness and Preprocessing Sensitivity</a:t>
            </a:r>
          </a:p>
          <a:p xmlns:a="http://schemas.openxmlformats.org/drawingml/2006/main">
            <a:r>
              <a:t>results/research_2026/cluster_missingness_association.csv</a:t>
            </a:r>
          </a:p>
          <a:p xmlns:a="http://schemas.openxmlformats.org/drawingml/2006/main">
            <a:r>
              <a:t>results/research_2026/missingness_sensitivity.csv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60 seconds</a:t>
            </a:r>
          </a:p>
          <a:p xmlns:a="http://schemas.openxmlformats.org/drawingml/2006/main">
            <a:r>
              <a:t/>
            </a:r>
          </a:p>
          <a:p xmlns:a="http://schemas.openxmlformats.org/drawingml/2006/main">
            <a:r>
              <a:t>This table keeps the reference six-domain geometry fixed, so these validation silhouettes have a common interpretation. K-means and sampled PAM select two groups. The tied and full Gaussian mixtures choose different component counts using BIC. Direct HDBSCAN assigns all patients to noise at the two tested minimum cluster sizes, whereas UMAP plus HDBSCAN recovers groups. That is a bounded parameter result, not a rejection of density clustering. K-means selects two groups in every one of the twenty imputation screens, but the search considers two through eight groups. It does not test one population against multiple populations.</a:t>
            </a:r>
          </a:p>
          <a:p xmlns:a="http://schemas.openxmlformats.org/drawingml/2006/main">
            <a:r>
              <a:t/>
            </a:r>
          </a:p>
          <a:p xmlns:a="http://schemas.openxmlformats.org/drawingml/2006/main">
            <a:r>
              <a:t>Sources</a:t>
            </a:r>
          </a:p>
          <a:p xmlns:a="http://schemas.openxmlformats.org/drawingml/2006/main">
            <a:r>
              <a:t>report/Chapters_short/ClusteringExtensionResults.tex Original-Space Comparisons and Cluster Count</a:t>
            </a:r>
          </a:p>
          <a:p xmlns:a="http://schemas.openxmlformats.org/drawingml/2006/main">
            <a:r>
              <a:t>results/research_2026/model_comparison.csv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
            </a:r>
          </a:p>
          <a:p xmlns:a="http://schemas.openxmlformats.org/drawingml/2006/main">
            <a:r>
              <a:t>I also evaluated models that integrate missing coordinates in the likelihood and models of repeated cognitive scores over time. The t mixture with four degrees of freedom has the best fit among the restricted families, but both t families choose eight components, the search boundary. More components can absorb skewness, tails and discrete score masses. In the longitudinal cohort of 2,013 patients, multiclass models improve fit, but every one includes a class below the specified five percent threshold. The rule selects one class with continuous random effects. Neither result establishes a unique set of clinical phenotypes or uniform recovery.</a:t>
            </a:r>
          </a:p>
          <a:p xmlns:a="http://schemas.openxmlformats.org/drawingml/2006/main">
            <a:r>
              <a:t/>
            </a:r>
          </a:p>
          <a:p xmlns:a="http://schemas.openxmlformats.org/drawingml/2006/main">
            <a:r>
              <a:t>Sources</a:t>
            </a:r>
          </a:p>
          <a:p xmlns:a="http://schemas.openxmlformats.org/drawingml/2006/main">
            <a:r>
              <a:t>report/Chapters_short/ClusteringExtensionResults.tex Incomplete-Data Mixtures and Longitudinal Findings</a:t>
            </a:r>
          </a:p>
          <a:p xmlns:a="http://schemas.openxmlformats.org/drawingml/2006/main">
            <a:r>
              <a:t>https://doi.org/10.18637/jss.v115.i03</a:t>
            </a:r>
          </a:p>
          <a:p xmlns:a="http://schemas.openxmlformats.org/drawingml/2006/main">
            <a:r>
              <a:t>https://doi.org/10.1186/s12874-026-02882-5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
            </a:r>
          </a:p>
          <a:p xmlns:a="http://schemas.openxmlformats.org/drawingml/2006/main">
            <a:r>
              <a:t>CogDash brings the assessment and patient-level findings into one research interface. The scaling view shown here lets a reader inspect how group membership changes. The new-profile view applies saved preprocessing and k-means models and reports distances to fitted centres. Those distances are not clinical probabilities. I would use the dashboard to inspect and communicate the evidence, while reserving diagnostic or treatment use for a future external validation study.</a:t>
            </a:r>
          </a:p>
          <a:p xmlns:a="http://schemas.openxmlformats.org/drawingml/2006/main">
            <a:r>
              <a:t/>
            </a:r>
          </a:p>
          <a:p xmlns:a="http://schemas.openxmlformats.org/drawingml/2006/main">
            <a:r>
              <a:t>Sources</a:t>
            </a:r>
          </a:p>
          <a:p xmlns:a="http://schemas.openxmlformats.org/drawingml/2006/main">
            <a:r>
              <a:t>presentation/cogdash_manual.pdf</a:t>
            </a:r>
          </a:p>
          <a:p xmlns:a="http://schemas.openxmlformats.org/drawingml/2006/main">
            <a:r>
              <a:t>presentation/manual_screenshots/12_research_scaling.jpg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
            </a:r>
          </a:p>
          <a:p xmlns:a="http://schemas.openxmlformats.org/drawingml/2006/main">
            <a:r>
              <a:t>Four limits are central. First, external replication and an independent functional outcome are absent. Second, inherited feature selection and the exploratory scaling comparison constrain validation. Third, the imputation model does not resolve missing-not-at-random mechanisms. Finally, the current mixture families and linear trajectories are restricted models. These limits do not invalidate the descriptive findings. They define the level of conclusion supported by the data and the next tests needed.</a:t>
            </a:r>
          </a:p>
          <a:p xmlns:a="http://schemas.openxmlformats.org/drawingml/2006/main">
            <a:r>
              <a:t/>
            </a:r>
          </a:p>
          <a:p xmlns:a="http://schemas.openxmlformats.org/drawingml/2006/main">
            <a:r>
              <a:t>Sources</a:t>
            </a:r>
          </a:p>
          <a:p xmlns:a="http://schemas.openxmlformats.org/drawingml/2006/main">
            <a:r>
              <a:t>report/main_short.pdf Chapter 6</a:t>
            </a:r>
          </a:p>
          <a:p xmlns:a="http://schemas.openxmlformats.org/drawingml/2006/main">
            <a:r>
              <a:t>report/Chapters_short/ClusteringExtensionMethods.tex</a:t>
            </a:r>
          </a:p>
          <a:p xmlns:a="http://schemas.openxmlformats.org/drawingml/2006/main">
            <a:r>
              <a:t>report/Chapters_short/ClusteringExtensionResults.tex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
            </a:r>
          </a:p>
          <a:p xmlns:a="http://schemas.openxmlformats.org/drawingml/2006/main">
            <a:r>
              <a:t>The main contribution is a reproducible way to separate stable assignment from stronger phenotype claims. The project makes sensitivity to imputation and representation visible, and translates the findings into a research dashboard. The next empirical step is an external cohort with independent functional outcomes. There I would compare continuous cognitive scores with the additional value of group membership, while prespecifying preprocessing and testing plausible missingness mechanisms. That would address clinical usefulness more directly than another internal silhouette comparison.</a:t>
            </a:r>
          </a:p>
          <a:p xmlns:a="http://schemas.openxmlformats.org/drawingml/2006/main">
            <a:r>
              <a:t/>
            </a:r>
          </a:p>
          <a:p xmlns:a="http://schemas.openxmlformats.org/drawingml/2006/main">
            <a:r>
              <a:t>Sources</a:t>
            </a:r>
          </a:p>
          <a:p xmlns:a="http://schemas.openxmlformats.org/drawingml/2006/main">
            <a:r>
              <a:t>report/main_short.pdf Chapters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20 seconds</a:t>
            </a:r>
          </a:p>
          <a:p xmlns:a="http://schemas.openxmlformats.org/drawingml/2006/main">
            <a:r>
              <a:t/>
            </a:r>
          </a:p>
          <a:p xmlns:a="http://schemas.openxmlformats.org/drawingml/2006/main">
            <a:r>
              <a:t>My conclusion is that we can identify repeatable score groups under specified choices. We have not yet established distinct clinical phenotypes. Scaling and missingness are central to that distinction. Thank you. I welcome your questions.</a:t>
            </a:r>
          </a:p>
          <a:p xmlns:a="http://schemas.openxmlformats.org/drawingml/2006/main">
            <a:r>
              <a:t/>
            </a:r>
          </a:p>
          <a:p xmlns:a="http://schemas.openxmlformats.org/drawingml/2006/main">
            <a:r>
              <a:t>Sources</a:t>
            </a:r>
          </a:p>
          <a:p xmlns:a="http://schemas.openxmlformats.org/drawingml/2006/main">
            <a:r>
              <a:t>report/main_short.pdf Chapter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H1 specified at least two clusters, silhouette at least 0.40 and noise no more than 30 percent for most imputation methods. The embedding criteria were met by all ten methods, but core stability and discreteness remain limited. H2 specified median pairwise ARI above 0.50 within a fixed-reference design. H3 specified a clinical-unit association with Cramer V above 0.10. H4 expected similar separation with less redundancy. The outcomes must be interpreted within these original scopes rather than retrospectively replaced by the extension.</a:t>
            </a:r>
          </a:p>
          <a:p xmlns:a="http://schemas.openxmlformats.org/drawingml/2006/main">
            <a:r>
              <a:t/>
            </a:r>
          </a:p>
          <a:p xmlns:a="http://schemas.openxmlformats.org/drawingml/2006/main">
            <a:r>
              <a:t>Sources</a:t>
            </a:r>
          </a:p>
          <a:p xmlns:a="http://schemas.openxmlformats.org/drawingml/2006/main">
            <a:r>
              <a:t>report/main_short.pdf Sections 1.3, 3.5 and 4.5–4.8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The historical H2 statistic compares ten imputations, giving 45 pairs, after a single scaler, UMAP and k-means rule fit on the MICE dataset. Its mean ARI is 0.710 and median 0.739. The patient extension refits models across twenty posterior draws and compares the same validation patients. Its fixed three-group k-means mean ARI is 0.935. Both are valid within their own questions, but they are not directly comparable measures of improvement. Historical independent assessment subsampling had mean ARI 0.273, illustrating why the fixed-reference claim must be narrow.</a:t>
            </a:r>
          </a:p>
          <a:p xmlns:a="http://schemas.openxmlformats.org/drawingml/2006/main">
            <a:r>
              <a:t/>
            </a:r>
          </a:p>
          <a:p xmlns:a="http://schemas.openxmlformats.org/drawingml/2006/main">
            <a:r>
              <a:t>Sources</a:t>
            </a:r>
          </a:p>
          <a:p xmlns:a="http://schemas.openxmlformats.org/drawingml/2006/main">
            <a:r>
              <a:t>report/Chapters_short/Chapter4.tex H2 and robustness sections</a:t>
            </a:r>
          </a:p>
          <a:p xmlns:a="http://schemas.openxmlformats.org/drawingml/2006/main">
            <a:r>
              <a:t>report/Chapters_short/ClusteringExtensionMethods.tex</a:t>
            </a:r>
          </a:p>
          <a:p xmlns:a="http://schemas.openxmlformats.org/drawingml/2006/main">
            <a:r>
              <a:t>results/research_2026/refit_agreement.csv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Each row summarizes pairwise agreement among twenty independent fits. Percentiles describe dependent pairwise comparisons because pairs share fitted partitions. They are not confidence intervals. K-means is particularly consistent at two and three groups under robust-domain geometry, whereas sampled PAM is sensitive at three and four groups. The stochastic draws are bounded Bayesian chained equations and do not cover uncertainty about the missingness mechanism.</a:t>
            </a:r>
          </a:p>
          <a:p xmlns:a="http://schemas.openxmlformats.org/drawingml/2006/main">
            <a:r>
              <a:t/>
            </a:r>
          </a:p>
          <a:p xmlns:a="http://schemas.openxmlformats.org/drawingml/2006/main">
            <a:r>
              <a:t>Sources</a:t>
            </a:r>
          </a:p>
          <a:p xmlns:a="http://schemas.openxmlformats.org/drawingml/2006/main">
            <a:r>
              <a:t>report/Chapters_short/ClusteringExtensionResults.tex Table: independent imputation agreement</a:t>
            </a:r>
          </a:p>
          <a:p xmlns:a="http://schemas.openxmlformats.org/drawingml/2006/main">
            <a:r>
              <a:t>results/research_2026/refit_agreement.csv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This cross-evaluation keeps each set of labels fixed and scores it in both geometries. Robust labels have silhouette 0.608 in robust space and 0.440 in equal-domain space. Equal-domain labels have 0.172 and 0.283 respectively. This demonstrates why a silhouette difference cannot be interpreted without specifying the representation. The group assignment itself changes too, with ARI 0.243. Equal-domain imputation stability falls to 0.769 at two groups and 0.747 at three groups. Neither representation is established as clinically correct.</a:t>
            </a:r>
          </a:p>
          <a:p xmlns:a="http://schemas.openxmlformats.org/drawingml/2006/main">
            <a:r>
              <a:t/>
            </a:r>
          </a:p>
          <a:p xmlns:a="http://schemas.openxmlformats.org/drawingml/2006/main">
            <a:r>
              <a:t>Sources</a:t>
            </a:r>
          </a:p>
          <a:p xmlns:a="http://schemas.openxmlformats.org/drawingml/2006/main">
            <a:r>
              <a:t>results/research_2026/common_geometry_comparison.csv</a:t>
            </a:r>
          </a:p>
          <a:p xmlns:a="http://schemas.openxmlformats.org/drawingml/2006/main">
            <a:r>
              <a:t>results/research_2026/equal_domain_imputation_stability.csv</a:t>
            </a:r>
          </a:p>
          <a:p xmlns:a="http://schemas.openxmlformats.org/drawingml/2006/main">
            <a:r>
              <a:t>report/Chapters_short/ClusteringExtensionResults.tex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The observed-data likelihood integrates missing test coordinates directly. The grid has 32 fits and 28 converge. Models must also assign at least two percent of discovery patients to every component. The t family with four degrees of freedom has the best BIC and validation likelihood among the selected restricted families. Both t families reach eight components at the upper search boundary. Silhouette in the completed domain space remains low. Posterior memberships quantify uncertainty conditional on the family and component count, not uncertainty about those choices or missingness.</a:t>
            </a:r>
          </a:p>
          <a:p xmlns:a="http://schemas.openxmlformats.org/drawingml/2006/main">
            <a:r>
              <a:t/>
            </a:r>
          </a:p>
          <a:p xmlns:a="http://schemas.openxmlformats.org/drawingml/2006/main">
            <a:r>
              <a:t>Sources</a:t>
            </a:r>
          </a:p>
          <a:p xmlns:a="http://schemas.openxmlformats.org/drawingml/2006/main">
            <a:r>
              <a:t>results/research_2026/robust_selected_models.csv</a:t>
            </a:r>
          </a:p>
          <a:p xmlns:a="http://schemas.openxmlformats.org/drawingml/2006/main">
            <a:r>
              <a:t>report/Chapters_short/ClusteringExtensionResults.tex</a:t>
            </a:r>
          </a:p>
          <a:p xmlns:a="http://schemas.openxmlformats.org/drawingml/2006/main">
            <a:r>
              <a:t>https://doi.org/10.18637/jss.v115.i03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The descriptive screen compares one thousand discovery patients with one hundred single-Gaussian-copula reference datasets. It preserves empirical discrete margins and resamples missingness masks, but generates masks independently of simulated values. The observed maximum k-means silhouette is 0.676, with fitted-reference tail fraction 0.0099. The PC1 dip-statistic tail fraction is 0.9901. Thus the silhouette exceeds this reference, while the projection test shows no excess multimodality relative to it. These are not omnibus p-values for clinical phenotypes. A separate easy positive control recovers two groups with silhouette 0.917.</a:t>
            </a:r>
          </a:p>
          <a:p xmlns:a="http://schemas.openxmlformats.org/drawingml/2006/main">
            <a:r>
              <a:t/>
            </a:r>
          </a:p>
          <a:p xmlns:a="http://schemas.openxmlformats.org/drawingml/2006/main">
            <a:r>
              <a:t>Sources</a:t>
            </a:r>
          </a:p>
          <a:p xmlns:a="http://schemas.openxmlformats.org/drawingml/2006/main">
            <a:r>
              <a:t>results/research_2026/calibration_summary.json</a:t>
            </a:r>
          </a:p>
          <a:p xmlns:a="http://schemas.openxmlformats.org/drawingml/2006/main">
            <a:r>
              <a:t>report/Chapters_short/ClusteringExtensionMethods.tex</a:t>
            </a:r>
          </a:p>
          <a:p xmlns:a="http://schemas.openxmlformats.org/drawingml/2006/main">
            <a:r>
              <a:t>report/Chapters_short/ClusteringExtensionResults.tex</a:t>
            </a:r>
          </a:p>
          <a:p xmlns:a="http://schemas.openxmlformats.org/drawingml/2006/main">
            <a:r>
              <a:t>https://doi.org/10.5334/jors.389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Eligibility requires at least three visits with seven observed tests, at least three distinct times, a span of 0.25 to five years, and consistent recorded injury age. This yields 1,590 discovery and 423 validation patients. Models integrate random intercept and slope effects and compare one to four classes. More classes improve BIC and validation likelihood, but every multiclass solution includes an expected discovery class smaller than five percent. The rule therefore selects the one-class model and multiclass resampling is not triggered. The threshold is an analysis rule, not a clinically validated cutoff, and the result does not establish homogeneous recovery.</a:t>
            </a:r>
          </a:p>
          <a:p xmlns:a="http://schemas.openxmlformats.org/drawingml/2006/main">
            <a:r>
              <a:t/>
            </a:r>
          </a:p>
          <a:p xmlns:a="http://schemas.openxmlformats.org/drawingml/2006/main">
            <a:r>
              <a:t>Sources</a:t>
            </a:r>
          </a:p>
          <a:p xmlns:a="http://schemas.openxmlformats.org/drawingml/2006/main">
            <a:r>
              <a:t>results/research_2026/trajectory_model_comparison.csv</a:t>
            </a:r>
          </a:p>
          <a:p xmlns:a="http://schemas.openxmlformats.org/drawingml/2006/main">
            <a:r>
              <a:t>report/Chapters_short/ClusteringExtensionMethods.tex</a:t>
            </a:r>
          </a:p>
          <a:p xmlns:a="http://schemas.openxmlformats.org/drawingml/2006/main">
            <a:r>
              <a:t>report/Chapters_short/ClusteringExtensionResults.tex</a:t>
            </a:r>
          </a:p>
          <a:p xmlns:a="http://schemas.openxmlformats.org/drawingml/2006/main">
            <a:r>
              <a:t>https://doi.org/10.1186/s12874-026-02882-5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These comparisons change one specified analysis choice relative to the robust reference and compare assignments on common validation patients. Mean imputation has ARI 0.921, KNN 0.538, the stricter availability rule 0.903 and no clipping 0.958. Extending deterministic imputation to fifty iterations converges at iteration thirty-seven with identical labels. Independent validation clustering under the frozen discovery transformation has ARI 0.895. That last quantity is agreement between partitions, not another held-out predictive score. The stricter availability sample retains 5,263 discovery and 1,339 validation patients.</a:t>
            </a:r>
          </a:p>
          <a:p xmlns:a="http://schemas.openxmlformats.org/drawingml/2006/main">
            <a:r>
              <a:t/>
            </a:r>
          </a:p>
          <a:p xmlns:a="http://schemas.openxmlformats.org/drawingml/2006/main">
            <a:r>
              <a:t>Sources</a:t>
            </a:r>
          </a:p>
          <a:p xmlns:a="http://schemas.openxmlformats.org/drawingml/2006/main">
            <a:r>
              <a:t>results/research_2026/missingness_sensitivity.csv</a:t>
            </a:r>
          </a:p>
          <a:p xmlns:a="http://schemas.openxmlformats.org/drawingml/2006/main">
            <a:r>
              <a:t>report/Chapters_short/ClusteringExtensionResults.tex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The historical pipeline compares ten imputation methods. Its MICE and predictive mean matching implementations use miceforest, so I would not describe the historical MICE implementation as a simple linear-regression imputer. The patient extension uses a distinct bounded Bayesian chained-equations model. Historical UMAP uses eight dimensions, fifteen neighbours and zero minimum distance. HDBSCAN uses minimum cluster size one thousand and minimum samples fifty. The extension also evaluates original-space k-means, sampled PAM, Gaussian mixtures, direct HDBSCAN and UMAP-HDBSCAN. The implementations are restricted local methods, not exact reproductions of the recent papers.</a:t>
            </a:r>
          </a:p>
          <a:p xmlns:a="http://schemas.openxmlformats.org/drawingml/2006/main">
            <a:r>
              <a:t/>
            </a:r>
          </a:p>
          <a:p xmlns:a="http://schemas.openxmlformats.org/drawingml/2006/main">
            <a:r>
              <a:t>Sources</a:t>
            </a:r>
          </a:p>
          <a:p xmlns:a="http://schemas.openxmlformats.org/drawingml/2006/main">
            <a:r>
              <a:t>report/main_short.pdf Sections 3.3, 3.7 and 3.8</a:t>
            </a:r>
          </a:p>
          <a:p xmlns:a="http://schemas.openxmlformats.org/drawingml/2006/main">
            <a:r>
              <a:t>report/Chapters_short/ClusteringExtensionMethods.tex</a:t>
            </a:r>
          </a:p>
          <a:p xmlns:a="http://schemas.openxmlformats.org/drawingml/2006/main">
            <a:r>
              <a:t>https://doi.org/10.18637/jss.v115.i03</a:t>
            </a:r>
          </a:p>
          <a:p xmlns:a="http://schemas.openxmlformats.org/drawingml/2006/main">
            <a:r>
              <a:t>https://doi.org/10.1186/s12874-026-02869-2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The association between historical tier and clinical unit has Cramer V 0.162. But the patient-grouped multinomial comparison does not establish added prediction beyond broad diagnosis: log loss improves by only 0.0013, with a patient-bootstrap interval from minus 0.0006 to 0.0031. The interval includes zero. We also lack an independent rehabilitation outcome. The dashboard is therefore a research exploration tool, not a validated basis for clinical placement or treatment. A useful future test would compare continuous cognitive scores and groups for predicting an independent functional endpoint in a new cohort.</a:t>
            </a:r>
          </a:p>
          <a:p xmlns:a="http://schemas.openxmlformats.org/drawingml/2006/main">
            <a:r>
              <a:t/>
            </a:r>
          </a:p>
          <a:p xmlns:a="http://schemas.openxmlformats.org/drawingml/2006/main">
            <a:r>
              <a:t>Sources</a:t>
            </a:r>
          </a:p>
          <a:p xmlns:a="http://schemas.openxmlformats.org/drawingml/2006/main">
            <a:r>
              <a:t>report/Chapters_short/Chapter4.tex Section 4.7</a:t>
            </a:r>
          </a:p>
          <a:p xmlns:a="http://schemas.openxmlformats.org/drawingml/2006/main">
            <a:r>
              <a:t>results/H3_Grouped_Multinomial_Summary.csv</a:t>
            </a:r>
          </a:p>
          <a:p xmlns:a="http://schemas.openxmlformats.org/drawingml/2006/main">
            <a:r>
              <a:t>presentation/cogdash_manual.pdf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81bc458d6d42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27735876c448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aa0c09871047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47c981fc3641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d09f26b93845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c8a0c9944743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41268F-BAA2-4C3F-AB85-AE46F6BF51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CA9D1A-665D-4417-96DD-7310BAAA5E1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86BD5F-4633-4002-883C-0BD322EF23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32FDDA-9FB0-4BC0-BA5D-A6830DC177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F9E704B-59EC-4598-9E04-86F5B5D43C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3962CFF-67B3-42B2-9728-72C32C43DF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7F47FA-650D-4B9B-B9C2-6D7CED31BD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AB789D-1D31-407E-BB05-92B7BFAB99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E83A97-4611-4DAD-A15A-17A942E480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309E43-BFEC-47C7-8932-4FADAB8262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dc841e638d4d6d" /><Relationship Type="http://schemas.openxmlformats.org/officeDocument/2006/relationships/slideLayout" Target="/ppt/slideLayouts/slideLayout1.xml" Id="Rd0fc61593d554c66" /><Relationship Type="http://schemas.openxmlformats.org/officeDocument/2006/relationships/slideLayout" Target="/ppt/slideLayouts/slideLayout2.xml" Id="R2b4dbbd608254de9" /><Relationship Type="http://schemas.openxmlformats.org/officeDocument/2006/relationships/slideLayout" Target="/ppt/slideLayouts/slideLayout3.xml" Id="R451462015ee54d17" /><Relationship Type="http://schemas.openxmlformats.org/officeDocument/2006/relationships/slideLayout" Target="/ppt/slideLayouts/slideLayout4.xml" Id="R8f486daabe6a4a2c" /><Relationship Type="http://schemas.openxmlformats.org/officeDocument/2006/relationships/slideLayout" Target="/ppt/slideLayouts/slideLayout5.xml" Id="R67fba8eb865b4884" /><Relationship Type="http://schemas.openxmlformats.org/officeDocument/2006/relationships/slideLayout" Target="/ppt/slideLayouts/slideLayout6.xml" Id="Rdfcad53b2cf34e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fc61593d554c66"/>
    <p:sldLayoutId xmlns:r="http://schemas.openxmlformats.org/officeDocument/2006/relationships" id="2147483650" r:id="R2b4dbbd608254de9"/>
    <p:sldLayoutId xmlns:r="http://schemas.openxmlformats.org/officeDocument/2006/relationships" id="2147483651" r:id="R451462015ee54d17"/>
    <p:sldLayoutId xmlns:r="http://schemas.openxmlformats.org/officeDocument/2006/relationships" id="2147483652" r:id="R8f486daabe6a4a2c"/>
    <p:sldLayoutId xmlns:r="http://schemas.openxmlformats.org/officeDocument/2006/relationships" id="2147483653" r:id="R67fba8eb865b4884"/>
    <p:sldLayoutId xmlns:r="http://schemas.openxmlformats.org/officeDocument/2006/relationships" id="2147483654" r:id="Rdfcad53b2cf34e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ognitive research">
      <a:dk1>
        <a:srgbClr val="000000"/>
      </a:dk1>
      <a:lt1>
        <a:srgbClr val="FFFFFF"/>
      </a:lt1>
      <a:dk2>
        <a:srgbClr val="14323B"/>
      </a:dk2>
      <a:lt2>
        <a:srgbClr val="E5ECEE"/>
      </a:lt2>
      <a:accent1>
        <a:srgbClr val="087F8C"/>
      </a:accent1>
      <a:accent2>
        <a:srgbClr val="BA7D24"/>
      </a:accent2>
      <a:accent3>
        <a:srgbClr val="2975A2"/>
      </a:accent3>
      <a:accent4>
        <a:srgbClr val="B85647"/>
      </a:accent4>
      <a:accent5>
        <a:srgbClr val="775CA5"/>
      </a:accent5>
      <a:accent6>
        <a:srgbClr val="72A6A6"/>
      </a:accent6>
      <a:hlink>
        <a:srgbClr val="087F8C"/>
      </a:hlink>
      <a:folHlink>
        <a:srgbClr val="775CA5"/>
      </a:folHlink>
    </a:clrScheme>
    <a:fontScheme name="">
      <a:majorFont>
        <a:latin typeface="Arial"/>
        <a:ea typeface=""/>
        <a:cs typeface=""/>
      </a:majorFont>
      <a:minorFont>
        <a:latin typeface="Arial"/>
        <a:ea typeface=""/>
        <a:cs typeface=""/>
      </a:minorFont>
    </a:fontScheme>
    <a:fmtScheme name="Cognitive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086969cca1435c" /><Relationship Type="http://schemas.openxmlformats.org/officeDocument/2006/relationships/notesSlide" Target="/ppt/notesSlides/notesSlide1.xml" Id="R4f4dd0fa3b4c45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52f7053bef4c99" /><Relationship Type="http://schemas.openxmlformats.org/officeDocument/2006/relationships/notesSlide" Target="/ppt/notesSlides/notesSlide2.xml" Id="Rff016d21f1c244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19745b8c364e7c" /><Relationship Type="http://schemas.openxmlformats.org/officeDocument/2006/relationships/chart" Target="/ppt/slides/charts/chart1.xml" Id="Rdc3445fcc6804e12" /><Relationship Type="http://schemas.openxmlformats.org/officeDocument/2006/relationships/notesSlide" Target="/ppt/notesSlides/notesSlide3.xml" Id="Rc76a4ff7f3414e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20a9bdc70d84a83" /><Relationship Type="http://schemas.openxmlformats.org/officeDocument/2006/relationships/notesSlide" Target="/ppt/notesSlides/notesSlide4.xml" Id="Re6ce10362dbf41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a60594109c54475" /><Relationship Type="http://schemas.openxmlformats.org/officeDocument/2006/relationships/chart" Target="/ppt/slides/charts/chart2.xml" Id="Rc9094635da9f4f44" /><Relationship Type="http://schemas.openxmlformats.org/officeDocument/2006/relationships/notesSlide" Target="/ppt/notesSlides/notesSlide5.xml" Id="R3dde3847881142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41928bac2742de" /><Relationship Type="http://schemas.openxmlformats.org/officeDocument/2006/relationships/notesSlide" Target="/ppt/notesSlides/notesSlide6.xml" Id="R7c3632f1d20d4f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4a2705c1b94512" /><Relationship Type="http://schemas.openxmlformats.org/officeDocument/2006/relationships/notesSlide" Target="/ppt/notesSlides/notesSlide7.xml" Id="R330d5d77ae2348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6e6184bf1744c6e" /><Relationship Type="http://schemas.openxmlformats.org/officeDocument/2006/relationships/chart" Target="/ppt/slides/charts/chart3.xml" Id="R20aa77625ea64acb" /><Relationship Type="http://schemas.openxmlformats.org/officeDocument/2006/relationships/notesSlide" Target="/ppt/notesSlides/notesSlide8.xml" Id="R5efc4d4018d744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2f63abadb04c07" /><Relationship Type="http://schemas.openxmlformats.org/officeDocument/2006/relationships/chart" Target="/ppt/slides/charts/chart4.xml" Id="R987b3f2ade0542c8" /><Relationship Type="http://schemas.openxmlformats.org/officeDocument/2006/relationships/notesSlide" Target="/ppt/notesSlides/notesSlide9.xml" Id="Rfec16b922c3d42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3608993fc9240ad" /><Relationship Type="http://schemas.openxmlformats.org/officeDocument/2006/relationships/chart" Target="/ppt/slides/charts/chart5.xml" Id="Rd2b0b9f99f84437b" /><Relationship Type="http://schemas.openxmlformats.org/officeDocument/2006/relationships/chart" Target="/ppt/slides/charts/chart6.xml" Id="R4a7c6bc2532f4198" /><Relationship Type="http://schemas.openxmlformats.org/officeDocument/2006/relationships/notesSlide" Target="/ppt/notesSlides/notesSlide10.xml" Id="R3866653c114549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4842093fc494a3f" /><Relationship Type="http://schemas.openxmlformats.org/officeDocument/2006/relationships/chart" Target="/ppt/slides/charts/chart7.xml" Id="Rae2de1305f884ece" /><Relationship Type="http://schemas.openxmlformats.org/officeDocument/2006/relationships/notesSlide" Target="/ppt/notesSlides/notesSlide11.xml" Id="R33437f1219bd43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7453c487a9741d2" /><Relationship Type="http://schemas.openxmlformats.org/officeDocument/2006/relationships/notesSlide" Target="/ppt/notesSlides/notesSlide12.xml" Id="Racea13b57c2d49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e5247feed554f25" /><Relationship Type="http://schemas.openxmlformats.org/officeDocument/2006/relationships/notesSlide" Target="/ppt/notesSlides/notesSlide13.xml" Id="R5fc03edd8fd14b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5821d60c88c4afb" /><Relationship Type="http://schemas.openxmlformats.org/officeDocument/2006/relationships/image" Target="/ppt/media/image.jpeg" Id="Rb82c8b2ced8e4149" /><Relationship Type="http://schemas.openxmlformats.org/officeDocument/2006/relationships/notesSlide" Target="/ppt/notesSlides/notesSlide14.xml" Id="Re2beadb78cbc4da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d85e30b39df4584" /><Relationship Type="http://schemas.openxmlformats.org/officeDocument/2006/relationships/notesSlide" Target="/ppt/notesSlides/notesSlide15.xml" Id="R722af56136f64f6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8ff2f8657c04b29" /><Relationship Type="http://schemas.openxmlformats.org/officeDocument/2006/relationships/notesSlide" Target="/ppt/notesSlides/notesSlide16.xml" Id="R8c2d91ef6bc04f3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d341232f06f4a1d" /><Relationship Type="http://schemas.openxmlformats.org/officeDocument/2006/relationships/notesSlide" Target="/ppt/notesSlides/notesSlide17.xml" Id="R74060ccf0d9d42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302b34b21044ae4" /><Relationship Type="http://schemas.openxmlformats.org/officeDocument/2006/relationships/notesSlide" Target="/ppt/notesSlides/notesSlide18.xml" Id="R61f2e0812b1b44a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648a6a8664b4cf7" /><Relationship Type="http://schemas.openxmlformats.org/officeDocument/2006/relationships/notesSlide" Target="/ppt/notesSlides/notesSlide19.xml" Id="R9875b2d777ed4de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0703b8a86634b8b" /><Relationship Type="http://schemas.openxmlformats.org/officeDocument/2006/relationships/notesSlide" Target="/ppt/notesSlides/notesSlide20.xml" Id="R35777dfd299446d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4d05bf6b350424a" /><Relationship Type="http://schemas.openxmlformats.org/officeDocument/2006/relationships/notesSlide" Target="/ppt/notesSlides/notesSlide21.xml" Id="R5102ffc5a6cb4b9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51f10ab83a54f00" /><Relationship Type="http://schemas.openxmlformats.org/officeDocument/2006/relationships/notesSlide" Target="/ppt/notesSlides/notesSlide22.xml" Id="Rfefae7096f98435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e9dc06a769d465c" /><Relationship Type="http://schemas.openxmlformats.org/officeDocument/2006/relationships/notesSlide" Target="/ppt/notesSlides/notesSlide23.xml" Id="R4ec3c7880d27416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cf9363d34a14289" /><Relationship Type="http://schemas.openxmlformats.org/officeDocument/2006/relationships/notesSlide" Target="/ppt/notesSlides/notesSlide24.xml" Id="R00820387d1be41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cce96e6c4b746cb" /><Relationship Type="http://schemas.openxmlformats.org/officeDocument/2006/relationships/notesSlide" Target="/ppt/notesSlides/notesSlide25.xml" Id="R6674f745bb0849f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15a7a9f389c47c2" /><Relationship Type="http://schemas.openxmlformats.org/officeDocument/2006/relationships/notesSlide" Target="/ppt/notesSlides/notesSlide26.xml" Id="R0da07203dce04f3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00380e89edb48fa" /><Relationship Type="http://schemas.openxmlformats.org/officeDocument/2006/relationships/notesSlide" Target="/ppt/notesSlides/notesSlide27.xml" Id="Ra84200d6cf7a465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Assessments</c:v>
          </c:tx>
          <c:spPr>
            <a:solidFill xmlns:a="http://schemas.openxmlformats.org/drawingml/2006/main">
              <a:srgbClr val="087F8C"/>
            </a:solidFill>
          </c:spPr>
          <c:invertIfNegative val="0"/>
          <c:dPt>
            <c:idx val="1"/>
            <c:invertIfNegative val="0"/>
            <c:spPr>
              <a:solidFill xmlns:a="http://schemas.openxmlformats.org/drawingml/2006/main">
                <a:srgbClr val="BA7D24"/>
              </a:solidFill>
            </c:spPr>
          </c:dPt>
          <c:cat>
            <c:strRef>
              <c:f>'Chart Data'!$A$2:$A$3</c:f>
              <c:strCache>
                <c:ptCount val="2"/>
                <c:pt idx="0">
                  <c:v>Complete</c:v>
                </c:pt>
                <c:pt idx="1">
                  <c:v>Incomplete</c:v>
                </c:pt>
              </c:strCache>
            </c:strRef>
          </c:cat>
          <c:val>
            <c:numRef>
              <c:f>'Chart Data'!$B$2:$B$3</c:f>
              <c:numCache>
                <c:formatCode>#,##0</c:formatCode>
                <c:ptCount val="2"/>
                <c:pt idx="0">
                  <c:v>9245</c:v>
                </c:pt>
                <c:pt idx="1">
                  <c:v>8161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14323B"/>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500">
                <a:solidFill>
                  <a:srgbClr val="60757C"/>
                </a:solidFill>
                <a:latin typeface="Arial"/>
                <a:ea typeface="Arial"/>
                <a:cs typeface="Arial"/>
              </a:defRPr>
            </a:pPr>
          </a:p>
        </c:txPr>
        <c:crossAx val="48672768"/>
      </c:catAx>
      <c:valAx>
        <c:axId val="48672768"/>
        <c:scaling>
          <c:orientation val="minMax"/>
          <c:max val="11000"/>
          <c:min val="0"/>
        </c:scaling>
        <c:delete val="0"/>
        <c:axPos val="l"/>
        <c:majorGridlines>
          <c:spPr>
            <a:ln xmlns:a="http://schemas.openxmlformats.org/drawingml/2006/main" w="9525">
              <a:solidFill>
                <a:srgbClr val="E5ECEE"/>
              </a:solidFill>
              <a:prstDash val="solid"/>
            </a:ln>
          </c:spPr>
        </c:majorGridlines>
        <c:numFmt formatCode="#,##0"/>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500">
                <a:solidFill>
                  <a:srgbClr val="60757C"/>
                </a:solidFill>
                <a:latin typeface="Arial"/>
                <a:ea typeface="Arial"/>
                <a:cs typeface="Arial"/>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Silhouette</c:v>
          </c:tx>
          <c:spPr>
            <a:solidFill xmlns:a="http://schemas.openxmlformats.org/drawingml/2006/main">
              <a:srgbClr val="087F8C"/>
            </a:solidFill>
          </c:spPr>
          <c:invertIfNegative val="0"/>
          <c:dPt>
            <c:idx val="1"/>
            <c:invertIfNegative val="0"/>
            <c:spPr>
              <a:solidFill xmlns:a="http://schemas.openxmlformats.org/drawingml/2006/main">
                <a:srgbClr val="BA7D24"/>
              </a:solidFill>
            </c:spPr>
          </c:dPt>
          <c:cat>
            <c:strRef>
              <c:f>'Chart Data'!$A$2:$A$3</c:f>
              <c:strCache>
                <c:ptCount val="2"/>
                <c:pt idx="0">
                  <c:v>Selected UMAP</c:v>
                </c:pt>
                <c:pt idx="1">
                  <c:v>Six domains</c:v>
                </c:pt>
              </c:strCache>
            </c:strRef>
          </c:cat>
          <c:val>
            <c:numRef>
              <c:f>'Chart Data'!$B$2:$B$3</c:f>
              <c:numCache>
                <c:formatCode>0.0</c:formatCode>
                <c:ptCount val="2"/>
                <c:pt idx="0">
                  <c:v>0.526</c:v>
                </c:pt>
                <c:pt idx="1">
                  <c:v>0.079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b="1">
                  <a:solidFill>
                    <a:srgbClr val="14323B"/>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500">
                <a:solidFill>
                  <a:srgbClr val="60757C"/>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9525">
              <a:solidFill>
                <a:srgbClr val="E5ECEE"/>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Silhouette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500">
                <a:solidFill>
                  <a:srgbClr val="60757C"/>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K-means</c:v>
          </c:tx>
          <c:spPr>
            <a:solidFill xmlns:a="http://schemas.openxmlformats.org/drawingml/2006/main">
              <a:srgbClr val="087F8C"/>
            </a:solidFill>
          </c:spPr>
          <c:invertIfNegative val="0"/>
          <c:cat>
            <c:strRef>
              <c:f>'Chart Data'!$A$2:$A$4</c:f>
              <c:strCache>
                <c:ptCount val="3"/>
                <c:pt idx="0">
                  <c:v>2 groups</c:v>
                </c:pt>
                <c:pt idx="1">
                  <c:v>3 groups</c:v>
                </c:pt>
                <c:pt idx="2">
                  <c:v>4 groups</c:v>
                </c:pt>
              </c:strCache>
            </c:strRef>
          </c:cat>
          <c:val>
            <c:numRef>
              <c:f>'Chart Data'!$B$2:$B$4</c:f>
              <c:numCache>
                <c:formatCode>0.0</c:formatCode>
                <c:ptCount val="3"/>
                <c:pt idx="0">
                  <c:v>0.958791</c:v>
                </c:pt>
                <c:pt idx="1">
                  <c:v>0.93452</c:v>
                </c:pt>
                <c:pt idx="2">
                  <c:v>0.738006</c:v>
                </c:pt>
              </c:numCache>
            </c:numRef>
          </c:val>
        </c:ser>
        <c:ser>
          <c:idx val="1"/>
          <c:order val="1"/>
          <c:tx>
            <c:v>Sampled PAM</c:v>
          </c:tx>
          <c:spPr>
            <a:solidFill xmlns:a="http://schemas.openxmlformats.org/drawingml/2006/main">
              <a:srgbClr val="BA7D24"/>
            </a:solidFill>
          </c:spPr>
          <c:invertIfNegative val="0"/>
          <c:cat>
            <c:strRef>
              <c:f>'Chart Data'!$C$2:$C$4</c:f>
              <c:strCache>
                <c:ptCount val="3"/>
                <c:pt idx="0">
                  <c:v>2 groups</c:v>
                </c:pt>
                <c:pt idx="1">
                  <c:v>3 groups</c:v>
                </c:pt>
                <c:pt idx="2">
                  <c:v>4 groups</c:v>
                </c:pt>
              </c:strCache>
            </c:strRef>
          </c:cat>
          <c:val>
            <c:numRef>
              <c:f>'Chart Data'!$D$2:$D$4</c:f>
              <c:numCache>
                <c:formatCode>0.0</c:formatCode>
                <c:ptCount val="3"/>
                <c:pt idx="0">
                  <c:v>0.909478</c:v>
                </c:pt>
                <c:pt idx="1">
                  <c:v>0.50431</c:v>
                </c:pt>
                <c:pt idx="2">
                  <c:v>0.461602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solidFill>
                    <a:srgbClr val="14323B"/>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500">
                <a:solidFill>
                  <a:srgbClr val="60757C"/>
                </a:solidFill>
                <a:latin typeface="Arial"/>
                <a:ea typeface="Arial"/>
                <a:cs typeface="Arial"/>
              </a:defRPr>
            </a:pPr>
          </a:p>
        </c:txPr>
        <c:crossAx val="48672768"/>
      </c:catAx>
      <c:valAx>
        <c:axId val="48672768"/>
        <c:scaling>
          <c:orientation val="minMax"/>
          <c:max val="1.05"/>
          <c:min val="0"/>
        </c:scaling>
        <c:delete val="0"/>
        <c:axPos val="l"/>
        <c:majorGridlines>
          <c:spPr>
            <a:ln xmlns:a="http://schemas.openxmlformats.org/drawingml/2006/main" w="9525">
              <a:solidFill>
                <a:srgbClr val="E5ECEE"/>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pairwise ARI</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500">
                <a:solidFill>
                  <a:srgbClr val="60757C"/>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323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Robust-scaled variance</c:v>
          </c:tx>
          <c:spPr>
            <a:solidFill xmlns:a="http://schemas.openxmlformats.org/drawingml/2006/main">
              <a:srgbClr val="087F8C"/>
            </a:solidFill>
          </c:spPr>
          <c:invertIfNegative val="0"/>
          <c:cat>
            <c:strRef>
              <c:f>'Chart Data'!$A$2:$A$7</c:f>
              <c:strCache>
                <c:ptCount val="6"/>
                <c:pt idx="0">
                  <c:v>Orient.</c:v>
                </c:pt>
                <c:pt idx="1">
                  <c:v>Attention</c:v>
                </c:pt>
                <c:pt idx="2">
                  <c:v>Visuo.</c:v>
                </c:pt>
                <c:pt idx="3">
                  <c:v>Language</c:v>
                </c:pt>
                <c:pt idx="4">
                  <c:v>Memory</c:v>
                </c:pt>
                <c:pt idx="5">
                  <c:v>Executive</c:v>
                </c:pt>
              </c:strCache>
            </c:strRef>
          </c:cat>
          <c:val>
            <c:numRef>
              <c:f>'Chart Data'!$B$2:$B$7</c:f>
              <c:numCache>
                <c:formatCode>0</c:formatCode>
                <c:ptCount val="6"/>
                <c:pt idx="0">
                  <c:v>5.762045</c:v>
                </c:pt>
                <c:pt idx="1">
                  <c:v>0.591578</c:v>
                </c:pt>
                <c:pt idx="2">
                  <c:v>2.06099</c:v>
                </c:pt>
                <c:pt idx="3">
                  <c:v>7.93381</c:v>
                </c:pt>
                <c:pt idx="4">
                  <c:v>0.438351</c:v>
                </c:pt>
                <c:pt idx="5">
                  <c:v>0.559948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a:solidFill>
                    <a:srgbClr val="14323B"/>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500">
                <a:solidFill>
                  <a:srgbClr val="60757C"/>
                </a:solidFill>
                <a:latin typeface="Arial"/>
                <a:ea typeface="Arial"/>
                <a:cs typeface="Arial"/>
              </a:defRPr>
            </a:pPr>
          </a:p>
        </c:txPr>
        <c:crossAx val="48672768"/>
      </c:catAx>
      <c:valAx>
        <c:axId val="48672768"/>
        <c:scaling>
          <c:orientation val="minMax"/>
          <c:max val="10"/>
          <c:min val="0"/>
        </c:scaling>
        <c:delete val="0"/>
        <c:axPos val="l"/>
        <c:majorGridlines>
          <c:spPr>
            <a:ln xmlns:a="http://schemas.openxmlformats.org/drawingml/2006/main" w="9525">
              <a:solidFill>
                <a:srgbClr val="E5ECEE"/>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Variance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500">
                <a:solidFill>
                  <a:srgbClr val="60757C"/>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R1 (n=1221)</c:v>
          </c:tx>
          <c:spPr>
            <a:ln xmlns:a="http://schemas.openxmlformats.org/drawingml/2006/main" w="28575">
              <a:solidFill>
                <a:srgbClr val="2975A2"/>
              </a:solidFill>
            </a:ln>
          </c:spPr>
          <c:marker>
            <c:symbol val="circle"/>
            <c:size val="7"/>
            <c:spPr>
              <a:solidFill xmlns:a="http://schemas.openxmlformats.org/drawingml/2006/main">
                <a:srgbClr val="2975A2"/>
              </a:solidFill>
            </c:spPr>
          </c:marker>
          <c:cat>
            <c:strRef>
              <c:f>'Chart Data'!$A$2:$A$7</c:f>
              <c:strCache>
                <c:ptCount val="6"/>
                <c:pt idx="0">
                  <c:v>Orient.</c:v>
                </c:pt>
                <c:pt idx="1">
                  <c:v>Attn.</c:v>
                </c:pt>
                <c:pt idx="2">
                  <c:v>Visuo.</c:v>
                </c:pt>
                <c:pt idx="3">
                  <c:v>Lang.</c:v>
                </c:pt>
                <c:pt idx="4">
                  <c:v>Memory</c:v>
                </c:pt>
                <c:pt idx="5">
                  <c:v>Exec.</c:v>
                </c:pt>
              </c:strCache>
            </c:strRef>
          </c:cat>
          <c:val>
            <c:numRef>
              <c:f>'Chart Data'!$B$2:$B$7</c:f>
              <c:numCache>
                <c:formatCode>0.0</c:formatCode>
                <c:ptCount val="6"/>
                <c:pt idx="0">
                  <c:v>0.281085</c:v>
                </c:pt>
                <c:pt idx="1">
                  <c:v>-0.011816</c:v>
                </c:pt>
                <c:pt idx="2">
                  <c:v>0.100881</c:v>
                </c:pt>
                <c:pt idx="3">
                  <c:v>0.188875</c:v>
                </c:pt>
                <c:pt idx="4">
                  <c:v>0.066301</c:v>
                </c:pt>
                <c:pt idx="5">
                  <c:v>0.018494</c:v>
                </c:pt>
              </c:numCache>
            </c:numRef>
          </c:val>
          <c:smooth val="0"/>
        </c:ser>
        <c:ser>
          <c:idx val="1"/>
          <c:order val="1"/>
          <c:tx>
            <c:v>R2 (n=185)</c:v>
          </c:tx>
          <c:spPr>
            <a:ln xmlns:a="http://schemas.openxmlformats.org/drawingml/2006/main" w="28575">
              <a:solidFill>
                <a:srgbClr val="BA7D24"/>
              </a:solidFill>
            </a:ln>
          </c:spPr>
          <c:marker>
            <c:symbol val="square"/>
            <c:size val="7"/>
            <c:spPr>
              <a:solidFill xmlns:a="http://schemas.openxmlformats.org/drawingml/2006/main">
                <a:srgbClr val="BA7D24"/>
              </a:solidFill>
            </c:spPr>
          </c:marker>
          <c:cat>
            <c:strRef>
              <c:f>'Chart Data'!$C$2:$C$7</c:f>
              <c:strCache>
                <c:ptCount val="6"/>
                <c:pt idx="0">
                  <c:v>Orient.</c:v>
                </c:pt>
                <c:pt idx="1">
                  <c:v>Attn.</c:v>
                </c:pt>
                <c:pt idx="2">
                  <c:v>Visuo.</c:v>
                </c:pt>
                <c:pt idx="3">
                  <c:v>Lang.</c:v>
                </c:pt>
                <c:pt idx="4">
                  <c:v>Memory</c:v>
                </c:pt>
                <c:pt idx="5">
                  <c:v>Exec.</c:v>
                </c:pt>
              </c:strCache>
            </c:strRef>
          </c:cat>
          <c:val>
            <c:numRef>
              <c:f>'Chart Data'!$D$2:$D$7</c:f>
              <c:numCache>
                <c:formatCode>0.0</c:formatCode>
                <c:ptCount val="6"/>
                <c:pt idx="0">
                  <c:v>-1.932575</c:v>
                </c:pt>
                <c:pt idx="1">
                  <c:v>-1.179609</c:v>
                </c:pt>
                <c:pt idx="2">
                  <c:v>-1.11635</c:v>
                </c:pt>
                <c:pt idx="3">
                  <c:v>-0.479926</c:v>
                </c:pt>
                <c:pt idx="4">
                  <c:v>-1.179992</c:v>
                </c:pt>
                <c:pt idx="5">
                  <c:v>-1.083342</c:v>
                </c:pt>
              </c:numCache>
            </c:numRef>
          </c:val>
          <c:smooth val="0"/>
        </c:ser>
        <c:ser>
          <c:idx val="2"/>
          <c:order val="2"/>
          <c:tx>
            <c:v>R3 (n=51)</c:v>
          </c:tx>
          <c:spPr>
            <a:ln xmlns:a="http://schemas.openxmlformats.org/drawingml/2006/main" w="28575">
              <a:solidFill>
                <a:srgbClr val="087F8C"/>
              </a:solidFill>
            </a:ln>
          </c:spPr>
          <c:marker>
            <c:symbol val="triangle"/>
            <c:size val="7"/>
            <c:spPr>
              <a:solidFill xmlns:a="http://schemas.openxmlformats.org/drawingml/2006/main">
                <a:srgbClr val="087F8C"/>
              </a:solidFill>
            </c:spPr>
          </c:marker>
          <c:cat>
            <c:strRef>
              <c:f>'Chart Data'!$E$2:$E$7</c:f>
              <c:strCache>
                <c:ptCount val="6"/>
                <c:pt idx="0">
                  <c:v>Orient.</c:v>
                </c:pt>
                <c:pt idx="1">
                  <c:v>Attn.</c:v>
                </c:pt>
                <c:pt idx="2">
                  <c:v>Visuo.</c:v>
                </c:pt>
                <c:pt idx="3">
                  <c:v>Lang.</c:v>
                </c:pt>
                <c:pt idx="4">
                  <c:v>Memory</c:v>
                </c:pt>
                <c:pt idx="5">
                  <c:v>Exec.</c:v>
                </c:pt>
              </c:strCache>
            </c:strRef>
          </c:cat>
          <c:val>
            <c:numRef>
              <c:f>'Chart Data'!$F$2:$F$7</c:f>
              <c:numCache>
                <c:formatCode>0.0</c:formatCode>
                <c:ptCount val="6"/>
                <c:pt idx="0">
                  <c:v>-0.770075</c:v>
                </c:pt>
                <c:pt idx="1">
                  <c:v>-1.331723</c:v>
                </c:pt>
                <c:pt idx="2">
                  <c:v>-0.740491</c:v>
                </c:pt>
                <c:pt idx="3">
                  <c:v>-3.160188</c:v>
                </c:pt>
                <c:pt idx="4">
                  <c:v>-0.790331</c:v>
                </c:pt>
                <c:pt idx="5">
                  <c:v>-1.396841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350">
                <a:solidFill>
                  <a:srgbClr val="60757C"/>
                </a:solidFill>
                <a:latin typeface="Arial"/>
                <a:ea typeface="Arial"/>
                <a:cs typeface="Arial"/>
              </a:defRPr>
            </a:pPr>
          </a:p>
        </c:txPr>
        <c:crossAx val="48672768"/>
      </c:catAx>
      <c:valAx>
        <c:axId val="48672768"/>
        <c:scaling>
          <c:orientation val="minMax"/>
          <c:max val="1"/>
          <c:min val="-3.5"/>
        </c:scaling>
        <c:delete val="0"/>
        <c:axPos val="l"/>
        <c:majorGridlines>
          <c:spPr>
            <a:ln xmlns:a="http://schemas.openxmlformats.org/drawingml/2006/main" w="9525">
              <a:solidFill>
                <a:srgbClr val="E5ECEE"/>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domain composite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350">
                <a:solidFill>
                  <a:srgbClr val="60757C"/>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323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E1 (n=194)</c:v>
          </c:tx>
          <c:spPr>
            <a:ln xmlns:a="http://schemas.openxmlformats.org/drawingml/2006/main" w="28575">
              <a:solidFill>
                <a:srgbClr val="775CA5"/>
              </a:solidFill>
            </a:ln>
          </c:spPr>
          <c:marker>
            <c:symbol val="circle"/>
            <c:size val="7"/>
            <c:spPr>
              <a:solidFill xmlns:a="http://schemas.openxmlformats.org/drawingml/2006/main">
                <a:srgbClr val="775CA5"/>
              </a:solidFill>
            </c:spPr>
          </c:marker>
          <c:cat>
            <c:strRef>
              <c:f>'Chart Data'!$A$2:$A$7</c:f>
              <c:strCache>
                <c:ptCount val="6"/>
                <c:pt idx="0">
                  <c:v>Orient.</c:v>
                </c:pt>
                <c:pt idx="1">
                  <c:v>Attn.</c:v>
                </c:pt>
                <c:pt idx="2">
                  <c:v>Visuo.</c:v>
                </c:pt>
                <c:pt idx="3">
                  <c:v>Lang.</c:v>
                </c:pt>
                <c:pt idx="4">
                  <c:v>Memory</c:v>
                </c:pt>
                <c:pt idx="5">
                  <c:v>Exec.</c:v>
                </c:pt>
              </c:strCache>
            </c:strRef>
          </c:cat>
          <c:val>
            <c:numRef>
              <c:f>'Chart Data'!$B$2:$B$7</c:f>
              <c:numCache>
                <c:formatCode>0.0</c:formatCode>
                <c:ptCount val="6"/>
                <c:pt idx="0">
                  <c:v>-1.65783</c:v>
                </c:pt>
                <c:pt idx="1">
                  <c:v>-1.51171</c:v>
                </c:pt>
                <c:pt idx="2">
                  <c:v>-1.598793</c:v>
                </c:pt>
                <c:pt idx="3">
                  <c:v>-1.184292</c:v>
                </c:pt>
                <c:pt idx="4">
                  <c:v>-1.13397</c:v>
                </c:pt>
                <c:pt idx="5">
                  <c:v>-1.282035</c:v>
                </c:pt>
              </c:numCache>
            </c:numRef>
          </c:val>
          <c:smooth val="0"/>
        </c:ser>
        <c:ser>
          <c:idx val="1"/>
          <c:order val="1"/>
          <c:tx>
            <c:v>E2 (n=571)</c:v>
          </c:tx>
          <c:spPr>
            <a:ln xmlns:a="http://schemas.openxmlformats.org/drawingml/2006/main" w="28575">
              <a:solidFill>
                <a:srgbClr val="B85647"/>
              </a:solidFill>
            </a:ln>
          </c:spPr>
          <c:marker>
            <c:symbol val="square"/>
            <c:size val="7"/>
            <c:spPr>
              <a:solidFill xmlns:a="http://schemas.openxmlformats.org/drawingml/2006/main">
                <a:srgbClr val="B85647"/>
              </a:solidFill>
            </c:spPr>
          </c:marker>
          <c:cat>
            <c:strRef>
              <c:f>'Chart Data'!$C$2:$C$7</c:f>
              <c:strCache>
                <c:ptCount val="6"/>
                <c:pt idx="0">
                  <c:v>Orient.</c:v>
                </c:pt>
                <c:pt idx="1">
                  <c:v>Attn.</c:v>
                </c:pt>
                <c:pt idx="2">
                  <c:v>Visuo.</c:v>
                </c:pt>
                <c:pt idx="3">
                  <c:v>Lang.</c:v>
                </c:pt>
                <c:pt idx="4">
                  <c:v>Memory</c:v>
                </c:pt>
                <c:pt idx="5">
                  <c:v>Exec.</c:v>
                </c:pt>
              </c:strCache>
            </c:strRef>
          </c:cat>
          <c:val>
            <c:numRef>
              <c:f>'Chart Data'!$D$2:$D$7</c:f>
              <c:numCache>
                <c:formatCode>0.0</c:formatCode>
                <c:ptCount val="6"/>
                <c:pt idx="0">
                  <c:v>0.377232</c:v>
                </c:pt>
                <c:pt idx="1">
                  <c:v>0.490172</c:v>
                </c:pt>
                <c:pt idx="2">
                  <c:v>0.317919</c:v>
                </c:pt>
                <c:pt idx="3">
                  <c:v>0.272976</c:v>
                </c:pt>
                <c:pt idx="4">
                  <c:v>0.616464</c:v>
                </c:pt>
                <c:pt idx="5">
                  <c:v>0.684376</c:v>
                </c:pt>
              </c:numCache>
            </c:numRef>
          </c:val>
          <c:smooth val="0"/>
        </c:ser>
        <c:ser>
          <c:idx val="2"/>
          <c:order val="2"/>
          <c:tx>
            <c:v>E3 (n=692)</c:v>
          </c:tx>
          <c:spPr>
            <a:ln xmlns:a="http://schemas.openxmlformats.org/drawingml/2006/main" w="28575">
              <a:solidFill>
                <a:srgbClr val="6A7C87"/>
              </a:solidFill>
            </a:ln>
          </c:spPr>
          <c:marker>
            <c:symbol val="triangle"/>
            <c:size val="7"/>
            <c:spPr>
              <a:solidFill xmlns:a="http://schemas.openxmlformats.org/drawingml/2006/main">
                <a:srgbClr val="6A7C87"/>
              </a:solidFill>
            </c:spPr>
          </c:marker>
          <c:cat>
            <c:strRef>
              <c:f>'Chart Data'!$E$2:$E$7</c:f>
              <c:strCache>
                <c:ptCount val="6"/>
                <c:pt idx="0">
                  <c:v>Orient.</c:v>
                </c:pt>
                <c:pt idx="1">
                  <c:v>Attn.</c:v>
                </c:pt>
                <c:pt idx="2">
                  <c:v>Visuo.</c:v>
                </c:pt>
                <c:pt idx="3">
                  <c:v>Lang.</c:v>
                </c:pt>
                <c:pt idx="4">
                  <c:v>Memory</c:v>
                </c:pt>
                <c:pt idx="5">
                  <c:v>Exec.</c:v>
                </c:pt>
              </c:strCache>
            </c:strRef>
          </c:cat>
          <c:val>
            <c:numRef>
              <c:f>'Chart Data'!$F$2:$F$7</c:f>
              <c:numCache>
                <c:formatCode>0.0</c:formatCode>
                <c:ptCount val="6"/>
                <c:pt idx="0">
                  <c:v>0.076046</c:v>
                </c:pt>
                <c:pt idx="1">
                  <c:v>-0.415013</c:v>
                </c:pt>
                <c:pt idx="2">
                  <c:v>0.010867</c:v>
                </c:pt>
                <c:pt idx="3">
                  <c:v>0.078821</c:v>
                </c:pt>
                <c:pt idx="4">
                  <c:v>-0.447489</c:v>
                </c:pt>
                <c:pt idx="5">
                  <c:v>-0.56523</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350">
                <a:solidFill>
                  <a:srgbClr val="60757C"/>
                </a:solidFill>
                <a:latin typeface="Arial"/>
                <a:ea typeface="Arial"/>
                <a:cs typeface="Arial"/>
              </a:defRPr>
            </a:pPr>
          </a:p>
        </c:txPr>
        <c:crossAx val="48672768"/>
      </c:catAx>
      <c:valAx>
        <c:axId val="48672768"/>
        <c:scaling>
          <c:orientation val="minMax"/>
          <c:max val="1"/>
          <c:min val="-3.5"/>
        </c:scaling>
        <c:delete val="0"/>
        <c:axPos val="l"/>
        <c:majorGridlines>
          <c:spPr>
            <a:ln xmlns:a="http://schemas.openxmlformats.org/drawingml/2006/main" w="9525">
              <a:solidFill>
                <a:srgbClr val="E5ECEE"/>
              </a:solidFill>
              <a:prstDash val="solid"/>
            </a:ln>
          </c:spPr>
        </c:majorGridlines>
        <c:numFmt formatCode="0.0"/>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350">
                <a:solidFill>
                  <a:srgbClr val="60757C"/>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323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MRAVLT075</c:v>
          </c:tx>
          <c:spPr>
            <a:solidFill xmlns:a="http://schemas.openxmlformats.org/drawingml/2006/main">
              <a:srgbClr val="087F8C"/>
            </a:solidFill>
          </c:spPr>
          <c:invertIfNegative val="0"/>
          <c:cat>
            <c:strRef>
              <c:f>'Chart Data'!$A$2:$A$4</c:f>
              <c:strCache>
                <c:ptCount val="3"/>
                <c:pt idx="0">
                  <c:v>R1 (n=1,221)</c:v>
                </c:pt>
                <c:pt idx="1">
                  <c:v>R2 (n=185)</c:v>
                </c:pt>
                <c:pt idx="2">
                  <c:v>R3 (n=51)</c:v>
                </c:pt>
              </c:strCache>
            </c:strRef>
          </c:cat>
          <c:val>
            <c:numRef>
              <c:f>'Chart Data'!$B$2:$B$4</c:f>
              <c:numCache>
                <c:formatCode>0%</c:formatCode>
                <c:ptCount val="3"/>
                <c:pt idx="0">
                  <c:v>0.101556</c:v>
                </c:pt>
                <c:pt idx="1">
                  <c:v>0.367568</c:v>
                </c:pt>
                <c:pt idx="2">
                  <c:v>0.803922</c:v>
                </c:pt>
              </c:numCache>
            </c:numRef>
          </c:val>
        </c:ser>
        <c:ser>
          <c:idx val="1"/>
          <c:order val="1"/>
          <c:tx>
            <c:v>FEPMR</c:v>
          </c:tx>
          <c:spPr>
            <a:solidFill xmlns:a="http://schemas.openxmlformats.org/drawingml/2006/main">
              <a:srgbClr val="BA7D24"/>
            </a:solidFill>
          </c:spPr>
          <c:invertIfNegative val="0"/>
          <c:cat>
            <c:strRef>
              <c:f>'Chart Data'!$C$2:$C$4</c:f>
              <c:strCache>
                <c:ptCount val="3"/>
                <c:pt idx="0">
                  <c:v>R1 (n=1,221)</c:v>
                </c:pt>
                <c:pt idx="1">
                  <c:v>R2 (n=185)</c:v>
                </c:pt>
                <c:pt idx="2">
                  <c:v>R3 (n=51)</c:v>
                </c:pt>
              </c:strCache>
            </c:strRef>
          </c:cat>
          <c:val>
            <c:numRef>
              <c:f>'Chart Data'!$D$2:$D$4</c:f>
              <c:numCache>
                <c:formatCode>0%</c:formatCode>
                <c:ptCount val="3"/>
                <c:pt idx="0">
                  <c:v>0.160524</c:v>
                </c:pt>
                <c:pt idx="1">
                  <c:v>0.443243</c:v>
                </c:pt>
                <c:pt idx="2">
                  <c:v>0.862745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4323B"/>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500">
                <a:solidFill>
                  <a:srgbClr val="60757C"/>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5ECEE"/>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Missing test results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E5ECEE"/>
            </a:solidFill>
          </a:ln>
        </c:spPr>
        <c:txPr>
          <a:bodyPr xmlns:a="http://schemas.openxmlformats.org/drawingml/2006/main" anchorCtr="1"/>
          <a:lstStyle xmlns:a="http://schemas.openxmlformats.org/drawingml/2006/main"/>
          <a:p xmlns:a="http://schemas.openxmlformats.org/drawingml/2006/main">
            <a:pPr>
              <a:defRPr sz="1500">
                <a:solidFill>
                  <a:srgbClr val="60757C"/>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323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323B"/>
        </a:solidFill>
      </p:bgPr>
    </p:bg>
    <p:spTree>
      <p:nvGrpSpPr>
        <p:cNvPr id="1" name=""/>
        <p:cNvGrpSpPr/>
        <p:nvPr/>
      </p:nvGrpSpPr>
      <p:grpSpPr>
        <a:xfrm xmlns:a="http://schemas.openxmlformats.org/drawingml/2006/main"/>
      </p:grpSpPr>
      <p:sp>
        <p:nvSpPr>
          <p:cNvPr id="7" name="slide-footer">
            <a:extLst xmlns:a="http://schemas.openxmlformats.org/drawingml/2006/main">
              <a:ext uri="{FF2B5EF4-FFF2-40B4-BE49-F238E27FC236}">
                <a16:creationId xmlns:a16="http://schemas.microsoft.com/office/drawing/2014/main" id="{F3EFEC1B-2648-461F-9012-8C2E1CA6A5DB}"/>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9C5CC"/>
                </a:solidFill>
                <a:latin typeface="Arial"/>
                <a:ea typeface="Arial"/>
                <a:cs typeface="Arial"/>
              </a:defRPr>
            </a:defPPr>
          </a:lstStyle>
          <a:p xmlns:a="http://schemas.openxmlformats.org/drawingml/2006/main">
            <a:pPr algn="l">
              <a:defRPr sz="1200" b="0">
                <a:solidFill>
                  <a:srgbClr val="A9C5CC"/>
                </a:solidFill>
                <a:latin typeface="Arial"/>
                <a:ea typeface="Arial"/>
                <a:cs typeface="Arial"/>
              </a:defRPr>
            </a:pPr>
            <a:r>
              <a:rPr sz="1200" b="0">
                <a:solidFill>
                  <a:srgbClr val="A9C5CC"/>
                </a:solidFill>
                <a:latin typeface="Arial"/>
                <a:ea typeface="Arial"/>
                <a:cs typeface="Arial"/>
              </a:rPr>
              <a:t>01</a:t>
            </a:r>
          </a:p>
        </p:txBody>
      </p:sp>
      <p:sp>
        <p:nvSpPr>
          <p:cNvPr id="2" name="text">
            <a:extLst xmlns:a="http://schemas.openxmlformats.org/drawingml/2006/main">
              <a:ext uri="{FF2B5EF4-FFF2-40B4-BE49-F238E27FC236}">
                <a16:creationId xmlns:a16="http://schemas.microsoft.com/office/drawing/2014/main" id="{AC86CBFB-FE21-44F8-A79B-2C64BEF240E0}"/>
              </a:ext>
            </a:extLst>
          </p:cNvPr>
          <p:cNvSpPr>
            <a:spLocks xmlns:a="http://schemas.openxmlformats.org/drawingml/2006/main" noGrp="1"/>
          </p:cNvSpPr>
          <p:nvPr/>
        </p:nvSpPr>
        <p:spPr>
          <a:xfrm xmlns:a="http://schemas.openxmlformats.org/drawingml/2006/main">
            <a:off x="609600" y="57150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9C5CC"/>
                </a:solidFill>
                <a:latin typeface="Arial"/>
                <a:ea typeface="Arial"/>
                <a:cs typeface="Arial"/>
              </a:defRPr>
            </a:defPPr>
          </a:lstStyle>
          <a:p xmlns:a="http://schemas.openxmlformats.org/drawingml/2006/main">
            <a:pPr algn="l">
              <a:defRPr sz="1800" b="0">
                <a:solidFill>
                  <a:srgbClr val="A9C5CC"/>
                </a:solidFill>
                <a:latin typeface="Arial"/>
                <a:ea typeface="Arial"/>
                <a:cs typeface="Arial"/>
              </a:defRPr>
            </a:pPr>
            <a:r>
              <a:rPr sz="1800" b="0">
                <a:solidFill>
                  <a:srgbClr val="A9C5CC"/>
                </a:solidFill>
                <a:latin typeface="Arial"/>
                <a:ea typeface="Arial"/>
                <a:cs typeface="Arial"/>
              </a:rPr>
              <a:t>MSc thesis defense</a:t>
            </a:r>
          </a:p>
        </p:txBody>
      </p:sp>
      <p:sp>
        <p:nvSpPr>
          <p:cNvPr id="3" name="cover-title">
            <a:extLst xmlns:a="http://schemas.openxmlformats.org/drawingml/2006/main">
              <a:ext uri="{FF2B5EF4-FFF2-40B4-BE49-F238E27FC236}">
                <a16:creationId xmlns:a16="http://schemas.microsoft.com/office/drawing/2014/main" id="{4CE8E5BB-9B4F-46CD-9230-2B0198CE3262}"/>
              </a:ext>
            </a:extLst>
          </p:cNvPr>
          <p:cNvSpPr>
            <a:spLocks xmlns:a="http://schemas.openxmlformats.org/drawingml/2006/main" noGrp="1"/>
          </p:cNvSpPr>
          <p:nvPr/>
        </p:nvSpPr>
        <p:spPr>
          <a:xfrm xmlns:a="http://schemas.openxmlformats.org/drawingml/2006/main">
            <a:off x="609600" y="1571625"/>
            <a:ext cx="10972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Arial"/>
                <a:ea typeface="Arial"/>
                <a:cs typeface="Arial"/>
              </a:defRPr>
            </a:defPPr>
          </a:lstStyle>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Data-Driven Cognitive Phenotyping</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in Acquired Brain Injury</a:t>
            </a:r>
          </a:p>
        </p:txBody>
      </p:sp>
      <p:sp>
        <p:nvSpPr>
          <p:cNvPr id="4" name="text">
            <a:extLst xmlns:a="http://schemas.openxmlformats.org/drawingml/2006/main">
              <a:ext uri="{FF2B5EF4-FFF2-40B4-BE49-F238E27FC236}">
                <a16:creationId xmlns:a16="http://schemas.microsoft.com/office/drawing/2014/main" id="{037C6762-09D9-4ECA-B6CD-8B2BFA496EE3}"/>
              </a:ext>
            </a:extLst>
          </p:cNvPr>
          <p:cNvSpPr>
            <a:spLocks xmlns:a="http://schemas.openxmlformats.org/drawingml/2006/main" noGrp="1"/>
          </p:cNvSpPr>
          <p:nvPr/>
        </p:nvSpPr>
        <p:spPr>
          <a:xfrm xmlns:a="http://schemas.openxmlformats.org/drawingml/2006/main">
            <a:off x="609600" y="366712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CBE0E4"/>
                </a:solidFill>
                <a:latin typeface="Arial"/>
                <a:ea typeface="Arial"/>
                <a:cs typeface="Arial"/>
              </a:defRPr>
            </a:defPPr>
          </a:lstStyle>
          <a:p xmlns:a="http://schemas.openxmlformats.org/drawingml/2006/main">
            <a:pPr algn="l">
              <a:defRPr sz="2250" b="0">
                <a:solidFill>
                  <a:srgbClr val="CBE0E4"/>
                </a:solidFill>
                <a:latin typeface="Arial"/>
                <a:ea typeface="Arial"/>
                <a:cs typeface="Arial"/>
              </a:defRPr>
            </a:pPr>
            <a:r>
              <a:rPr sz="2250" b="0">
                <a:solidFill>
                  <a:srgbClr val="CBE0E4"/>
                </a:solidFill>
                <a:latin typeface="Arial"/>
                <a:ea typeface="Arial"/>
                <a:cs typeface="Arial"/>
              </a:rPr>
              <a:t>A Clustering Analysis with Imputation Robustness Assessment</a:t>
            </a:r>
          </a:p>
        </p:txBody>
      </p:sp>
      <p:sp>
        <p:nvSpPr>
          <p:cNvPr id="5" name="text">
            <a:extLst xmlns:a="http://schemas.openxmlformats.org/drawingml/2006/main">
              <a:ext uri="{FF2B5EF4-FFF2-40B4-BE49-F238E27FC236}">
                <a16:creationId xmlns:a16="http://schemas.microsoft.com/office/drawing/2014/main" id="{5526A220-B87C-4284-A8CD-B06FD626C713}"/>
              </a:ext>
            </a:extLst>
          </p:cNvPr>
          <p:cNvSpPr>
            <a:spLocks xmlns:a="http://schemas.openxmlformats.org/drawingml/2006/main" noGrp="1"/>
          </p:cNvSpPr>
          <p:nvPr/>
        </p:nvSpPr>
        <p:spPr>
          <a:xfrm xmlns:a="http://schemas.openxmlformats.org/drawingml/2006/main">
            <a:off x="609600" y="49530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FFFFF"/>
                </a:solidFill>
                <a:latin typeface="Arial"/>
                <a:ea typeface="Arial"/>
                <a:cs typeface="Arial"/>
              </a:defRPr>
            </a:def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Zoltan Kunos</a:t>
            </a:r>
          </a:p>
        </p:txBody>
      </p:sp>
      <p:sp>
        <p:nvSpPr>
          <p:cNvPr id="6" name="text">
            <a:extLst xmlns:a="http://schemas.openxmlformats.org/drawingml/2006/main">
              <a:ext uri="{FF2B5EF4-FFF2-40B4-BE49-F238E27FC236}">
                <a16:creationId xmlns:a16="http://schemas.microsoft.com/office/drawing/2014/main" id="{8F78459D-94BF-42B3-A68A-84056FD442A6}"/>
              </a:ext>
            </a:extLst>
          </p:cNvPr>
          <p:cNvSpPr>
            <a:spLocks xmlns:a="http://schemas.openxmlformats.org/drawingml/2006/main" noGrp="1"/>
          </p:cNvSpPr>
          <p:nvPr/>
        </p:nvSpPr>
        <p:spPr>
          <a:xfrm xmlns:a="http://schemas.openxmlformats.org/drawingml/2006/main">
            <a:off x="609600" y="54768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BE0E4"/>
                </a:solidFill>
                <a:latin typeface="Arial"/>
                <a:ea typeface="Arial"/>
                <a:cs typeface="Arial"/>
              </a:defRPr>
            </a:defPPr>
          </a:lstStyle>
          <a:p xmlns:a="http://schemas.openxmlformats.org/drawingml/2006/main">
            <a:pPr algn="l">
              <a:defRPr sz="1725" b="0">
                <a:solidFill>
                  <a:srgbClr val="CBE0E4"/>
                </a:solidFill>
                <a:latin typeface="Arial"/>
                <a:ea typeface="Arial"/>
                <a:cs typeface="Arial"/>
              </a:defRPr>
            </a:pPr>
            <a:r>
              <a:rPr sz="1725" b="0">
                <a:solidFill>
                  <a:srgbClr val="CBE0E4"/>
                </a:solidFill>
                <a:latin typeface="Arial"/>
                <a:ea typeface="Arial"/>
                <a:cs typeface="Arial"/>
              </a:rPr>
              <a:t>MSc in Fundamental Principles of Data Science</a:t>
            </a:r>
          </a:p>
          <a:p xmlns:a="http://schemas.openxmlformats.org/drawingml/2006/main">
            <a:pPr algn="l">
              <a:defRPr sz="1725" b="0">
                <a:solidFill>
                  <a:srgbClr val="CBE0E4"/>
                </a:solidFill>
                <a:latin typeface="Arial"/>
                <a:ea typeface="Arial"/>
                <a:cs typeface="Arial"/>
              </a:defRPr>
            </a:pPr>
            <a:r>
              <a:rPr sz="1725" b="0">
                <a:solidFill>
                  <a:srgbClr val="CBE0E4"/>
                </a:solidFill>
                <a:latin typeface="Arial"/>
                <a:ea typeface="Arial"/>
                <a:cs typeface="Arial"/>
              </a:rPr>
              <a:t>Universitat de Barcelona</a:t>
            </a:r>
          </a:p>
          <a:p xmlns:a="http://schemas.openxmlformats.org/drawingml/2006/main">
            <a:pPr algn="l">
              <a:defRPr sz="1725" b="0">
                <a:solidFill>
                  <a:srgbClr val="CBE0E4"/>
                </a:solidFill>
                <a:latin typeface="Arial"/>
                <a:ea typeface="Arial"/>
                <a:cs typeface="Arial"/>
              </a:defRPr>
            </a:pPr>
            <a:r>
              <a:rPr sz="1725" b="0">
                <a:solidFill>
                  <a:srgbClr val="CBE0E4"/>
                </a:solidFill>
                <a:latin typeface="Arial"/>
                <a:ea typeface="Arial"/>
                <a:cs typeface="Arial"/>
              </a:rPr>
              <a:t>Supervisor: Dr. Alejandro García-Rudolph</a:t>
            </a:r>
          </a:p>
        </p:txBody>
      </p:sp>
    </p:spTree>
    <p:extLst>
      <p:ext uri="{BB962C8B-B14F-4D97-AF65-F5344CB8AC3E}">
        <p14:creationId xmlns:p14="http://schemas.microsoft.com/office/powerpoint/2010/main" val="1741353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CFAA0D2-611A-48D7-AD10-27835C5BB009}"/>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Research question</a:t>
            </a:r>
          </a:p>
        </p:txBody>
      </p:sp>
      <p:sp>
        <p:nvSpPr>
          <p:cNvPr id="2" name="slide-footer">
            <a:extLst xmlns:a="http://schemas.openxmlformats.org/drawingml/2006/main">
              <a:ext uri="{FF2B5EF4-FFF2-40B4-BE49-F238E27FC236}">
                <a16:creationId xmlns:a16="http://schemas.microsoft.com/office/drawing/2014/main" id="{BD632B04-AE3D-4C92-8BA2-1AB9BEFC44EC}"/>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02</a:t>
            </a:r>
          </a:p>
        </p:txBody>
      </p:sp>
      <p:sp>
        <p:nvSpPr>
          <p:cNvPr id="3" name="text">
            <a:extLst xmlns:a="http://schemas.openxmlformats.org/drawingml/2006/main">
              <a:ext uri="{FF2B5EF4-FFF2-40B4-BE49-F238E27FC236}">
                <a16:creationId xmlns:a16="http://schemas.microsoft.com/office/drawing/2014/main" id="{4006B3B9-872E-4972-BDA0-2C173E3593FB}"/>
              </a:ext>
            </a:extLst>
          </p:cNvPr>
          <p:cNvSpPr>
            <a:spLocks xmlns:a="http://schemas.openxmlformats.org/drawingml/2006/main" noGrp="1"/>
          </p:cNvSpPr>
          <p:nvPr/>
        </p:nvSpPr>
        <p:spPr>
          <a:xfrm xmlns:a="http://schemas.openxmlformats.org/drawingml/2006/main">
            <a:off x="609600" y="17145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4323B"/>
                </a:solidFill>
                <a:latin typeface="Arial"/>
                <a:ea typeface="Arial"/>
                <a:cs typeface="Arial"/>
              </a:defRPr>
            </a:defPPr>
          </a:lstStyle>
          <a:p xmlns:a="http://schemas.openxmlformats.org/drawingml/2006/main">
            <a:pPr algn="l">
              <a:defRPr sz="3750" b="1">
                <a:solidFill>
                  <a:srgbClr val="14323B"/>
                </a:solidFill>
                <a:latin typeface="Arial"/>
                <a:ea typeface="Arial"/>
                <a:cs typeface="Arial"/>
              </a:defRPr>
            </a:pPr>
            <a:r>
              <a:rPr sz="3750" b="1">
                <a:solidFill>
                  <a:srgbClr val="14323B"/>
                </a:solidFill>
                <a:latin typeface="Arial"/>
                <a:ea typeface="Arial"/>
                <a:cs typeface="Arial"/>
              </a:rPr>
              <a:t>Do routine cognitive tests reveal</a:t>
            </a:r>
          </a:p>
          <a:p xmlns:a="http://schemas.openxmlformats.org/drawingml/2006/main">
            <a:pPr algn="l">
              <a:defRPr sz="3750" b="1">
                <a:solidFill>
                  <a:srgbClr val="14323B"/>
                </a:solidFill>
                <a:latin typeface="Arial"/>
                <a:ea typeface="Arial"/>
                <a:cs typeface="Arial"/>
              </a:defRPr>
            </a:pPr>
            <a:r>
              <a:rPr sz="3750" b="1">
                <a:solidFill>
                  <a:srgbClr val="14323B"/>
                </a:solidFill>
                <a:latin typeface="Arial"/>
                <a:ea typeface="Arial"/>
                <a:cs typeface="Arial"/>
              </a:rPr>
              <a:t>distinct patient profiles?</a:t>
            </a:r>
          </a:p>
        </p:txBody>
      </p:sp>
      <p:sp>
        <p:nvSpPr>
          <p:cNvPr id="4" name="text">
            <a:extLst xmlns:a="http://schemas.openxmlformats.org/drawingml/2006/main">
              <a:ext uri="{FF2B5EF4-FFF2-40B4-BE49-F238E27FC236}">
                <a16:creationId xmlns:a16="http://schemas.microsoft.com/office/drawing/2014/main" id="{48F09CA3-A1D1-4CD1-8D6E-F88D0A7A2A2B}"/>
              </a:ext>
            </a:extLst>
          </p:cNvPr>
          <p:cNvSpPr>
            <a:spLocks xmlns:a="http://schemas.openxmlformats.org/drawingml/2006/main" noGrp="1"/>
          </p:cNvSpPr>
          <p:nvPr/>
        </p:nvSpPr>
        <p:spPr>
          <a:xfrm xmlns:a="http://schemas.openxmlformats.org/drawingml/2006/main">
            <a:off x="609600" y="34766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87F8C"/>
                </a:solidFill>
                <a:latin typeface="Arial"/>
                <a:ea typeface="Arial"/>
                <a:cs typeface="Arial"/>
              </a:defRPr>
            </a:defPPr>
          </a:lstStyle>
          <a:p xmlns:a="http://schemas.openxmlformats.org/drawingml/2006/main">
            <a:pPr algn="l">
              <a:defRPr sz="2700" b="1">
                <a:solidFill>
                  <a:srgbClr val="087F8C"/>
                </a:solidFill>
                <a:latin typeface="Arial"/>
                <a:ea typeface="Arial"/>
                <a:cs typeface="Arial"/>
              </a:defRPr>
            </a:pPr>
            <a:r>
              <a:rPr sz="2700" b="1">
                <a:solidFill>
                  <a:srgbClr val="087F8C"/>
                </a:solidFill>
                <a:latin typeface="Arial"/>
                <a:ea typeface="Arial"/>
                <a:cs typeface="Arial"/>
              </a:rPr>
              <a:t>Repeatable score groups exist under specified analytical choices.</a:t>
            </a:r>
          </a:p>
        </p:txBody>
      </p:sp>
      <p:sp>
        <p:nvSpPr>
          <p:cNvPr id="5" name="text">
            <a:extLst xmlns:a="http://schemas.openxmlformats.org/drawingml/2006/main">
              <a:ext uri="{FF2B5EF4-FFF2-40B4-BE49-F238E27FC236}">
                <a16:creationId xmlns:a16="http://schemas.microsoft.com/office/drawing/2014/main" id="{F15C53FC-7A83-4809-ACB8-10CC37634B27}"/>
              </a:ext>
            </a:extLst>
          </p:cNvPr>
          <p:cNvSpPr>
            <a:spLocks xmlns:a="http://schemas.openxmlformats.org/drawingml/2006/main" noGrp="1"/>
          </p:cNvSpPr>
          <p:nvPr/>
        </p:nvSpPr>
        <p:spPr>
          <a:xfrm xmlns:a="http://schemas.openxmlformats.org/drawingml/2006/main">
            <a:off x="609600" y="46672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4323B"/>
                </a:solidFill>
                <a:latin typeface="Arial"/>
                <a:ea typeface="Arial"/>
                <a:cs typeface="Arial"/>
              </a:defRPr>
            </a:defPPr>
          </a:lstStyle>
          <a:p xmlns:a="http://schemas.openxmlformats.org/drawingml/2006/main">
            <a:pPr algn="l">
              <a:defRPr sz="2400" b="0">
                <a:solidFill>
                  <a:srgbClr val="14323B"/>
                </a:solidFill>
                <a:latin typeface="Arial"/>
                <a:ea typeface="Arial"/>
                <a:cs typeface="Arial"/>
              </a:defRPr>
            </a:pPr>
            <a:r>
              <a:rPr sz="2400" b="0">
                <a:solidFill>
                  <a:srgbClr val="14323B"/>
                </a:solidFill>
                <a:latin typeface="Arial"/>
                <a:ea typeface="Arial"/>
                <a:cs typeface="Arial"/>
              </a:rPr>
              <a:t>The evidence for distinct clinical phenotypes remains unresolved.</a:t>
            </a:r>
          </a:p>
        </p:txBody>
      </p:sp>
    </p:spTree>
    <p:extLst>
      <p:ext uri="{BB962C8B-B14F-4D97-AF65-F5344CB8AC3E}">
        <p14:creationId xmlns:p14="http://schemas.microsoft.com/office/powerpoint/2010/main" val="20150419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CCCB2C5-1CF7-4373-8258-BC8A5842C2AE}"/>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A large cohort with incomplete assessments</a:t>
            </a:r>
          </a:p>
        </p:txBody>
      </p:sp>
      <p:sp>
        <p:nvSpPr>
          <p:cNvPr id="2" name="slide-footer">
            <a:extLst xmlns:a="http://schemas.openxmlformats.org/drawingml/2006/main">
              <a:ext uri="{FF2B5EF4-FFF2-40B4-BE49-F238E27FC236}">
                <a16:creationId xmlns:a16="http://schemas.microsoft.com/office/drawing/2014/main" id="{F4A8BD5B-C9E9-4AFB-BB8D-E266C27662FF}"/>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03</a:t>
            </a:r>
          </a:p>
        </p:txBody>
      </p:sp>
      <p:sp>
        <p:nvSpPr>
          <p:cNvPr id="3" name="text">
            <a:extLst xmlns:a="http://schemas.openxmlformats.org/drawingml/2006/main">
              <a:ext uri="{FF2B5EF4-FFF2-40B4-BE49-F238E27FC236}">
                <a16:creationId xmlns:a16="http://schemas.microsoft.com/office/drawing/2014/main" id="{304710F8-31BF-490A-94A5-B2D202B6B85A}"/>
              </a:ext>
            </a:extLst>
          </p:cNvPr>
          <p:cNvSpPr>
            <a:spLocks xmlns:a="http://schemas.openxmlformats.org/drawingml/2006/main" noGrp="1"/>
          </p:cNvSpPr>
          <p:nvPr/>
        </p:nvSpPr>
        <p:spPr>
          <a:xfrm xmlns:a="http://schemas.openxmlformats.org/drawingml/2006/main">
            <a:off x="609600" y="17145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087F8C"/>
                </a:solidFill>
                <a:latin typeface="Arial"/>
                <a:ea typeface="Arial"/>
                <a:cs typeface="Arial"/>
              </a:defRPr>
            </a:defPPr>
          </a:lstStyle>
          <a:p xmlns:a="http://schemas.openxmlformats.org/drawingml/2006/main">
            <a:pPr algn="l">
              <a:defRPr sz="6000" b="1">
                <a:solidFill>
                  <a:srgbClr val="087F8C"/>
                </a:solidFill>
                <a:latin typeface="Arial"/>
                <a:ea typeface="Arial"/>
                <a:cs typeface="Arial"/>
              </a:defRPr>
            </a:pPr>
            <a:r>
              <a:rPr sz="6000" b="1">
                <a:solidFill>
                  <a:srgbClr val="087F8C"/>
                </a:solidFill>
                <a:latin typeface="Arial"/>
                <a:ea typeface="Arial"/>
                <a:cs typeface="Arial"/>
              </a:rPr>
              <a:t>17,406</a:t>
            </a:r>
          </a:p>
        </p:txBody>
      </p:sp>
      <p:sp>
        <p:nvSpPr>
          <p:cNvPr id="4" name="text">
            <a:extLst xmlns:a="http://schemas.openxmlformats.org/drawingml/2006/main">
              <a:ext uri="{FF2B5EF4-FFF2-40B4-BE49-F238E27FC236}">
                <a16:creationId xmlns:a16="http://schemas.microsoft.com/office/drawing/2014/main" id="{C3C617ED-2FFB-43AF-B80C-6974ED70DF63}"/>
              </a:ext>
            </a:extLst>
          </p:cNvPr>
          <p:cNvSpPr>
            <a:spLocks xmlns:a="http://schemas.openxmlformats.org/drawingml/2006/main" noGrp="1"/>
          </p:cNvSpPr>
          <p:nvPr/>
        </p:nvSpPr>
        <p:spPr>
          <a:xfrm xmlns:a="http://schemas.openxmlformats.org/drawingml/2006/main">
            <a:off x="609600" y="27146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323B"/>
                </a:solidFill>
                <a:latin typeface="Arial"/>
                <a:ea typeface="Arial"/>
                <a:cs typeface="Arial"/>
              </a:defRPr>
            </a:defPPr>
          </a:lstStyle>
          <a:p xmlns:a="http://schemas.openxmlformats.org/drawingml/2006/main">
            <a:pPr algn="l">
              <a:defRPr sz="2250" b="0">
                <a:solidFill>
                  <a:srgbClr val="14323B"/>
                </a:solidFill>
                <a:latin typeface="Arial"/>
                <a:ea typeface="Arial"/>
                <a:cs typeface="Arial"/>
              </a:defRPr>
            </a:pPr>
            <a:r>
              <a:rPr sz="2250" b="0">
                <a:solidFill>
                  <a:srgbClr val="14323B"/>
                </a:solidFill>
                <a:latin typeface="Arial"/>
                <a:ea typeface="Arial"/>
                <a:cs typeface="Arial"/>
              </a:rPr>
              <a:t>eligible assessments</a:t>
            </a:r>
          </a:p>
        </p:txBody>
      </p:sp>
      <p:sp>
        <p:nvSpPr>
          <p:cNvPr id="5" name="text">
            <a:extLst xmlns:a="http://schemas.openxmlformats.org/drawingml/2006/main">
              <a:ext uri="{FF2B5EF4-FFF2-40B4-BE49-F238E27FC236}">
                <a16:creationId xmlns:a16="http://schemas.microsoft.com/office/drawing/2014/main" id="{BAA39F19-6CA2-4DA7-804D-7E9052E9B53F}"/>
              </a:ext>
            </a:extLst>
          </p:cNvPr>
          <p:cNvSpPr>
            <a:spLocks xmlns:a="http://schemas.openxmlformats.org/drawingml/2006/main" noGrp="1"/>
          </p:cNvSpPr>
          <p:nvPr/>
        </p:nvSpPr>
        <p:spPr>
          <a:xfrm xmlns:a="http://schemas.openxmlformats.org/drawingml/2006/main">
            <a:off x="609600" y="358140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4323B"/>
                </a:solidFill>
                <a:latin typeface="Arial"/>
                <a:ea typeface="Arial"/>
                <a:cs typeface="Arial"/>
              </a:defRPr>
            </a:defPPr>
          </a:lstStyle>
          <a:p xmlns:a="http://schemas.openxmlformats.org/drawingml/2006/main">
            <a:pPr algn="l">
              <a:defRPr sz="2400" b="1">
                <a:solidFill>
                  <a:srgbClr val="14323B"/>
                </a:solidFill>
                <a:latin typeface="Arial"/>
                <a:ea typeface="Arial"/>
                <a:cs typeface="Arial"/>
              </a:defRPr>
            </a:pPr>
            <a:r>
              <a:rPr sz="2400" b="1">
                <a:solidFill>
                  <a:srgbClr val="14323B"/>
                </a:solidFill>
                <a:latin typeface="Arial"/>
                <a:ea typeface="Arial"/>
                <a:cs typeface="Arial"/>
              </a:rPr>
              <a:t>7,285 patients</a:t>
            </a:r>
          </a:p>
          <a:p xmlns:a="http://schemas.openxmlformats.org/drawingml/2006/main">
            <a:pPr algn="l">
              <a:defRPr sz="2400" b="1">
                <a:solidFill>
                  <a:srgbClr val="14323B"/>
                </a:solidFill>
                <a:latin typeface="Arial"/>
                <a:ea typeface="Arial"/>
                <a:cs typeface="Arial"/>
              </a:defRPr>
            </a:pPr>
            <a:r>
              <a:rPr sz="2400" b="1">
                <a:solidFill>
                  <a:srgbClr val="14323B"/>
                </a:solidFill>
                <a:latin typeface="Arial"/>
                <a:ea typeface="Arial"/>
                <a:cs typeface="Arial"/>
              </a:rPr>
              <a:t>14 tests across 6 domains</a:t>
            </a:r>
          </a:p>
        </p:txBody>
      </p:sp>
      <p:sp>
        <p:nvSpPr>
          <p:cNvPr id="6" name="section-label">
            <a:extLst xmlns:a="http://schemas.openxmlformats.org/drawingml/2006/main">
              <a:ext uri="{FF2B5EF4-FFF2-40B4-BE49-F238E27FC236}">
                <a16:creationId xmlns:a16="http://schemas.microsoft.com/office/drawing/2014/main" id="{EB7D6AB8-11A8-4393-9008-8077A12090A2}"/>
              </a:ext>
            </a:extLst>
          </p:cNvPr>
          <p:cNvSpPr>
            <a:spLocks xmlns:a="http://schemas.openxmlformats.org/drawingml/2006/main" noGrp="1"/>
          </p:cNvSpPr>
          <p:nvPr/>
        </p:nvSpPr>
        <p:spPr>
          <a:xfrm xmlns:a="http://schemas.openxmlformats.org/drawingml/2006/main">
            <a:off x="5905500" y="1714500"/>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Assessment completeness</a:t>
            </a:r>
          </a:p>
        </p:txBody>
      </p:sp>
      <p:graphicFrame>
        <p:nvGraphicFramePr>
          <p:cNvPr id="7" name="Chart">
            <a:extLst xmlns:a="http://schemas.openxmlformats.org/drawingml/2006/main">
              <a:ext uri="{FF2B5EF4-FFF2-40B4-BE49-F238E27FC236}">
                <a16:creationId xmlns:a16="http://schemas.microsoft.com/office/drawing/2014/main" id="{90CFD348-50DA-4D33-8F7F-3FE29A553AD2}"/>
              </a:ext>
            </a:extLst>
          </p:cNvPr>
          <p:cNvGraphicFramePr/>
          <p:nvPr/>
        </p:nvGraphicFramePr>
        <p:xfrm>
          <a:off xmlns:a="http://schemas.openxmlformats.org/drawingml/2006/main" x="5715000" y="2286000"/>
          <a:ext xmlns:a="http://schemas.openxmlformats.org/drawingml/2006/main" cx="5810250" cy="3143250"/>
        </p:xfrm>
        <a:graphic xmlns:a="http://schemas.openxmlformats.org/drawingml/2006/main">
          <a:graphicData uri="http://schemas.openxmlformats.org/drawingml/2006/chart">
            <c:chart xmlns:r="http://schemas.openxmlformats.org/officeDocument/2006/relationships" xmlns:c="http://schemas.openxmlformats.org/drawingml/2006/chart" r:id="Rdc3445fcc6804e12"/>
          </a:graphicData>
        </a:graphic>
      </p:graphicFrame>
      <p:sp>
        <p:nvSpPr>
          <p:cNvPr id="8" name="qualification">
            <a:extLst xmlns:a="http://schemas.openxmlformats.org/drawingml/2006/main">
              <a:ext uri="{FF2B5EF4-FFF2-40B4-BE49-F238E27FC236}">
                <a16:creationId xmlns:a16="http://schemas.microsoft.com/office/drawing/2014/main" id="{D48B9BC3-F79B-4240-B59C-A6CC40F5CBBD}"/>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53.1% of assessments are complete. Repeated assessments are not independent patients.</a:t>
            </a:r>
          </a:p>
        </p:txBody>
      </p:sp>
    </p:spTree>
    <p:extLst>
      <p:ext uri="{BB962C8B-B14F-4D97-AF65-F5344CB8AC3E}">
        <p14:creationId xmlns:p14="http://schemas.microsoft.com/office/powerpoint/2010/main" val="9421879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02A37C0-5367-46AE-9E68-DBAD7263128A}"/>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Three analyses answer different questions</a:t>
            </a:r>
          </a:p>
        </p:txBody>
      </p:sp>
      <p:sp>
        <p:nvSpPr>
          <p:cNvPr id="2" name="slide-footer">
            <a:extLst xmlns:a="http://schemas.openxmlformats.org/drawingml/2006/main">
              <a:ext uri="{FF2B5EF4-FFF2-40B4-BE49-F238E27FC236}">
                <a16:creationId xmlns:a16="http://schemas.microsoft.com/office/drawing/2014/main" id="{F3E289EF-4F1F-400D-B78D-7B3DE800BEC1}"/>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65381F85-C3D6-4BAE-85D7-A70FAC810F03}"/>
              </a:ext>
            </a:extLst>
          </p:cNvPr>
          <p:cNvGraphicFramePr/>
          <p:nvPr/>
        </p:nvGraphicFramePr>
        <p:xfrm>
          <a:off xmlns:a="http://schemas.openxmlformats.org/drawingml/2006/main" x="609600" y="1619250"/>
          <a:ext xmlns:a="http://schemas.openxmlformats.org/drawingml/2006/main" cx="10972800" cy="3714750"/>
        </p:xfrm>
        <a:graphic xmlns:a="http://schemas.openxmlformats.org/drawingml/2006/main">
          <a:graphicData uri="http://schemas.openxmlformats.org/drawingml/2006/table">
            <a:tbl>
              <a:tblPr/>
              <a:tblGrid>
                <a:gridCol w="2476500"/>
                <a:gridCol w="4191000"/>
                <a:gridCol w="4305300"/>
              </a:tblGrid>
              <a:tr h="571500">
                <a:tc>
                  <a:txBody>
                    <a:bodyPr/>
                    <a:lstStyle/>
                    <a:p>
                      <a:r>
                        <a:rPr sz="1875" b="1">
                          <a:solidFill>
                            <a:srgbClr val="FFFFFF"/>
                          </a:solidFill>
                          <a:latin typeface="Arial"/>
                          <a:ea typeface="Arial"/>
                          <a:cs typeface="Arial"/>
                        </a:rPr>
                        <a:t>Analysis</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75" b="1">
                          <a:solidFill>
                            <a:srgbClr val="FFFFFF"/>
                          </a:solidFill>
                          <a:latin typeface="Arial"/>
                          <a:ea typeface="Arial"/>
                          <a:cs typeface="Arial"/>
                        </a:rPr>
                        <a:t>Unit and design</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75" b="1">
                          <a:solidFill>
                            <a:srgbClr val="FFFFFF"/>
                          </a:solidFill>
                          <a:latin typeface="Arial"/>
                          <a:ea typeface="Arial"/>
                          <a:cs typeface="Arial"/>
                        </a:rPr>
                        <a:t>Question</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1047750">
                <a:tc>
                  <a:txBody>
                    <a:bodyPr/>
                    <a:lstStyle/>
                    <a:p>
                      <a:r>
                        <a:rPr sz="1875">
                          <a:solidFill>
                            <a:srgbClr val="14323B"/>
                          </a:solidFill>
                          <a:latin typeface="Arial"/>
                          <a:ea typeface="Arial"/>
                          <a:cs typeface="Arial"/>
                        </a:rPr>
                        <a:t>Historical discovery</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17,406 assessments</a:t>
                      </a:r>
                    </a:p>
                    <a:p>
                      <a:r>
                        <a:rPr sz="1875">
                          <a:solidFill>
                            <a:srgbClr val="14323B"/>
                          </a:solidFill>
                          <a:latin typeface="Arial"/>
                          <a:ea typeface="Arial"/>
                          <a:cs typeface="Arial"/>
                        </a:rPr>
                        <a:t>UMAP + HDBSCAN</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What group structure appears?</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1047750">
                <a:tc>
                  <a:txBody>
                    <a:bodyPr/>
                    <a:lstStyle/>
                    <a:p>
                      <a:r>
                        <a:rPr sz="1875">
                          <a:solidFill>
                            <a:srgbClr val="14323B"/>
                          </a:solidFill>
                          <a:latin typeface="Arial"/>
                          <a:ea typeface="Arial"/>
                          <a:cs typeface="Arial"/>
                        </a:rPr>
                        <a:t>Fixed-reference H2</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Same assessments</a:t>
                      </a:r>
                    </a:p>
                    <a:p>
                      <a:r>
                        <a:rPr sz="1875">
                          <a:solidFill>
                            <a:srgbClr val="14323B"/>
                          </a:solidFill>
                          <a:latin typeface="Arial"/>
                          <a:ea typeface="Arial"/>
                          <a:cs typeface="Arial"/>
                        </a:rPr>
                        <a:t>Frozen scaler, embedding and k-means rule</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Do imputations change assignments?</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1047750">
                <a:tc>
                  <a:txBody>
                    <a:bodyPr/>
                    <a:lstStyle/>
                    <a:p>
                      <a:r>
                        <a:rPr sz="1875">
                          <a:solidFill>
                            <a:srgbClr val="14323B"/>
                          </a:solidFill>
                          <a:latin typeface="Arial"/>
                          <a:ea typeface="Arial"/>
                          <a:cs typeface="Arial"/>
                        </a:rPr>
                        <a:t>Patient extension</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7,285 index profiles</a:t>
                      </a:r>
                    </a:p>
                    <a:p>
                      <a:r>
                        <a:rPr sz="1875">
                          <a:solidFill>
                            <a:srgbClr val="14323B"/>
                          </a:solidFill>
                          <a:latin typeface="Arial"/>
                          <a:ea typeface="Arial"/>
                          <a:cs typeface="Arial"/>
                        </a:rPr>
                        <a:t>Independent fits and held-out assignments</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Do groups repeat after refitting?</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bl>
          </a:graphicData>
        </a:graphic>
      </p:graphicFrame>
      <p:sp>
        <p:nvSpPr>
          <p:cNvPr id="4" name="qualification">
            <a:extLst xmlns:a="http://schemas.openxmlformats.org/drawingml/2006/main">
              <a:ext uri="{FF2B5EF4-FFF2-40B4-BE49-F238E27FC236}">
                <a16:creationId xmlns:a16="http://schemas.microsoft.com/office/drawing/2014/main" id="{52FF6681-8EBC-4CED-83CC-3F9822146264}"/>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ARI (adjusted Rand index) measures partition agreement. These designs cannot be ranked by ARI alone.</a:t>
            </a:r>
          </a:p>
        </p:txBody>
      </p:sp>
    </p:spTree>
    <p:extLst>
      <p:ext uri="{BB962C8B-B14F-4D97-AF65-F5344CB8AC3E}">
        <p14:creationId xmlns:p14="http://schemas.microsoft.com/office/powerpoint/2010/main" val="10011896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6B3BB42-C01A-44D9-895F-5577CE599277}"/>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Historical groups mainly differ in score level</a:t>
            </a:r>
          </a:p>
        </p:txBody>
      </p:sp>
      <p:sp>
        <p:nvSpPr>
          <p:cNvPr id="2" name="slide-footer">
            <a:extLst xmlns:a="http://schemas.openxmlformats.org/drawingml/2006/main">
              <a:ext uri="{FF2B5EF4-FFF2-40B4-BE49-F238E27FC236}">
                <a16:creationId xmlns:a16="http://schemas.microsoft.com/office/drawing/2014/main" id="{D7B526BA-1F71-4A75-AEC4-377BAE6CDDA3}"/>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05</a:t>
            </a:r>
          </a:p>
        </p:txBody>
      </p:sp>
      <p:sp>
        <p:nvSpPr>
          <p:cNvPr id="3" name="section-label">
            <a:extLst xmlns:a="http://schemas.openxmlformats.org/drawingml/2006/main">
              <a:ext uri="{FF2B5EF4-FFF2-40B4-BE49-F238E27FC236}">
                <a16:creationId xmlns:a16="http://schemas.microsoft.com/office/drawing/2014/main" id="{3A1E8FFD-D200-4101-861E-C47BF131EA0F}"/>
              </a:ext>
            </a:extLst>
          </p:cNvPr>
          <p:cNvSpPr>
            <a:spLocks xmlns:a="http://schemas.openxmlformats.org/drawingml/2006/main" noGrp="1"/>
          </p:cNvSpPr>
          <p:nvPr/>
        </p:nvSpPr>
        <p:spPr>
          <a:xfrm xmlns:a="http://schemas.openxmlformats.org/drawingml/2006/main">
            <a:off x="609600" y="15621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The same MICE labels in two spaces</a:t>
            </a:r>
          </a:p>
        </p:txBody>
      </p:sp>
      <p:graphicFrame>
        <p:nvGraphicFramePr>
          <p:cNvPr id="4" name="Chart">
            <a:extLst xmlns:a="http://schemas.openxmlformats.org/drawingml/2006/main">
              <a:ext uri="{FF2B5EF4-FFF2-40B4-BE49-F238E27FC236}">
                <a16:creationId xmlns:a16="http://schemas.microsoft.com/office/drawing/2014/main" id="{D7F33921-A7F6-4BBB-B577-ED04EB481339}"/>
              </a:ext>
            </a:extLst>
          </p:cNvPr>
          <p:cNvGraphicFramePr/>
          <p:nvPr/>
        </p:nvGraphicFramePr>
        <p:xfrm>
          <a:off xmlns:a="http://schemas.openxmlformats.org/drawingml/2006/main" x="609600" y="2095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c9094635da9f4f44"/>
          </a:graphicData>
        </a:graphic>
      </p:graphicFrame>
      <p:sp>
        <p:nvSpPr>
          <p:cNvPr id="5" name="text">
            <a:extLst xmlns:a="http://schemas.openxmlformats.org/drawingml/2006/main">
              <a:ext uri="{FF2B5EF4-FFF2-40B4-BE49-F238E27FC236}">
                <a16:creationId xmlns:a16="http://schemas.microsoft.com/office/drawing/2014/main" id="{63E7EC33-8F66-4124-A99E-71432A8234E2}"/>
              </a:ext>
            </a:extLst>
          </p:cNvPr>
          <p:cNvSpPr>
            <a:spLocks xmlns:a="http://schemas.openxmlformats.org/drawingml/2006/main" noGrp="1"/>
          </p:cNvSpPr>
          <p:nvPr/>
        </p:nvSpPr>
        <p:spPr>
          <a:xfrm xmlns:a="http://schemas.openxmlformats.org/drawingml/2006/main">
            <a:off x="8096250" y="21431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087F8C"/>
                </a:solidFill>
                <a:latin typeface="Arial"/>
                <a:ea typeface="Arial"/>
                <a:cs typeface="Arial"/>
              </a:defRPr>
            </a:defPPr>
          </a:lstStyle>
          <a:p xmlns:a="http://schemas.openxmlformats.org/drawingml/2006/main">
            <a:pPr algn="l">
              <a:defRPr sz="3750" b="1">
                <a:solidFill>
                  <a:srgbClr val="087F8C"/>
                </a:solidFill>
                <a:latin typeface="Arial"/>
                <a:ea typeface="Arial"/>
                <a:cs typeface="Arial"/>
              </a:defRPr>
            </a:pPr>
            <a:r>
              <a:rPr sz="3750" b="1">
                <a:solidFill>
                  <a:srgbClr val="087F8C"/>
                </a:solidFill>
                <a:latin typeface="Arial"/>
                <a:ea typeface="Arial"/>
                <a:cs typeface="Arial"/>
              </a:rPr>
              <a:t>3 groups</a:t>
            </a:r>
          </a:p>
        </p:txBody>
      </p:sp>
      <p:sp>
        <p:nvSpPr>
          <p:cNvPr id="6" name="text">
            <a:extLst xmlns:a="http://schemas.openxmlformats.org/drawingml/2006/main">
              <a:ext uri="{FF2B5EF4-FFF2-40B4-BE49-F238E27FC236}">
                <a16:creationId xmlns:a16="http://schemas.microsoft.com/office/drawing/2014/main" id="{99AC9508-054E-4FDF-AE34-7EEC71D72075}"/>
              </a:ext>
            </a:extLst>
          </p:cNvPr>
          <p:cNvSpPr>
            <a:spLocks xmlns:a="http://schemas.openxmlformats.org/drawingml/2006/main" noGrp="1"/>
          </p:cNvSpPr>
          <p:nvPr/>
        </p:nvSpPr>
        <p:spPr>
          <a:xfrm xmlns:a="http://schemas.openxmlformats.org/drawingml/2006/main">
            <a:off x="8096250" y="3105150"/>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323B"/>
                </a:solidFill>
                <a:latin typeface="Arial"/>
                <a:ea typeface="Arial"/>
                <a:cs typeface="Arial"/>
              </a:defRPr>
            </a:defPPr>
          </a:lstStyle>
          <a:p xmlns:a="http://schemas.openxmlformats.org/drawingml/2006/main">
            <a:pPr algn="l">
              <a:defRPr sz="2700" b="1">
                <a:solidFill>
                  <a:srgbClr val="14323B"/>
                </a:solidFill>
                <a:latin typeface="Arial"/>
                <a:ea typeface="Arial"/>
                <a:cs typeface="Arial"/>
              </a:defRPr>
            </a:pPr>
            <a:r>
              <a:rPr sz="2700" b="1">
                <a:solidFill>
                  <a:srgbClr val="14323B"/>
                </a:solidFill>
                <a:latin typeface="Arial"/>
                <a:ea typeface="Arial"/>
                <a:cs typeface="Arial"/>
              </a:rPr>
              <a:t>6,725</a:t>
            </a:r>
          </a:p>
          <a:p xmlns:a="http://schemas.openxmlformats.org/drawingml/2006/main">
            <a:pPr algn="l">
              <a:defRPr sz="2700" b="1">
                <a:solidFill>
                  <a:srgbClr val="14323B"/>
                </a:solidFill>
                <a:latin typeface="Arial"/>
                <a:ea typeface="Arial"/>
                <a:cs typeface="Arial"/>
              </a:defRPr>
            </a:pPr>
            <a:r>
              <a:rPr sz="2700" b="1">
                <a:solidFill>
                  <a:srgbClr val="14323B"/>
                </a:solidFill>
                <a:latin typeface="Arial"/>
                <a:ea typeface="Arial"/>
                <a:cs typeface="Arial"/>
              </a:rPr>
              <a:t>6,328</a:t>
            </a:r>
          </a:p>
          <a:p xmlns:a="http://schemas.openxmlformats.org/drawingml/2006/main">
            <a:pPr algn="l">
              <a:defRPr sz="2700" b="1">
                <a:solidFill>
                  <a:srgbClr val="14323B"/>
                </a:solidFill>
                <a:latin typeface="Arial"/>
                <a:ea typeface="Arial"/>
                <a:cs typeface="Arial"/>
              </a:defRPr>
            </a:pPr>
            <a:r>
              <a:rPr sz="2700" b="1">
                <a:solidFill>
                  <a:srgbClr val="14323B"/>
                </a:solidFill>
                <a:latin typeface="Arial"/>
                <a:ea typeface="Arial"/>
                <a:cs typeface="Arial"/>
              </a:rPr>
              <a:t>4,353</a:t>
            </a:r>
          </a:p>
        </p:txBody>
      </p:sp>
      <p:sp>
        <p:nvSpPr>
          <p:cNvPr id="7" name="text">
            <a:extLst xmlns:a="http://schemas.openxmlformats.org/drawingml/2006/main">
              <a:ext uri="{FF2B5EF4-FFF2-40B4-BE49-F238E27FC236}">
                <a16:creationId xmlns:a16="http://schemas.microsoft.com/office/drawing/2014/main" id="{7524A0A8-B8EF-450C-A1E4-0EC9A73D8A47}"/>
              </a:ext>
            </a:extLst>
          </p:cNvPr>
          <p:cNvSpPr>
            <a:spLocks xmlns:a="http://schemas.openxmlformats.org/drawingml/2006/main" noGrp="1"/>
          </p:cNvSpPr>
          <p:nvPr/>
        </p:nvSpPr>
        <p:spPr>
          <a:xfrm xmlns:a="http://schemas.openxmlformats.org/drawingml/2006/main">
            <a:off x="8096250" y="48577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0757C"/>
                </a:solidFill>
                <a:latin typeface="Arial"/>
                <a:ea typeface="Arial"/>
                <a:cs typeface="Arial"/>
              </a:defRPr>
            </a:defPPr>
          </a:lstStyle>
          <a:p xmlns:a="http://schemas.openxmlformats.org/drawingml/2006/main">
            <a:pPr algn="l">
              <a:defRPr sz="1725" b="0">
                <a:solidFill>
                  <a:srgbClr val="60757C"/>
                </a:solidFill>
                <a:latin typeface="Arial"/>
                <a:ea typeface="Arial"/>
                <a:cs typeface="Arial"/>
              </a:defRPr>
            </a:pPr>
            <a:r>
              <a:rPr sz="1725" b="0">
                <a:solidFill>
                  <a:srgbClr val="60757C"/>
                </a:solidFill>
                <a:latin typeface="Arial"/>
                <a:ea typeface="Arial"/>
                <a:cs typeface="Arial"/>
              </a:rPr>
              <a:t>assessments per group</a:t>
            </a:r>
          </a:p>
        </p:txBody>
      </p:sp>
      <p:sp>
        <p:nvSpPr>
          <p:cNvPr id="8" name="qualification">
            <a:extLst xmlns:a="http://schemas.openxmlformats.org/drawingml/2006/main">
              <a:ext uri="{FF2B5EF4-FFF2-40B4-BE49-F238E27FC236}">
                <a16:creationId xmlns:a16="http://schemas.microsoft.com/office/drawing/2014/main" id="{582AE1EE-0C1B-4AA2-8554-A1B12839A76F}"/>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Cohort-relative score bands. The evidence does not establish clinically distinct subtypes.</a:t>
            </a:r>
          </a:p>
        </p:txBody>
      </p:sp>
    </p:spTree>
    <p:extLst>
      <p:ext uri="{BB962C8B-B14F-4D97-AF65-F5344CB8AC3E}">
        <p14:creationId xmlns:p14="http://schemas.microsoft.com/office/powerpoint/2010/main" val="19246983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289906A-88DF-46D5-B900-756B844C9C00}"/>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The original hypotheses have qualified support</a:t>
            </a:r>
          </a:p>
        </p:txBody>
      </p:sp>
      <p:sp>
        <p:nvSpPr>
          <p:cNvPr id="2" name="slide-footer">
            <a:extLst xmlns:a="http://schemas.openxmlformats.org/drawingml/2006/main">
              <a:ext uri="{FF2B5EF4-FFF2-40B4-BE49-F238E27FC236}">
                <a16:creationId xmlns:a16="http://schemas.microsoft.com/office/drawing/2014/main" id="{30EC9380-8FB1-499F-BA92-37F79E22380A}"/>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ADC642A9-6A08-4977-A9ED-348A10650B07}"/>
              </a:ext>
            </a:extLst>
          </p:cNvPr>
          <p:cNvGraphicFramePr/>
          <p:nvPr/>
        </p:nvGraphicFramePr>
        <p:xfrm>
          <a:off xmlns:a="http://schemas.openxmlformats.org/drawingml/2006/main" x="609600" y="1562100"/>
          <a:ext xmlns:a="http://schemas.openxmlformats.org/drawingml/2006/main" cx="10972800" cy="4114800"/>
        </p:xfrm>
        <a:graphic xmlns:a="http://schemas.openxmlformats.org/drawingml/2006/main">
          <a:graphicData uri="http://schemas.openxmlformats.org/drawingml/2006/table">
            <a:tbl>
              <a:tblPr/>
              <a:tblGrid>
                <a:gridCol w="3095625"/>
                <a:gridCol w="4476750"/>
                <a:gridCol w="3400425"/>
              </a:tblGrid>
              <a:tr h="533400">
                <a:tc>
                  <a:txBody>
                    <a:bodyPr/>
                    <a:lstStyle/>
                    <a:p>
                      <a:r>
                        <a:rPr sz="1800" b="1">
                          <a:solidFill>
                            <a:srgbClr val="FFFFFF"/>
                          </a:solidFill>
                          <a:latin typeface="Arial"/>
                          <a:ea typeface="Arial"/>
                          <a:cs typeface="Arial"/>
                        </a:rPr>
                        <a:t>Hypothesis</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Key evidence</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Interpretation</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895350">
                <a:tc>
                  <a:txBody>
                    <a:bodyPr/>
                    <a:lstStyle/>
                    <a:p>
                      <a:r>
                        <a:rPr sz="1800">
                          <a:solidFill>
                            <a:srgbClr val="14323B"/>
                          </a:solidFill>
                          <a:latin typeface="Arial"/>
                          <a:ea typeface="Arial"/>
                          <a:cs typeface="Arial"/>
                        </a:rPr>
                        <a:t>H1  Cluster structure</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Core Jaccard 0.509–0.630</a:t>
                      </a:r>
                    </a:p>
                    <a:p>
                      <a:r>
                        <a:rPr sz="1800">
                          <a:solidFill>
                            <a:srgbClr val="14323B"/>
                          </a:solidFill>
                          <a:latin typeface="Arial"/>
                          <a:ea typeface="Arial"/>
                          <a:cs typeface="Arial"/>
                        </a:rPr>
                        <a:t>Cluster count varies from 3 to 5</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Partial support</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895350">
                <a:tc>
                  <a:txBody>
                    <a:bodyPr/>
                    <a:lstStyle/>
                    <a:p>
                      <a:r>
                        <a:rPr sz="1800">
                          <a:solidFill>
                            <a:srgbClr val="14323B"/>
                          </a:solidFill>
                          <a:latin typeface="Arial"/>
                          <a:ea typeface="Arial"/>
                          <a:cs typeface="Arial"/>
                        </a:rPr>
                        <a:t>H2  Imputation agreement</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Median ARI 0.739</a:t>
                      </a:r>
                    </a:p>
                    <a:p>
                      <a:r>
                        <a:rPr sz="1800">
                          <a:solidFill>
                            <a:srgbClr val="14323B"/>
                          </a:solidFill>
                          <a:latin typeface="Arial"/>
                          <a:ea typeface="Arial"/>
                          <a:cs typeface="Arial"/>
                        </a:rPr>
                        <a:t>Mean ARI 0.710</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Supported within the fixed rule</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895350">
                <a:tc>
                  <a:txBody>
                    <a:bodyPr/>
                    <a:lstStyle/>
                    <a:p>
                      <a:r>
                        <a:rPr sz="1800">
                          <a:solidFill>
                            <a:srgbClr val="14323B"/>
                          </a:solidFill>
                          <a:latin typeface="Arial"/>
                          <a:ea typeface="Arial"/>
                          <a:cs typeface="Arial"/>
                        </a:rPr>
                        <a:t>H3  Clinical-unit association</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Cramér’s V 0.162</a:t>
                      </a:r>
                    </a:p>
                    <a:p>
                      <a:r>
                        <a:rPr sz="1800">
                          <a:solidFill>
                            <a:srgbClr val="14323B"/>
                          </a:solidFill>
                          <a:latin typeface="Arial"/>
                          <a:ea typeface="Arial"/>
                          <a:cs typeface="Arial"/>
                        </a:rPr>
                        <a:t>Added prediction remains uncertain</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Association supported</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895350">
                <a:tc>
                  <a:txBody>
                    <a:bodyPr/>
                    <a:lstStyle/>
                    <a:p>
                      <a:r>
                        <a:rPr sz="1800">
                          <a:solidFill>
                            <a:srgbClr val="14323B"/>
                          </a:solidFill>
                          <a:latin typeface="Arial"/>
                          <a:ea typeface="Arial"/>
                          <a:cs typeface="Arial"/>
                        </a:rPr>
                        <a:t>H4  Domain aggregation</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Mean VIF 2.77 to 1.88</a:t>
                      </a:r>
                    </a:p>
                    <a:p>
                      <a:r>
                        <a:rPr sz="1800">
                          <a:solidFill>
                            <a:srgbClr val="14323B"/>
                          </a:solidFill>
                          <a:latin typeface="Arial"/>
                          <a:ea typeface="Arial"/>
                          <a:cs typeface="Arial"/>
                        </a:rPr>
                        <a:t>Silhouette 0.473 to 0.481</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Better conditioning</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bl>
          </a:graphicData>
        </a:graphic>
      </p:graphicFrame>
      <p:sp>
        <p:nvSpPr>
          <p:cNvPr id="4" name="qualification">
            <a:extLst xmlns:a="http://schemas.openxmlformats.org/drawingml/2006/main">
              <a:ext uri="{FF2B5EF4-FFF2-40B4-BE49-F238E27FC236}">
                <a16:creationId xmlns:a16="http://schemas.microsoft.com/office/drawing/2014/main" id="{D3FAE5F9-8D18-4D16-B55C-E8D80B01EDBA}"/>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Historical resampling uses assessments, so repeated patients limit uncertainty estimates.</a:t>
            </a:r>
          </a:p>
        </p:txBody>
      </p:sp>
    </p:spTree>
    <p:extLst>
      <p:ext uri="{BB962C8B-B14F-4D97-AF65-F5344CB8AC3E}">
        <p14:creationId xmlns:p14="http://schemas.microsoft.com/office/powerpoint/2010/main" val="14256123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8E3A7AF9-1D3D-4098-9AC2-CCA086C7BCBE}"/>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Patient-level discovery and validation</a:t>
            </a:r>
          </a:p>
        </p:txBody>
      </p:sp>
      <p:sp>
        <p:nvSpPr>
          <p:cNvPr id="2" name="slide-footer">
            <a:extLst xmlns:a="http://schemas.openxmlformats.org/drawingml/2006/main">
              <a:ext uri="{FF2B5EF4-FFF2-40B4-BE49-F238E27FC236}">
                <a16:creationId xmlns:a16="http://schemas.microsoft.com/office/drawing/2014/main" id="{46E19209-9374-4A24-8E47-08E89240C415}"/>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07</a:t>
            </a:r>
          </a:p>
        </p:txBody>
      </p:sp>
      <p:sp>
        <p:nvSpPr>
          <p:cNvPr id="3" name="text">
            <a:extLst xmlns:a="http://schemas.openxmlformats.org/drawingml/2006/main">
              <a:ext uri="{FF2B5EF4-FFF2-40B4-BE49-F238E27FC236}">
                <a16:creationId xmlns:a16="http://schemas.microsoft.com/office/drawing/2014/main" id="{3B639ACB-F512-4C8D-850A-27CE94106EF7}"/>
              </a:ext>
            </a:extLst>
          </p:cNvPr>
          <p:cNvSpPr>
            <a:spLocks xmlns:a="http://schemas.openxmlformats.org/drawingml/2006/main" noGrp="1"/>
          </p:cNvSpPr>
          <p:nvPr/>
        </p:nvSpPr>
        <p:spPr>
          <a:xfrm xmlns:a="http://schemas.openxmlformats.org/drawingml/2006/main">
            <a:off x="609600" y="15811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87F8C"/>
                </a:solidFill>
                <a:latin typeface="Arial"/>
                <a:ea typeface="Arial"/>
                <a:cs typeface="Arial"/>
              </a:defRPr>
            </a:defPPr>
          </a:lstStyle>
          <a:p xmlns:a="http://schemas.openxmlformats.org/drawingml/2006/main">
            <a:pPr algn="l">
              <a:defRPr sz="5400" b="1">
                <a:solidFill>
                  <a:srgbClr val="087F8C"/>
                </a:solidFill>
                <a:latin typeface="Arial"/>
                <a:ea typeface="Arial"/>
                <a:cs typeface="Arial"/>
              </a:defRPr>
            </a:pPr>
            <a:r>
              <a:rPr sz="5400" b="1">
                <a:solidFill>
                  <a:srgbClr val="087F8C"/>
                </a:solidFill>
                <a:latin typeface="Arial"/>
                <a:ea typeface="Arial"/>
                <a:cs typeface="Arial"/>
              </a:rPr>
              <a:t>5,828</a:t>
            </a:r>
          </a:p>
        </p:txBody>
      </p:sp>
      <p:sp>
        <p:nvSpPr>
          <p:cNvPr id="4" name="text">
            <a:extLst xmlns:a="http://schemas.openxmlformats.org/drawingml/2006/main">
              <a:ext uri="{FF2B5EF4-FFF2-40B4-BE49-F238E27FC236}">
                <a16:creationId xmlns:a16="http://schemas.microsoft.com/office/drawing/2014/main" id="{6D75BD1F-7DF4-4833-A827-77A3131A1A16}"/>
              </a:ext>
            </a:extLst>
          </p:cNvPr>
          <p:cNvSpPr>
            <a:spLocks xmlns:a="http://schemas.openxmlformats.org/drawingml/2006/main" noGrp="1"/>
          </p:cNvSpPr>
          <p:nvPr/>
        </p:nvSpPr>
        <p:spPr>
          <a:xfrm xmlns:a="http://schemas.openxmlformats.org/drawingml/2006/main">
            <a:off x="609600" y="24384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323B"/>
                </a:solidFill>
                <a:latin typeface="Arial"/>
                <a:ea typeface="Arial"/>
                <a:cs typeface="Arial"/>
              </a:defRPr>
            </a:defPPr>
          </a:lstStyle>
          <a:p xmlns:a="http://schemas.openxmlformats.org/drawingml/2006/main">
            <a:pPr algn="l">
              <a:defRPr sz="2100" b="0">
                <a:solidFill>
                  <a:srgbClr val="14323B"/>
                </a:solidFill>
                <a:latin typeface="Arial"/>
                <a:ea typeface="Arial"/>
                <a:cs typeface="Arial"/>
              </a:defRPr>
            </a:pPr>
            <a:r>
              <a:rPr sz="2100" b="0">
                <a:solidFill>
                  <a:srgbClr val="14323B"/>
                </a:solidFill>
                <a:latin typeface="Arial"/>
                <a:ea typeface="Arial"/>
                <a:cs typeface="Arial"/>
              </a:rPr>
              <a:t>discovery patients</a:t>
            </a:r>
          </a:p>
        </p:txBody>
      </p:sp>
      <p:sp>
        <p:nvSpPr>
          <p:cNvPr id="5" name="text">
            <a:extLst xmlns:a="http://schemas.openxmlformats.org/drawingml/2006/main">
              <a:ext uri="{FF2B5EF4-FFF2-40B4-BE49-F238E27FC236}">
                <a16:creationId xmlns:a16="http://schemas.microsoft.com/office/drawing/2014/main" id="{72A6FC37-EF10-4D48-AF22-949C284296DA}"/>
              </a:ext>
            </a:extLst>
          </p:cNvPr>
          <p:cNvSpPr>
            <a:spLocks xmlns:a="http://schemas.openxmlformats.org/drawingml/2006/main" noGrp="1"/>
          </p:cNvSpPr>
          <p:nvPr/>
        </p:nvSpPr>
        <p:spPr>
          <a:xfrm xmlns:a="http://schemas.openxmlformats.org/drawingml/2006/main">
            <a:off x="6572250" y="15811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2975A2"/>
                </a:solidFill>
                <a:latin typeface="Arial"/>
                <a:ea typeface="Arial"/>
                <a:cs typeface="Arial"/>
              </a:defRPr>
            </a:defPPr>
          </a:lstStyle>
          <a:p xmlns:a="http://schemas.openxmlformats.org/drawingml/2006/main">
            <a:pPr algn="l">
              <a:defRPr sz="5400" b="1">
                <a:solidFill>
                  <a:srgbClr val="2975A2"/>
                </a:solidFill>
                <a:latin typeface="Arial"/>
                <a:ea typeface="Arial"/>
                <a:cs typeface="Arial"/>
              </a:defRPr>
            </a:pPr>
            <a:r>
              <a:rPr sz="5400" b="1">
                <a:solidFill>
                  <a:srgbClr val="2975A2"/>
                </a:solidFill>
                <a:latin typeface="Arial"/>
                <a:ea typeface="Arial"/>
                <a:cs typeface="Arial"/>
              </a:rPr>
              <a:t>1,457</a:t>
            </a:r>
          </a:p>
        </p:txBody>
      </p:sp>
      <p:sp>
        <p:nvSpPr>
          <p:cNvPr id="6" name="text">
            <a:extLst xmlns:a="http://schemas.openxmlformats.org/drawingml/2006/main">
              <a:ext uri="{FF2B5EF4-FFF2-40B4-BE49-F238E27FC236}">
                <a16:creationId xmlns:a16="http://schemas.microsoft.com/office/drawing/2014/main" id="{65355A60-9D3C-48AD-BEFE-90544F4E3179}"/>
              </a:ext>
            </a:extLst>
          </p:cNvPr>
          <p:cNvSpPr>
            <a:spLocks xmlns:a="http://schemas.openxmlformats.org/drawingml/2006/main" noGrp="1"/>
          </p:cNvSpPr>
          <p:nvPr/>
        </p:nvSpPr>
        <p:spPr>
          <a:xfrm xmlns:a="http://schemas.openxmlformats.org/drawingml/2006/main">
            <a:off x="6572250" y="24384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323B"/>
                </a:solidFill>
                <a:latin typeface="Arial"/>
                <a:ea typeface="Arial"/>
                <a:cs typeface="Arial"/>
              </a:defRPr>
            </a:defPPr>
          </a:lstStyle>
          <a:p xmlns:a="http://schemas.openxmlformats.org/drawingml/2006/main">
            <a:pPr algn="l">
              <a:defRPr sz="2100" b="0">
                <a:solidFill>
                  <a:srgbClr val="14323B"/>
                </a:solidFill>
                <a:latin typeface="Arial"/>
                <a:ea typeface="Arial"/>
                <a:cs typeface="Arial"/>
              </a:defRPr>
            </a:pPr>
            <a:r>
              <a:rPr sz="2100" b="0">
                <a:solidFill>
                  <a:srgbClr val="14323B"/>
                </a:solidFill>
                <a:latin typeface="Arial"/>
                <a:ea typeface="Arial"/>
                <a:cs typeface="Arial"/>
              </a:rPr>
              <a:t>validation patients</a:t>
            </a:r>
          </a:p>
        </p:txBody>
      </p:sp>
      <p:sp>
        <p:nvSpPr>
          <p:cNvPr id="7" name="text">
            <a:extLst xmlns:a="http://schemas.openxmlformats.org/drawingml/2006/main">
              <a:ext uri="{FF2B5EF4-FFF2-40B4-BE49-F238E27FC236}">
                <a16:creationId xmlns:a16="http://schemas.microsoft.com/office/drawing/2014/main" id="{AFDA7BEE-326F-448A-8DDA-14DA879B9C4B}"/>
              </a:ext>
            </a:extLst>
          </p:cNvPr>
          <p:cNvSpPr>
            <a:spLocks xmlns:a="http://schemas.openxmlformats.org/drawingml/2006/main" noGrp="1"/>
          </p:cNvSpPr>
          <p:nvPr/>
        </p:nvSpPr>
        <p:spPr>
          <a:xfrm xmlns:a="http://schemas.openxmlformats.org/drawingml/2006/main">
            <a:off x="609600" y="3333750"/>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C"/>
                </a:solidFill>
                <a:latin typeface="Arial"/>
                <a:ea typeface="Arial"/>
                <a:cs typeface="Arial"/>
              </a:defRPr>
            </a:defPPr>
          </a:lstStyle>
          <a:p xmlns:a="http://schemas.openxmlformats.org/drawingml/2006/main">
            <a:pPr algn="l">
              <a:defRPr sz="2250" b="1">
                <a:solidFill>
                  <a:srgbClr val="087F8C"/>
                </a:solidFill>
                <a:latin typeface="Arial"/>
                <a:ea typeface="Arial"/>
                <a:cs typeface="Arial"/>
              </a:defRPr>
            </a:pPr>
            <a:r>
              <a:rPr sz="2250" b="1">
                <a:solidFill>
                  <a:srgbClr val="087F8C"/>
                </a:solidFill>
                <a:latin typeface="Arial"/>
                <a:ea typeface="Arial"/>
                <a:cs typeface="Arial"/>
              </a:rPr>
              <a:t>1</a:t>
            </a:r>
          </a:p>
        </p:txBody>
      </p:sp>
      <p:sp>
        <p:nvSpPr>
          <p:cNvPr id="8" name="text">
            <a:extLst xmlns:a="http://schemas.openxmlformats.org/drawingml/2006/main">
              <a:ext uri="{FF2B5EF4-FFF2-40B4-BE49-F238E27FC236}">
                <a16:creationId xmlns:a16="http://schemas.microsoft.com/office/drawing/2014/main" id="{172A4270-FB29-4DD9-8233-FBB280703657}"/>
              </a:ext>
            </a:extLst>
          </p:cNvPr>
          <p:cNvSpPr>
            <a:spLocks xmlns:a="http://schemas.openxmlformats.org/drawingml/2006/main" noGrp="1"/>
          </p:cNvSpPr>
          <p:nvPr/>
        </p:nvSpPr>
        <p:spPr>
          <a:xfrm xmlns:a="http://schemas.openxmlformats.org/drawingml/2006/main">
            <a:off x="1200150" y="33337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3B"/>
                </a:solidFill>
                <a:latin typeface="Arial"/>
                <a:ea typeface="Arial"/>
                <a:cs typeface="Arial"/>
              </a:defRPr>
            </a:defPPr>
          </a:lstStyle>
          <a:p xmlns:a="http://schemas.openxmlformats.org/drawingml/2006/main">
            <a:pPr algn="l">
              <a:defRPr sz="2025" b="0">
                <a:solidFill>
                  <a:srgbClr val="14323B"/>
                </a:solidFill>
                <a:latin typeface="Arial"/>
                <a:ea typeface="Arial"/>
                <a:cs typeface="Arial"/>
              </a:defRPr>
            </a:pPr>
            <a:r>
              <a:rPr sz="2025" b="0">
                <a:solidFill>
                  <a:srgbClr val="14323B"/>
                </a:solidFill>
                <a:latin typeface="Arial"/>
                <a:ea typeface="Arial"/>
                <a:cs typeface="Arial"/>
              </a:rPr>
              <a:t>Select one index profile per patient</a:t>
            </a:r>
          </a:p>
        </p:txBody>
      </p:sp>
      <p:sp>
        <p:nvSpPr>
          <p:cNvPr id="9" name="text">
            <a:extLst xmlns:a="http://schemas.openxmlformats.org/drawingml/2006/main">
              <a:ext uri="{FF2B5EF4-FFF2-40B4-BE49-F238E27FC236}">
                <a16:creationId xmlns:a16="http://schemas.microsoft.com/office/drawing/2014/main" id="{3F8632C4-DEA3-400C-9880-9D98DA02669B}"/>
              </a:ext>
            </a:extLst>
          </p:cNvPr>
          <p:cNvSpPr>
            <a:spLocks xmlns:a="http://schemas.openxmlformats.org/drawingml/2006/main" noGrp="1"/>
          </p:cNvSpPr>
          <p:nvPr/>
        </p:nvSpPr>
        <p:spPr>
          <a:xfrm xmlns:a="http://schemas.openxmlformats.org/drawingml/2006/main">
            <a:off x="609600" y="3924300"/>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C"/>
                </a:solidFill>
                <a:latin typeface="Arial"/>
                <a:ea typeface="Arial"/>
                <a:cs typeface="Arial"/>
              </a:defRPr>
            </a:defPPr>
          </a:lstStyle>
          <a:p xmlns:a="http://schemas.openxmlformats.org/drawingml/2006/main">
            <a:pPr algn="l">
              <a:defRPr sz="2250" b="1">
                <a:solidFill>
                  <a:srgbClr val="087F8C"/>
                </a:solidFill>
                <a:latin typeface="Arial"/>
                <a:ea typeface="Arial"/>
                <a:cs typeface="Arial"/>
              </a:defRPr>
            </a:pPr>
            <a:r>
              <a:rPr sz="2250" b="1">
                <a:solidFill>
                  <a:srgbClr val="087F8C"/>
                </a:solidFill>
                <a:latin typeface="Arial"/>
                <a:ea typeface="Arial"/>
                <a:cs typeface="Arial"/>
              </a:rPr>
              <a:t>2</a:t>
            </a:r>
          </a:p>
        </p:txBody>
      </p:sp>
      <p:sp>
        <p:nvSpPr>
          <p:cNvPr id="10" name="text">
            <a:extLst xmlns:a="http://schemas.openxmlformats.org/drawingml/2006/main">
              <a:ext uri="{FF2B5EF4-FFF2-40B4-BE49-F238E27FC236}">
                <a16:creationId xmlns:a16="http://schemas.microsoft.com/office/drawing/2014/main" id="{30AB256B-23B1-4C71-9CAD-D794F101948B}"/>
              </a:ext>
            </a:extLst>
          </p:cNvPr>
          <p:cNvSpPr>
            <a:spLocks xmlns:a="http://schemas.openxmlformats.org/drawingml/2006/main" noGrp="1"/>
          </p:cNvSpPr>
          <p:nvPr/>
        </p:nvSpPr>
        <p:spPr>
          <a:xfrm xmlns:a="http://schemas.openxmlformats.org/drawingml/2006/main">
            <a:off x="1200150" y="392430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3B"/>
                </a:solidFill>
                <a:latin typeface="Arial"/>
                <a:ea typeface="Arial"/>
                <a:cs typeface="Arial"/>
              </a:defRPr>
            </a:defPPr>
          </a:lstStyle>
          <a:p xmlns:a="http://schemas.openxmlformats.org/drawingml/2006/main">
            <a:pPr algn="l">
              <a:defRPr sz="2025" b="0">
                <a:solidFill>
                  <a:srgbClr val="14323B"/>
                </a:solidFill>
                <a:latin typeface="Arial"/>
                <a:ea typeface="Arial"/>
                <a:cs typeface="Arial"/>
              </a:defRPr>
            </a:pPr>
            <a:r>
              <a:rPr sz="2025" b="0">
                <a:solidFill>
                  <a:srgbClr val="14323B"/>
                </a:solidFill>
                <a:latin typeface="Arial"/>
                <a:ea typeface="Arial"/>
                <a:cs typeface="Arial"/>
              </a:rPr>
              <a:t>Fit preprocessing, imputation and domain scaling on discovery data</a:t>
            </a:r>
          </a:p>
        </p:txBody>
      </p:sp>
      <p:sp>
        <p:nvSpPr>
          <p:cNvPr id="11" name="text">
            <a:extLst xmlns:a="http://schemas.openxmlformats.org/drawingml/2006/main">
              <a:ext uri="{FF2B5EF4-FFF2-40B4-BE49-F238E27FC236}">
                <a16:creationId xmlns:a16="http://schemas.microsoft.com/office/drawing/2014/main" id="{DE6F855C-69B5-4C07-98A3-1B5FB3051D57}"/>
              </a:ext>
            </a:extLst>
          </p:cNvPr>
          <p:cNvSpPr>
            <a:spLocks xmlns:a="http://schemas.openxmlformats.org/drawingml/2006/main" noGrp="1"/>
          </p:cNvSpPr>
          <p:nvPr/>
        </p:nvSpPr>
        <p:spPr>
          <a:xfrm xmlns:a="http://schemas.openxmlformats.org/drawingml/2006/main">
            <a:off x="609600" y="4514850"/>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C"/>
                </a:solidFill>
                <a:latin typeface="Arial"/>
                <a:ea typeface="Arial"/>
                <a:cs typeface="Arial"/>
              </a:defRPr>
            </a:defPPr>
          </a:lstStyle>
          <a:p xmlns:a="http://schemas.openxmlformats.org/drawingml/2006/main">
            <a:pPr algn="l">
              <a:defRPr sz="2250" b="1">
                <a:solidFill>
                  <a:srgbClr val="087F8C"/>
                </a:solidFill>
                <a:latin typeface="Arial"/>
                <a:ea typeface="Arial"/>
                <a:cs typeface="Arial"/>
              </a:defRPr>
            </a:pPr>
            <a:r>
              <a:rPr sz="2250" b="1">
                <a:solidFill>
                  <a:srgbClr val="087F8C"/>
                </a:solidFill>
                <a:latin typeface="Arial"/>
                <a:ea typeface="Arial"/>
                <a:cs typeface="Arial"/>
              </a:rPr>
              <a:t>3</a:t>
            </a:r>
          </a:p>
        </p:txBody>
      </p:sp>
      <p:sp>
        <p:nvSpPr>
          <p:cNvPr id="12" name="text">
            <a:extLst xmlns:a="http://schemas.openxmlformats.org/drawingml/2006/main">
              <a:ext uri="{FF2B5EF4-FFF2-40B4-BE49-F238E27FC236}">
                <a16:creationId xmlns:a16="http://schemas.microsoft.com/office/drawing/2014/main" id="{6120CCB2-9BE1-4694-A5EA-F1C5F6FD2970}"/>
              </a:ext>
            </a:extLst>
          </p:cNvPr>
          <p:cNvSpPr>
            <a:spLocks xmlns:a="http://schemas.openxmlformats.org/drawingml/2006/main" noGrp="1"/>
          </p:cNvSpPr>
          <p:nvPr/>
        </p:nvSpPr>
        <p:spPr>
          <a:xfrm xmlns:a="http://schemas.openxmlformats.org/drawingml/2006/main">
            <a:off x="1200150" y="45148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3B"/>
                </a:solidFill>
                <a:latin typeface="Arial"/>
                <a:ea typeface="Arial"/>
                <a:cs typeface="Arial"/>
              </a:defRPr>
            </a:defPPr>
          </a:lstStyle>
          <a:p xmlns:a="http://schemas.openxmlformats.org/drawingml/2006/main">
            <a:pPr algn="l">
              <a:defRPr sz="2025" b="0">
                <a:solidFill>
                  <a:srgbClr val="14323B"/>
                </a:solidFill>
                <a:latin typeface="Arial"/>
                <a:ea typeface="Arial"/>
                <a:cs typeface="Arial"/>
              </a:defRPr>
            </a:pPr>
            <a:r>
              <a:rPr sz="2025" b="0">
                <a:solidFill>
                  <a:srgbClr val="14323B"/>
                </a:solidFill>
                <a:latin typeface="Arial"/>
                <a:ea typeface="Arial"/>
                <a:cs typeface="Arial"/>
              </a:rPr>
              <a:t>Fit each clustering model and assign the validation patients</a:t>
            </a:r>
          </a:p>
        </p:txBody>
      </p:sp>
      <p:sp>
        <p:nvSpPr>
          <p:cNvPr id="13" name="text">
            <a:extLst xmlns:a="http://schemas.openxmlformats.org/drawingml/2006/main">
              <a:ext uri="{FF2B5EF4-FFF2-40B4-BE49-F238E27FC236}">
                <a16:creationId xmlns:a16="http://schemas.microsoft.com/office/drawing/2014/main" id="{F8A0467E-399C-4498-8007-4FDD8A5B117A}"/>
              </a:ext>
            </a:extLst>
          </p:cNvPr>
          <p:cNvSpPr>
            <a:spLocks xmlns:a="http://schemas.openxmlformats.org/drawingml/2006/main" noGrp="1"/>
          </p:cNvSpPr>
          <p:nvPr/>
        </p:nvSpPr>
        <p:spPr>
          <a:xfrm xmlns:a="http://schemas.openxmlformats.org/drawingml/2006/main">
            <a:off x="609600" y="5105400"/>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C"/>
                </a:solidFill>
                <a:latin typeface="Arial"/>
                <a:ea typeface="Arial"/>
                <a:cs typeface="Arial"/>
              </a:defRPr>
            </a:defPPr>
          </a:lstStyle>
          <a:p xmlns:a="http://schemas.openxmlformats.org/drawingml/2006/main">
            <a:pPr algn="l">
              <a:defRPr sz="2250" b="1">
                <a:solidFill>
                  <a:srgbClr val="087F8C"/>
                </a:solidFill>
                <a:latin typeface="Arial"/>
                <a:ea typeface="Arial"/>
                <a:cs typeface="Arial"/>
              </a:defRPr>
            </a:pPr>
            <a:r>
              <a:rPr sz="2250" b="1">
                <a:solidFill>
                  <a:srgbClr val="087F8C"/>
                </a:solidFill>
                <a:latin typeface="Arial"/>
                <a:ea typeface="Arial"/>
                <a:cs typeface="Arial"/>
              </a:rPr>
              <a:t>4</a:t>
            </a:r>
          </a:p>
        </p:txBody>
      </p:sp>
      <p:sp>
        <p:nvSpPr>
          <p:cNvPr id="14" name="text">
            <a:extLst xmlns:a="http://schemas.openxmlformats.org/drawingml/2006/main">
              <a:ext uri="{FF2B5EF4-FFF2-40B4-BE49-F238E27FC236}">
                <a16:creationId xmlns:a16="http://schemas.microsoft.com/office/drawing/2014/main" id="{8CC3C6EA-D2FA-4CA5-85B2-BC6912F2E0F7}"/>
              </a:ext>
            </a:extLst>
          </p:cNvPr>
          <p:cNvSpPr>
            <a:spLocks xmlns:a="http://schemas.openxmlformats.org/drawingml/2006/main" noGrp="1"/>
          </p:cNvSpPr>
          <p:nvPr/>
        </p:nvSpPr>
        <p:spPr>
          <a:xfrm xmlns:a="http://schemas.openxmlformats.org/drawingml/2006/main">
            <a:off x="1200150" y="510540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3B"/>
                </a:solidFill>
                <a:latin typeface="Arial"/>
                <a:ea typeface="Arial"/>
                <a:cs typeface="Arial"/>
              </a:defRPr>
            </a:defPPr>
          </a:lstStyle>
          <a:p xmlns:a="http://schemas.openxmlformats.org/drawingml/2006/main">
            <a:pPr algn="l">
              <a:defRPr sz="2025" b="0">
                <a:solidFill>
                  <a:srgbClr val="14323B"/>
                </a:solidFill>
                <a:latin typeface="Arial"/>
                <a:ea typeface="Arial"/>
                <a:cs typeface="Arial"/>
              </a:defRPr>
            </a:pPr>
            <a:r>
              <a:rPr sz="2025" b="0">
                <a:solidFill>
                  <a:srgbClr val="14323B"/>
                </a:solidFill>
                <a:latin typeface="Arial"/>
                <a:ea typeface="Arial"/>
                <a:cs typeface="Arial"/>
              </a:rPr>
              <a:t>Repeat independent fits and compare the same validation patients</a:t>
            </a:r>
          </a:p>
        </p:txBody>
      </p:sp>
      <p:sp>
        <p:nvSpPr>
          <p:cNvPr id="15" name="qualification">
            <a:extLst xmlns:a="http://schemas.openxmlformats.org/drawingml/2006/main">
              <a:ext uri="{FF2B5EF4-FFF2-40B4-BE49-F238E27FC236}">
                <a16:creationId xmlns:a16="http://schemas.microsoft.com/office/drawing/2014/main" id="{EB37B98F-5443-4424-B036-2FA716D759FA}"/>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No patient crosses the split. Feature selection was inherited from the full historical cohort.</a:t>
            </a:r>
          </a:p>
        </p:txBody>
      </p:sp>
    </p:spTree>
    <p:extLst>
      <p:ext uri="{BB962C8B-B14F-4D97-AF65-F5344CB8AC3E}">
        <p14:creationId xmlns:p14="http://schemas.microsoft.com/office/powerpoint/2010/main" val="11280864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FEA0010-299F-4437-858D-4D3C520309AD}"/>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K-means groups repeat across imputation draws</a:t>
            </a:r>
          </a:p>
        </p:txBody>
      </p:sp>
      <p:sp>
        <p:nvSpPr>
          <p:cNvPr id="2" name="slide-footer">
            <a:extLst xmlns:a="http://schemas.openxmlformats.org/drawingml/2006/main">
              <a:ext uri="{FF2B5EF4-FFF2-40B4-BE49-F238E27FC236}">
                <a16:creationId xmlns:a16="http://schemas.microsoft.com/office/drawing/2014/main" id="{5D44B1EB-EDA6-4FF9-BF88-76BE57487362}"/>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08</a:t>
            </a:r>
          </a:p>
        </p:txBody>
      </p:sp>
      <p:graphicFrame>
        <p:nvGraphicFramePr>
          <p:cNvPr id="3" name="Chart">
            <a:extLst xmlns:a="http://schemas.openxmlformats.org/drawingml/2006/main">
              <a:ext uri="{FF2B5EF4-FFF2-40B4-BE49-F238E27FC236}">
                <a16:creationId xmlns:a16="http://schemas.microsoft.com/office/drawing/2014/main" id="{EA28A037-FA94-40E3-B456-8FF4E06A8E97}"/>
              </a:ext>
            </a:extLst>
          </p:cNvPr>
          <p:cNvGraphicFramePr/>
          <p:nvPr/>
        </p:nvGraphicFramePr>
        <p:xfrm>
          <a:off xmlns:a="http://schemas.openxmlformats.org/drawingml/2006/main" x="609600" y="1714500"/>
          <a:ext xmlns:a="http://schemas.openxmlformats.org/drawingml/2006/main" cx="7334250" cy="4000500"/>
        </p:xfrm>
        <a:graphic xmlns:a="http://schemas.openxmlformats.org/drawingml/2006/main">
          <a:graphicData uri="http://schemas.openxmlformats.org/drawingml/2006/chart">
            <c:chart xmlns:r="http://schemas.openxmlformats.org/officeDocument/2006/relationships" xmlns:c="http://schemas.openxmlformats.org/drawingml/2006/chart" r:id="R20aa77625ea64acb"/>
          </a:graphicData>
        </a:graphic>
      </p:graphicFrame>
      <p:sp>
        <p:nvSpPr>
          <p:cNvPr id="4" name="section-label">
            <a:extLst xmlns:a="http://schemas.openxmlformats.org/drawingml/2006/main">
              <a:ext uri="{FF2B5EF4-FFF2-40B4-BE49-F238E27FC236}">
                <a16:creationId xmlns:a16="http://schemas.microsoft.com/office/drawing/2014/main" id="{4168F5B1-A2A0-49B1-8681-2D3BDF35CCD9}"/>
              </a:ext>
            </a:extLst>
          </p:cNvPr>
          <p:cNvSpPr>
            <a:spLocks xmlns:a="http://schemas.openxmlformats.org/drawingml/2006/main" noGrp="1"/>
          </p:cNvSpPr>
          <p:nvPr/>
        </p:nvSpPr>
        <p:spPr>
          <a:xfrm xmlns:a="http://schemas.openxmlformats.org/drawingml/2006/main">
            <a:off x="8334375" y="17145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Additional k = 3 checks</a:t>
            </a:r>
          </a:p>
        </p:txBody>
      </p:sp>
      <p:sp>
        <p:nvSpPr>
          <p:cNvPr id="5" name="text">
            <a:extLst xmlns:a="http://schemas.openxmlformats.org/drawingml/2006/main">
              <a:ext uri="{FF2B5EF4-FFF2-40B4-BE49-F238E27FC236}">
                <a16:creationId xmlns:a16="http://schemas.microsoft.com/office/drawing/2014/main" id="{58711125-8197-4788-985A-51D71B130A13}"/>
              </a:ext>
            </a:extLst>
          </p:cNvPr>
          <p:cNvSpPr>
            <a:spLocks xmlns:a="http://schemas.openxmlformats.org/drawingml/2006/main" noGrp="1"/>
          </p:cNvSpPr>
          <p:nvPr/>
        </p:nvSpPr>
        <p:spPr>
          <a:xfrm xmlns:a="http://schemas.openxmlformats.org/drawingml/2006/main">
            <a:off x="8334375" y="2476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87F8C"/>
                </a:solidFill>
                <a:latin typeface="Arial"/>
                <a:ea typeface="Arial"/>
                <a:cs typeface="Arial"/>
              </a:defRPr>
            </a:defPPr>
          </a:lstStyle>
          <a:p xmlns:a="http://schemas.openxmlformats.org/drawingml/2006/main">
            <a:pPr algn="l">
              <a:defRPr sz="4950" b="1">
                <a:solidFill>
                  <a:srgbClr val="087F8C"/>
                </a:solidFill>
                <a:latin typeface="Arial"/>
                <a:ea typeface="Arial"/>
                <a:cs typeface="Arial"/>
              </a:defRPr>
            </a:pPr>
            <a:r>
              <a:rPr sz="4950" b="1">
                <a:solidFill>
                  <a:srgbClr val="087F8C"/>
                </a:solidFill>
                <a:latin typeface="Arial"/>
                <a:ea typeface="Arial"/>
                <a:cs typeface="Arial"/>
              </a:rPr>
              <a:t>0.968</a:t>
            </a:r>
          </a:p>
        </p:txBody>
      </p:sp>
      <p:sp>
        <p:nvSpPr>
          <p:cNvPr id="6" name="text">
            <a:extLst xmlns:a="http://schemas.openxmlformats.org/drawingml/2006/main">
              <a:ext uri="{FF2B5EF4-FFF2-40B4-BE49-F238E27FC236}">
                <a16:creationId xmlns:a16="http://schemas.microsoft.com/office/drawing/2014/main" id="{822AE3CF-8517-4BDD-A9F3-AA4AF37A1F2D}"/>
              </a:ext>
            </a:extLst>
          </p:cNvPr>
          <p:cNvSpPr>
            <a:spLocks xmlns:a="http://schemas.openxmlformats.org/drawingml/2006/main" noGrp="1"/>
          </p:cNvSpPr>
          <p:nvPr/>
        </p:nvSpPr>
        <p:spPr>
          <a:xfrm xmlns:a="http://schemas.openxmlformats.org/drawingml/2006/main">
            <a:off x="8334375" y="33528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3B"/>
                </a:solidFill>
                <a:latin typeface="Arial"/>
                <a:ea typeface="Arial"/>
                <a:cs typeface="Arial"/>
              </a:defRPr>
            </a:defPPr>
          </a:lstStyle>
          <a:p xmlns:a="http://schemas.openxmlformats.org/drawingml/2006/main">
            <a:pPr algn="l">
              <a:defRPr sz="1875" b="0">
                <a:solidFill>
                  <a:srgbClr val="14323B"/>
                </a:solidFill>
                <a:latin typeface="Arial"/>
                <a:ea typeface="Arial"/>
                <a:cs typeface="Arial"/>
              </a:defRPr>
            </a:pPr>
            <a:r>
              <a:rPr sz="1875" b="0">
                <a:solidFill>
                  <a:srgbClr val="14323B"/>
                </a:solidFill>
                <a:latin typeface="Arial"/>
                <a:ea typeface="Arial"/>
                <a:cs typeface="Arial"/>
              </a:rPr>
              <a:t>50 patient subsamples</a:t>
            </a:r>
          </a:p>
        </p:txBody>
      </p:sp>
      <p:sp>
        <p:nvSpPr>
          <p:cNvPr id="7" name="text">
            <a:extLst xmlns:a="http://schemas.openxmlformats.org/drawingml/2006/main">
              <a:ext uri="{FF2B5EF4-FFF2-40B4-BE49-F238E27FC236}">
                <a16:creationId xmlns:a16="http://schemas.microsoft.com/office/drawing/2014/main" id="{9DF13FA9-5BE6-4237-AAF3-D1C3EC2A8B43}"/>
              </a:ext>
            </a:extLst>
          </p:cNvPr>
          <p:cNvSpPr>
            <a:spLocks xmlns:a="http://schemas.openxmlformats.org/drawingml/2006/main" noGrp="1"/>
          </p:cNvSpPr>
          <p:nvPr/>
        </p:nvSpPr>
        <p:spPr>
          <a:xfrm xmlns:a="http://schemas.openxmlformats.org/drawingml/2006/main">
            <a:off x="8334375" y="41910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2975A2"/>
                </a:solidFill>
                <a:latin typeface="Arial"/>
                <a:ea typeface="Arial"/>
                <a:cs typeface="Arial"/>
              </a:defRPr>
            </a:defPPr>
          </a:lstStyle>
          <a:p xmlns:a="http://schemas.openxmlformats.org/drawingml/2006/main">
            <a:pPr algn="l">
              <a:defRPr sz="4200" b="1">
                <a:solidFill>
                  <a:srgbClr val="2975A2"/>
                </a:solidFill>
                <a:latin typeface="Arial"/>
                <a:ea typeface="Arial"/>
                <a:cs typeface="Arial"/>
              </a:defRPr>
            </a:pPr>
            <a:r>
              <a:rPr sz="4200" b="1">
                <a:solidFill>
                  <a:srgbClr val="2975A2"/>
                </a:solidFill>
                <a:latin typeface="Arial"/>
                <a:ea typeface="Arial"/>
                <a:cs typeface="Arial"/>
              </a:rPr>
              <a:t>1.000</a:t>
            </a:r>
          </a:p>
        </p:txBody>
      </p:sp>
      <p:sp>
        <p:nvSpPr>
          <p:cNvPr id="8" name="text">
            <a:extLst xmlns:a="http://schemas.openxmlformats.org/drawingml/2006/main">
              <a:ext uri="{FF2B5EF4-FFF2-40B4-BE49-F238E27FC236}">
                <a16:creationId xmlns:a16="http://schemas.microsoft.com/office/drawing/2014/main" id="{C84EE3DB-88C7-4141-898A-0BAD63D5CC0B}"/>
              </a:ext>
            </a:extLst>
          </p:cNvPr>
          <p:cNvSpPr>
            <a:spLocks xmlns:a="http://schemas.openxmlformats.org/drawingml/2006/main" noGrp="1"/>
          </p:cNvSpPr>
          <p:nvPr/>
        </p:nvSpPr>
        <p:spPr>
          <a:xfrm xmlns:a="http://schemas.openxmlformats.org/drawingml/2006/main">
            <a:off x="8334375" y="50292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3B"/>
                </a:solidFill>
                <a:latin typeface="Arial"/>
                <a:ea typeface="Arial"/>
                <a:cs typeface="Arial"/>
              </a:defRPr>
            </a:defPPr>
          </a:lstStyle>
          <a:p xmlns:a="http://schemas.openxmlformats.org/drawingml/2006/main">
            <a:pPr algn="l">
              <a:defRPr sz="1875" b="0">
                <a:solidFill>
                  <a:srgbClr val="14323B"/>
                </a:solidFill>
                <a:latin typeface="Arial"/>
                <a:ea typeface="Arial"/>
                <a:cs typeface="Arial"/>
              </a:defRPr>
            </a:pPr>
            <a:r>
              <a:rPr sz="1875" b="0">
                <a:solidFill>
                  <a:srgbClr val="14323B"/>
                </a:solidFill>
                <a:latin typeface="Arial"/>
                <a:ea typeface="Arial"/>
                <a:cs typeface="Arial"/>
              </a:rPr>
              <a:t>50 initialization runs</a:t>
            </a:r>
          </a:p>
        </p:txBody>
      </p:sp>
      <p:sp>
        <p:nvSpPr>
          <p:cNvPr id="9" name="qualification">
            <a:extLst xmlns:a="http://schemas.openxmlformats.org/drawingml/2006/main">
              <a:ext uri="{FF2B5EF4-FFF2-40B4-BE49-F238E27FC236}">
                <a16:creationId xmlns:a16="http://schemas.microsoft.com/office/drawing/2014/main" id="{9B0223E8-72AB-46E2-B278-CC8CA52E85C7}"/>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20 stochastic imputations. Agreement is conditional on the imputation model and representation.</a:t>
            </a:r>
          </a:p>
        </p:txBody>
      </p:sp>
    </p:spTree>
    <p:extLst>
      <p:ext uri="{BB962C8B-B14F-4D97-AF65-F5344CB8AC3E}">
        <p14:creationId xmlns:p14="http://schemas.microsoft.com/office/powerpoint/2010/main" val="4485993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EF3E45C-5D9E-465F-BE75-F0C78A323F93}"/>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Scaling changes who belongs to each group</a:t>
            </a:r>
          </a:p>
        </p:txBody>
      </p:sp>
      <p:sp>
        <p:nvSpPr>
          <p:cNvPr id="2" name="slide-footer">
            <a:extLst xmlns:a="http://schemas.openxmlformats.org/drawingml/2006/main">
              <a:ext uri="{FF2B5EF4-FFF2-40B4-BE49-F238E27FC236}">
                <a16:creationId xmlns:a16="http://schemas.microsoft.com/office/drawing/2014/main" id="{B28E1F9D-11A1-4992-B192-F6F0DA43E9FE}"/>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09</a:t>
            </a:r>
          </a:p>
        </p:txBody>
      </p:sp>
      <p:sp>
        <p:nvSpPr>
          <p:cNvPr id="3" name="section-label">
            <a:extLst xmlns:a="http://schemas.openxmlformats.org/drawingml/2006/main">
              <a:ext uri="{FF2B5EF4-FFF2-40B4-BE49-F238E27FC236}">
                <a16:creationId xmlns:a16="http://schemas.microsoft.com/office/drawing/2014/main" id="{A74F88AD-7AED-46B3-99FA-9D03AAD0F228}"/>
              </a:ext>
            </a:extLst>
          </p:cNvPr>
          <p:cNvSpPr>
            <a:spLocks xmlns:a="http://schemas.openxmlformats.org/drawingml/2006/main" noGrp="1"/>
          </p:cNvSpPr>
          <p:nvPr/>
        </p:nvSpPr>
        <p:spPr>
          <a:xfrm xmlns:a="http://schemas.openxmlformats.org/drawingml/2006/main">
            <a:off x="609600" y="15716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Discovery variance after robust scaling</a:t>
            </a:r>
          </a:p>
        </p:txBody>
      </p:sp>
      <p:graphicFrame>
        <p:nvGraphicFramePr>
          <p:cNvPr id="4" name="Chart">
            <a:extLst xmlns:a="http://schemas.openxmlformats.org/drawingml/2006/main">
              <a:ext uri="{FF2B5EF4-FFF2-40B4-BE49-F238E27FC236}">
                <a16:creationId xmlns:a16="http://schemas.microsoft.com/office/drawing/2014/main" id="{8E56E306-F599-409B-A395-477CF4EAFD60}"/>
              </a:ext>
            </a:extLst>
          </p:cNvPr>
          <p:cNvGraphicFramePr/>
          <p:nvPr/>
        </p:nvGraphicFramePr>
        <p:xfrm>
          <a:off xmlns:a="http://schemas.openxmlformats.org/drawingml/2006/main" x="609600" y="2143125"/>
          <a:ext xmlns:a="http://schemas.openxmlformats.org/drawingml/2006/main" cx="7334250" cy="3476625"/>
        </p:xfrm>
        <a:graphic xmlns:a="http://schemas.openxmlformats.org/drawingml/2006/main">
          <a:graphicData uri="http://schemas.openxmlformats.org/drawingml/2006/chart">
            <c:chart xmlns:r="http://schemas.openxmlformats.org/officeDocument/2006/relationships" xmlns:c="http://schemas.openxmlformats.org/drawingml/2006/chart" r:id="R987b3f2ade0542c8"/>
          </a:graphicData>
        </a:graphic>
      </p:graphicFrame>
      <p:sp>
        <p:nvSpPr>
          <p:cNvPr id="5" name="text">
            <a:extLst xmlns:a="http://schemas.openxmlformats.org/drawingml/2006/main">
              <a:ext uri="{FF2B5EF4-FFF2-40B4-BE49-F238E27FC236}">
                <a16:creationId xmlns:a16="http://schemas.microsoft.com/office/drawing/2014/main" id="{8D7168AF-69F3-4014-88B3-33E9A0CD7695}"/>
              </a:ext>
            </a:extLst>
          </p:cNvPr>
          <p:cNvSpPr>
            <a:spLocks xmlns:a="http://schemas.openxmlformats.org/drawingml/2006/main" noGrp="1"/>
          </p:cNvSpPr>
          <p:nvPr/>
        </p:nvSpPr>
        <p:spPr>
          <a:xfrm xmlns:a="http://schemas.openxmlformats.org/drawingml/2006/main">
            <a:off x="8334375" y="2286000"/>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B85647"/>
                </a:solidFill>
                <a:latin typeface="Arial"/>
                <a:ea typeface="Arial"/>
                <a:cs typeface="Arial"/>
              </a:defRPr>
            </a:defPPr>
          </a:lstStyle>
          <a:p xmlns:a="http://schemas.openxmlformats.org/drawingml/2006/main">
            <a:pPr algn="l">
              <a:defRPr sz="6300" b="1">
                <a:solidFill>
                  <a:srgbClr val="B85647"/>
                </a:solidFill>
                <a:latin typeface="Arial"/>
                <a:ea typeface="Arial"/>
                <a:cs typeface="Arial"/>
              </a:defRPr>
            </a:pPr>
            <a:r>
              <a:rPr sz="6300" b="1">
                <a:solidFill>
                  <a:srgbClr val="B85647"/>
                </a:solidFill>
                <a:latin typeface="Arial"/>
                <a:ea typeface="Arial"/>
                <a:cs typeface="Arial"/>
              </a:rPr>
              <a:t>0.243</a:t>
            </a:r>
          </a:p>
        </p:txBody>
      </p:sp>
      <p:sp>
        <p:nvSpPr>
          <p:cNvPr id="6" name="text">
            <a:extLst xmlns:a="http://schemas.openxmlformats.org/drawingml/2006/main">
              <a:ext uri="{FF2B5EF4-FFF2-40B4-BE49-F238E27FC236}">
                <a16:creationId xmlns:a16="http://schemas.microsoft.com/office/drawing/2014/main" id="{20577DD7-8F46-48A2-961E-70F6D6E29044}"/>
              </a:ext>
            </a:extLst>
          </p:cNvPr>
          <p:cNvSpPr>
            <a:spLocks xmlns:a="http://schemas.openxmlformats.org/drawingml/2006/main" noGrp="1"/>
          </p:cNvSpPr>
          <p:nvPr/>
        </p:nvSpPr>
        <p:spPr>
          <a:xfrm xmlns:a="http://schemas.openxmlformats.org/drawingml/2006/main">
            <a:off x="8334375" y="35242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323B"/>
                </a:solidFill>
                <a:latin typeface="Arial"/>
                <a:ea typeface="Arial"/>
                <a:cs typeface="Arial"/>
              </a:defRPr>
            </a:defPPr>
          </a:lstStyle>
          <a:p xmlns:a="http://schemas.openxmlformats.org/drawingml/2006/main">
            <a:pPr algn="l">
              <a:defRPr sz="2250" b="1">
                <a:solidFill>
                  <a:srgbClr val="14323B"/>
                </a:solidFill>
                <a:latin typeface="Arial"/>
                <a:ea typeface="Arial"/>
                <a:cs typeface="Arial"/>
              </a:defRPr>
            </a:pPr>
            <a:r>
              <a:rPr sz="2250" b="1">
                <a:solidFill>
                  <a:srgbClr val="14323B"/>
                </a:solidFill>
                <a:latin typeface="Arial"/>
                <a:ea typeface="Arial"/>
                <a:cs typeface="Arial"/>
              </a:rPr>
              <a:t>ARI between scaling choices</a:t>
            </a:r>
          </a:p>
        </p:txBody>
      </p:sp>
      <p:sp>
        <p:nvSpPr>
          <p:cNvPr id="7" name="text">
            <a:extLst xmlns:a="http://schemas.openxmlformats.org/drawingml/2006/main">
              <a:ext uri="{FF2B5EF4-FFF2-40B4-BE49-F238E27FC236}">
                <a16:creationId xmlns:a16="http://schemas.microsoft.com/office/drawing/2014/main" id="{384D9265-6B8D-472F-98AD-78C529CC0482}"/>
              </a:ext>
            </a:extLst>
          </p:cNvPr>
          <p:cNvSpPr>
            <a:spLocks xmlns:a="http://schemas.openxmlformats.org/drawingml/2006/main" noGrp="1"/>
          </p:cNvSpPr>
          <p:nvPr/>
        </p:nvSpPr>
        <p:spPr>
          <a:xfrm xmlns:a="http://schemas.openxmlformats.org/drawingml/2006/main">
            <a:off x="8334375" y="46863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57C"/>
                </a:solidFill>
                <a:latin typeface="Arial"/>
                <a:ea typeface="Arial"/>
                <a:cs typeface="Arial"/>
              </a:defRPr>
            </a:defPPr>
          </a:lstStyle>
          <a:p xmlns:a="http://schemas.openxmlformats.org/drawingml/2006/main">
            <a:pPr algn="l">
              <a:defRPr sz="1950" b="0">
                <a:solidFill>
                  <a:srgbClr val="60757C"/>
                </a:solidFill>
                <a:latin typeface="Arial"/>
                <a:ea typeface="Arial"/>
                <a:cs typeface="Arial"/>
              </a:defRPr>
            </a:pPr>
            <a:r>
              <a:rPr sz="1950" b="0">
                <a:solidFill>
                  <a:srgbClr val="60757C"/>
                </a:solidFill>
                <a:latin typeface="Arial"/>
                <a:ea typeface="Arial"/>
                <a:cs typeface="Arial"/>
              </a:rPr>
              <a:t>Same patients</a:t>
            </a:r>
          </a:p>
          <a:p xmlns:a="http://schemas.openxmlformats.org/drawingml/2006/main">
            <a:pPr algn="l">
              <a:defRPr sz="1950" b="0">
                <a:solidFill>
                  <a:srgbClr val="60757C"/>
                </a:solidFill>
                <a:latin typeface="Arial"/>
                <a:ea typeface="Arial"/>
                <a:cs typeface="Arial"/>
              </a:defRPr>
            </a:pPr>
            <a:r>
              <a:rPr sz="1950" b="0">
                <a:solidFill>
                  <a:srgbClr val="60757C"/>
                </a:solidFill>
                <a:latin typeface="Arial"/>
                <a:ea typeface="Arial"/>
                <a:cs typeface="Arial"/>
              </a:rPr>
              <a:t>Fixed 3-group model</a:t>
            </a:r>
          </a:p>
        </p:txBody>
      </p:sp>
      <p:sp>
        <p:nvSpPr>
          <p:cNvPr id="8" name="qualification">
            <a:extLst xmlns:a="http://schemas.openxmlformats.org/drawingml/2006/main">
              <a:ext uri="{FF2B5EF4-FFF2-40B4-BE49-F238E27FC236}">
                <a16:creationId xmlns:a16="http://schemas.microsoft.com/office/drawing/2014/main" id="{64A00FD9-6BF9-4F59-8742-95414B0EBFF6}"/>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Equal-domain scaling sets every domain variance to 1. Neither weighting has clinical validation.</a:t>
            </a:r>
          </a:p>
        </p:txBody>
      </p:sp>
    </p:spTree>
    <p:extLst>
      <p:ext uri="{BB962C8B-B14F-4D97-AF65-F5344CB8AC3E}">
        <p14:creationId xmlns:p14="http://schemas.microsoft.com/office/powerpoint/2010/main" val="12081295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BD7BC907-F74F-402A-A6E7-4D1B8C677AA3}"/>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The alternative scalings produce different profiles</a:t>
            </a:r>
          </a:p>
        </p:txBody>
      </p:sp>
      <p:sp>
        <p:nvSpPr>
          <p:cNvPr id="2" name="slide-footer">
            <a:extLst xmlns:a="http://schemas.openxmlformats.org/drawingml/2006/main">
              <a:ext uri="{FF2B5EF4-FFF2-40B4-BE49-F238E27FC236}">
                <a16:creationId xmlns:a16="http://schemas.microsoft.com/office/drawing/2014/main" id="{6E3B7BC2-2617-42BE-9E6F-9E1841305309}"/>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10</a:t>
            </a:r>
          </a:p>
        </p:txBody>
      </p:sp>
      <p:sp>
        <p:nvSpPr>
          <p:cNvPr id="3" name="section-label">
            <a:extLst xmlns:a="http://schemas.openxmlformats.org/drawingml/2006/main">
              <a:ext uri="{FF2B5EF4-FFF2-40B4-BE49-F238E27FC236}">
                <a16:creationId xmlns:a16="http://schemas.microsoft.com/office/drawing/2014/main" id="{45576E80-6BB6-4287-9317-07DD54E7EB70}"/>
              </a:ext>
            </a:extLst>
          </p:cNvPr>
          <p:cNvSpPr>
            <a:spLocks xmlns:a="http://schemas.openxmlformats.org/drawingml/2006/main" noGrp="1"/>
          </p:cNvSpPr>
          <p:nvPr/>
        </p:nvSpPr>
        <p:spPr>
          <a:xfrm xmlns:a="http://schemas.openxmlformats.org/drawingml/2006/main">
            <a:off x="609600" y="14859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Robust scaling</a:t>
            </a:r>
          </a:p>
        </p:txBody>
      </p:sp>
      <p:sp>
        <p:nvSpPr>
          <p:cNvPr id="4" name="section-label">
            <a:extLst xmlns:a="http://schemas.openxmlformats.org/drawingml/2006/main">
              <a:ext uri="{FF2B5EF4-FFF2-40B4-BE49-F238E27FC236}">
                <a16:creationId xmlns:a16="http://schemas.microsoft.com/office/drawing/2014/main" id="{A469B998-47C4-4C2A-A6A7-439489D881AF}"/>
              </a:ext>
            </a:extLst>
          </p:cNvPr>
          <p:cNvSpPr>
            <a:spLocks xmlns:a="http://schemas.openxmlformats.org/drawingml/2006/main" noGrp="1"/>
          </p:cNvSpPr>
          <p:nvPr/>
        </p:nvSpPr>
        <p:spPr>
          <a:xfrm xmlns:a="http://schemas.openxmlformats.org/drawingml/2006/main">
            <a:off x="6334125" y="14859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Equal-domain scaling</a:t>
            </a:r>
          </a:p>
        </p:txBody>
      </p:sp>
      <p:graphicFrame>
        <p:nvGraphicFramePr>
          <p:cNvPr id="5" name="Chart">
            <a:extLst xmlns:a="http://schemas.openxmlformats.org/drawingml/2006/main">
              <a:ext uri="{FF2B5EF4-FFF2-40B4-BE49-F238E27FC236}">
                <a16:creationId xmlns:a16="http://schemas.microsoft.com/office/drawing/2014/main" id="{F44772C0-9832-452E-858E-30689DCF8EC2}"/>
              </a:ext>
            </a:extLst>
          </p:cNvPr>
          <p:cNvGraphicFramePr/>
          <p:nvPr/>
        </p:nvGraphicFramePr>
        <p:xfrm>
          <a:off xmlns:a="http://schemas.openxmlformats.org/drawingml/2006/main" x="476250" y="2038350"/>
          <a:ext xmlns:a="http://schemas.openxmlformats.org/drawingml/2006/main" cx="5486400" cy="3714750"/>
        </p:xfrm>
        <a:graphic xmlns:a="http://schemas.openxmlformats.org/drawingml/2006/main">
          <a:graphicData uri="http://schemas.openxmlformats.org/drawingml/2006/chart">
            <c:chart xmlns:r="http://schemas.openxmlformats.org/officeDocument/2006/relationships" xmlns:c="http://schemas.openxmlformats.org/drawingml/2006/chart" r:id="Rd2b0b9f99f84437b"/>
          </a:graphicData>
        </a:graphic>
      </p:graphicFrame>
      <p:graphicFrame>
        <p:nvGraphicFramePr>
          <p:cNvPr id="6" name="Chart">
            <a:extLst xmlns:a="http://schemas.openxmlformats.org/drawingml/2006/main">
              <a:ext uri="{FF2B5EF4-FFF2-40B4-BE49-F238E27FC236}">
                <a16:creationId xmlns:a16="http://schemas.microsoft.com/office/drawing/2014/main" id="{63126CE3-CC35-4499-9101-3E06F5A9CEBA}"/>
              </a:ext>
            </a:extLst>
          </p:cNvPr>
          <p:cNvGraphicFramePr/>
          <p:nvPr/>
        </p:nvGraphicFramePr>
        <p:xfrm>
          <a:off xmlns:a="http://schemas.openxmlformats.org/drawingml/2006/main" x="6191250" y="2038350"/>
          <a:ext xmlns:a="http://schemas.openxmlformats.org/drawingml/2006/main" cx="5486400" cy="3714750"/>
        </p:xfrm>
        <a:graphic xmlns:a="http://schemas.openxmlformats.org/drawingml/2006/main">
          <a:graphicData uri="http://schemas.openxmlformats.org/drawingml/2006/chart">
            <c:chart xmlns:r="http://schemas.openxmlformats.org/officeDocument/2006/relationships" xmlns:c="http://schemas.openxmlformats.org/drawingml/2006/chart" r:id="R4a7c6bc2532f4198"/>
          </a:graphicData>
        </a:graphic>
      </p:graphicFrame>
      <p:sp>
        <p:nvSpPr>
          <p:cNvPr id="7" name="qualification">
            <a:extLst xmlns:a="http://schemas.openxmlformats.org/drawingml/2006/main">
              <a:ext uri="{FF2B5EF4-FFF2-40B4-BE49-F238E27FC236}">
                <a16:creationId xmlns:a16="http://schemas.microsoft.com/office/drawing/2014/main" id="{57960B56-D690-42B1-840E-4F6C0934D35E}"/>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The vertical scale is shared. Group identifiers and colours are local to each model.</a:t>
            </a:r>
          </a:p>
        </p:txBody>
      </p:sp>
    </p:spTree>
    <p:extLst>
      <p:ext uri="{BB962C8B-B14F-4D97-AF65-F5344CB8AC3E}">
        <p14:creationId xmlns:p14="http://schemas.microsoft.com/office/powerpoint/2010/main" val="20207399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3142492-3073-4C43-B5A6-79A8A97B1867}"/>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Test availability remains tied to group membership</a:t>
            </a:r>
          </a:p>
        </p:txBody>
      </p:sp>
      <p:sp>
        <p:nvSpPr>
          <p:cNvPr id="2" name="slide-footer">
            <a:extLst xmlns:a="http://schemas.openxmlformats.org/drawingml/2006/main">
              <a:ext uri="{FF2B5EF4-FFF2-40B4-BE49-F238E27FC236}">
                <a16:creationId xmlns:a16="http://schemas.microsoft.com/office/drawing/2014/main" id="{6A89802A-F6DA-4661-8C1F-5C2ECFD34002}"/>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11</a:t>
            </a:r>
          </a:p>
        </p:txBody>
      </p:sp>
      <p:graphicFrame>
        <p:nvGraphicFramePr>
          <p:cNvPr id="3" name="Chart">
            <a:extLst xmlns:a="http://schemas.openxmlformats.org/drawingml/2006/main">
              <a:ext uri="{FF2B5EF4-FFF2-40B4-BE49-F238E27FC236}">
                <a16:creationId xmlns:a16="http://schemas.microsoft.com/office/drawing/2014/main" id="{4039186A-E60A-47D9-826F-E9F97B29228E}"/>
              </a:ext>
            </a:extLst>
          </p:cNvPr>
          <p:cNvGraphicFramePr/>
          <p:nvPr/>
        </p:nvGraphicFramePr>
        <p:xfrm>
          <a:off xmlns:a="http://schemas.openxmlformats.org/drawingml/2006/main" x="609600" y="1809750"/>
          <a:ext xmlns:a="http://schemas.openxmlformats.org/drawingml/2006/main" cx="7334250" cy="3810000"/>
        </p:xfrm>
        <a:graphic xmlns:a="http://schemas.openxmlformats.org/drawingml/2006/main">
          <a:graphicData uri="http://schemas.openxmlformats.org/drawingml/2006/chart">
            <c:chart xmlns:r="http://schemas.openxmlformats.org/officeDocument/2006/relationships" xmlns:c="http://schemas.openxmlformats.org/drawingml/2006/chart" r:id="Rae2de1305f884ece"/>
          </a:graphicData>
        </a:graphic>
      </p:graphicFrame>
      <p:sp>
        <p:nvSpPr>
          <p:cNvPr id="4" name="section-label">
            <a:extLst xmlns:a="http://schemas.openxmlformats.org/drawingml/2006/main">
              <a:ext uri="{FF2B5EF4-FFF2-40B4-BE49-F238E27FC236}">
                <a16:creationId xmlns:a16="http://schemas.microsoft.com/office/drawing/2014/main" id="{F25757E8-8FE5-4800-8732-2CF5DB5B373E}"/>
              </a:ext>
            </a:extLst>
          </p:cNvPr>
          <p:cNvSpPr>
            <a:spLocks xmlns:a="http://schemas.openxmlformats.org/drawingml/2006/main" noGrp="1"/>
          </p:cNvSpPr>
          <p:nvPr/>
        </p:nvSpPr>
        <p:spPr>
          <a:xfrm xmlns:a="http://schemas.openxmlformats.org/drawingml/2006/main">
            <a:off x="8334375" y="17145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Imputer sensitivity</a:t>
            </a:r>
          </a:p>
        </p:txBody>
      </p:sp>
      <p:sp>
        <p:nvSpPr>
          <p:cNvPr id="5" name="text">
            <a:extLst xmlns:a="http://schemas.openxmlformats.org/drawingml/2006/main">
              <a:ext uri="{FF2B5EF4-FFF2-40B4-BE49-F238E27FC236}">
                <a16:creationId xmlns:a16="http://schemas.microsoft.com/office/drawing/2014/main" id="{B7B1E63D-659F-4382-A618-BC1A91D19FCA}"/>
              </a:ext>
            </a:extLst>
          </p:cNvPr>
          <p:cNvSpPr>
            <a:spLocks xmlns:a="http://schemas.openxmlformats.org/drawingml/2006/main" noGrp="1"/>
          </p:cNvSpPr>
          <p:nvPr/>
        </p:nvSpPr>
        <p:spPr>
          <a:xfrm xmlns:a="http://schemas.openxmlformats.org/drawingml/2006/main">
            <a:off x="8334375" y="2428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B85647"/>
                </a:solidFill>
                <a:latin typeface="Arial"/>
                <a:ea typeface="Arial"/>
                <a:cs typeface="Arial"/>
              </a:defRPr>
            </a:defPPr>
          </a:lstStyle>
          <a:p xmlns:a="http://schemas.openxmlformats.org/drawingml/2006/main">
            <a:pPr algn="l">
              <a:defRPr sz="5400" b="1">
                <a:solidFill>
                  <a:srgbClr val="B85647"/>
                </a:solidFill>
                <a:latin typeface="Arial"/>
                <a:ea typeface="Arial"/>
                <a:cs typeface="Arial"/>
              </a:defRPr>
            </a:pPr>
            <a:r>
              <a:rPr sz="5400" b="1">
                <a:solidFill>
                  <a:srgbClr val="B85647"/>
                </a:solidFill>
                <a:latin typeface="Arial"/>
                <a:ea typeface="Arial"/>
                <a:cs typeface="Arial"/>
              </a:rPr>
              <a:t>0.538</a:t>
            </a:r>
          </a:p>
        </p:txBody>
      </p:sp>
      <p:sp>
        <p:nvSpPr>
          <p:cNvPr id="6" name="text">
            <a:extLst xmlns:a="http://schemas.openxmlformats.org/drawingml/2006/main">
              <a:ext uri="{FF2B5EF4-FFF2-40B4-BE49-F238E27FC236}">
                <a16:creationId xmlns:a16="http://schemas.microsoft.com/office/drawing/2014/main" id="{C5B67D3C-7A5A-4A8A-9CB7-59DE874B119D}"/>
              </a:ext>
            </a:extLst>
          </p:cNvPr>
          <p:cNvSpPr>
            <a:spLocks xmlns:a="http://schemas.openxmlformats.org/drawingml/2006/main" noGrp="1"/>
          </p:cNvSpPr>
          <p:nvPr/>
        </p:nvSpPr>
        <p:spPr>
          <a:xfrm xmlns:a="http://schemas.openxmlformats.org/drawingml/2006/main">
            <a:off x="8334375" y="35147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3B"/>
                </a:solidFill>
                <a:latin typeface="Arial"/>
                <a:ea typeface="Arial"/>
                <a:cs typeface="Arial"/>
              </a:defRPr>
            </a:defPPr>
          </a:lstStyle>
          <a:p xmlns:a="http://schemas.openxmlformats.org/drawingml/2006/main">
            <a:pPr algn="l">
              <a:defRPr sz="2175" b="1">
                <a:solidFill>
                  <a:srgbClr val="14323B"/>
                </a:solidFill>
                <a:latin typeface="Arial"/>
                <a:ea typeface="Arial"/>
                <a:cs typeface="Arial"/>
              </a:defRPr>
            </a:pPr>
            <a:r>
              <a:rPr sz="2175" b="1">
                <a:solidFill>
                  <a:srgbClr val="14323B"/>
                </a:solidFill>
                <a:latin typeface="Arial"/>
                <a:ea typeface="Arial"/>
                <a:cs typeface="Arial"/>
              </a:rPr>
              <a:t>KNN versus reference ARI</a:t>
            </a:r>
          </a:p>
        </p:txBody>
      </p:sp>
      <p:sp>
        <p:nvSpPr>
          <p:cNvPr id="7" name="text">
            <a:extLst xmlns:a="http://schemas.openxmlformats.org/drawingml/2006/main">
              <a:ext uri="{FF2B5EF4-FFF2-40B4-BE49-F238E27FC236}">
                <a16:creationId xmlns:a16="http://schemas.microsoft.com/office/drawing/2014/main" id="{CABD9949-D939-48B3-8F4E-2EBA09020120}"/>
              </a:ext>
            </a:extLst>
          </p:cNvPr>
          <p:cNvSpPr>
            <a:spLocks xmlns:a="http://schemas.openxmlformats.org/drawingml/2006/main" noGrp="1"/>
          </p:cNvSpPr>
          <p:nvPr/>
        </p:nvSpPr>
        <p:spPr>
          <a:xfrm xmlns:a="http://schemas.openxmlformats.org/drawingml/2006/main">
            <a:off x="8334375" y="4857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57C"/>
                </a:solidFill>
                <a:latin typeface="Arial"/>
                <a:ea typeface="Arial"/>
                <a:cs typeface="Arial"/>
              </a:defRPr>
            </a:defPPr>
          </a:lstStyle>
          <a:p xmlns:a="http://schemas.openxmlformats.org/drawingml/2006/main">
            <a:pPr algn="l">
              <a:defRPr sz="1950" b="0">
                <a:solidFill>
                  <a:srgbClr val="60757C"/>
                </a:solidFill>
                <a:latin typeface="Arial"/>
                <a:ea typeface="Arial"/>
                <a:cs typeface="Arial"/>
              </a:defRPr>
            </a:pPr>
            <a:r>
              <a:rPr sz="1950" b="0">
                <a:solidFill>
                  <a:srgbClr val="60757C"/>
                </a:solidFill>
                <a:latin typeface="Arial"/>
                <a:ea typeface="Arial"/>
                <a:cs typeface="Arial"/>
              </a:rPr>
              <a:t>Mean imputation: 0.921</a:t>
            </a:r>
          </a:p>
        </p:txBody>
      </p:sp>
      <p:sp>
        <p:nvSpPr>
          <p:cNvPr id="8" name="qualification">
            <a:extLst xmlns:a="http://schemas.openxmlformats.org/drawingml/2006/main">
              <a:ext uri="{FF2B5EF4-FFF2-40B4-BE49-F238E27FC236}">
                <a16:creationId xmlns:a16="http://schemas.microsoft.com/office/drawing/2014/main" id="{B9656D85-9BB0-4CDF-8247-2E0D9DE3B2FB}"/>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Associations are descriptive. They do not identify the cause of the group structure.</a:t>
            </a:r>
          </a:p>
        </p:txBody>
      </p:sp>
    </p:spTree>
    <p:extLst>
      <p:ext uri="{BB962C8B-B14F-4D97-AF65-F5344CB8AC3E}">
        <p14:creationId xmlns:p14="http://schemas.microsoft.com/office/powerpoint/2010/main" val="10683625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92F64C3-552B-4DC7-A815-80DB18232125}"/>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Model choice changes the recovered cluster count</a:t>
            </a:r>
          </a:p>
        </p:txBody>
      </p:sp>
      <p:sp>
        <p:nvSpPr>
          <p:cNvPr id="2" name="slide-footer">
            <a:extLst xmlns:a="http://schemas.openxmlformats.org/drawingml/2006/main">
              <a:ext uri="{FF2B5EF4-FFF2-40B4-BE49-F238E27FC236}">
                <a16:creationId xmlns:a16="http://schemas.microsoft.com/office/drawing/2014/main" id="{D24DBF21-FEF2-440A-BB43-7582532B7A59}"/>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C288291E-BC81-4BD5-93C6-43EFCEA53E50}"/>
              </a:ext>
            </a:extLst>
          </p:cNvPr>
          <p:cNvGraphicFramePr/>
          <p:nvPr/>
        </p:nvGraphicFramePr>
        <p:xfrm>
          <a:off xmlns:a="http://schemas.openxmlformats.org/drawingml/2006/main" x="609600" y="1619250"/>
          <a:ext xmlns:a="http://schemas.openxmlformats.org/drawingml/2006/main" cx="10972800" cy="3733800"/>
        </p:xfrm>
        <a:graphic xmlns:a="http://schemas.openxmlformats.org/drawingml/2006/main">
          <a:graphicData uri="http://schemas.openxmlformats.org/drawingml/2006/table">
            <a:tbl>
              <a:tblPr/>
              <a:tblGrid>
                <a:gridCol w="5905500"/>
                <a:gridCol w="1809750"/>
                <a:gridCol w="3257550"/>
              </a:tblGrid>
              <a:tr h="590550">
                <a:tc>
                  <a:txBody>
                    <a:bodyPr/>
                    <a:lstStyle/>
                    <a:p>
                      <a:r>
                        <a:rPr sz="1875" b="1">
                          <a:solidFill>
                            <a:srgbClr val="FFFFFF"/>
                          </a:solidFill>
                          <a:latin typeface="Arial"/>
                          <a:ea typeface="Arial"/>
                          <a:cs typeface="Arial"/>
                        </a:rPr>
                        <a:t>Selected model</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75" b="1">
                          <a:solidFill>
                            <a:srgbClr val="FFFFFF"/>
                          </a:solidFill>
                          <a:latin typeface="Arial"/>
                          <a:ea typeface="Arial"/>
                          <a:cs typeface="Arial"/>
                        </a:rPr>
                        <a:t>Groups</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75" b="1">
                          <a:solidFill>
                            <a:srgbClr val="FFFFFF"/>
                          </a:solidFill>
                          <a:latin typeface="Arial"/>
                          <a:ea typeface="Arial"/>
                          <a:cs typeface="Arial"/>
                        </a:rPr>
                        <a:t>Validation silhouette</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628650">
                <a:tc>
                  <a:txBody>
                    <a:bodyPr/>
                    <a:lstStyle/>
                    <a:p>
                      <a:r>
                        <a:rPr sz="1875">
                          <a:solidFill>
                            <a:srgbClr val="14323B"/>
                          </a:solidFill>
                          <a:latin typeface="Arial"/>
                          <a:ea typeface="Arial"/>
                          <a:cs typeface="Arial"/>
                        </a:rPr>
                        <a:t>K-means</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2</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0.649</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628650">
                <a:tc>
                  <a:txBody>
                    <a:bodyPr/>
                    <a:lstStyle/>
                    <a:p>
                      <a:r>
                        <a:rPr sz="1875">
                          <a:solidFill>
                            <a:srgbClr val="14323B"/>
                          </a:solidFill>
                          <a:latin typeface="Arial"/>
                          <a:ea typeface="Arial"/>
                          <a:cs typeface="Arial"/>
                        </a:rPr>
                        <a:t>Sampled PAM</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2</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0.540</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628650">
                <a:tc>
                  <a:txBody>
                    <a:bodyPr/>
                    <a:lstStyle/>
                    <a:p>
                      <a:r>
                        <a:rPr sz="1875">
                          <a:solidFill>
                            <a:srgbClr val="14323B"/>
                          </a:solidFill>
                          <a:latin typeface="Arial"/>
                          <a:ea typeface="Arial"/>
                          <a:cs typeface="Arial"/>
                        </a:rPr>
                        <a:t>Tied Gaussian mixture</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5</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0.535</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628650">
                <a:tc>
                  <a:txBody>
                    <a:bodyPr/>
                    <a:lstStyle/>
                    <a:p>
                      <a:r>
                        <a:rPr sz="1875">
                          <a:solidFill>
                            <a:srgbClr val="14323B"/>
                          </a:solidFill>
                          <a:latin typeface="Arial"/>
                          <a:ea typeface="Arial"/>
                          <a:cs typeface="Arial"/>
                        </a:rPr>
                        <a:t>Full Gaussian mixture</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8</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0.118</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628650">
                <a:tc>
                  <a:txBody>
                    <a:bodyPr/>
                    <a:lstStyle/>
                    <a:p>
                      <a:r>
                        <a:rPr sz="1875">
                          <a:solidFill>
                            <a:srgbClr val="14323B"/>
                          </a:solidFill>
                          <a:latin typeface="Arial"/>
                          <a:ea typeface="Arial"/>
                          <a:cs typeface="Arial"/>
                        </a:rPr>
                        <a:t>UMAP + HDBSCAN</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2</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0.400</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bl>
          </a:graphicData>
        </a:graphic>
      </p:graphicFrame>
      <p:sp>
        <p:nvSpPr>
          <p:cNvPr id="4" name="qualification">
            <a:extLst xmlns:a="http://schemas.openxmlformats.org/drawingml/2006/main">
              <a:ext uri="{FF2B5EF4-FFF2-40B4-BE49-F238E27FC236}">
                <a16:creationId xmlns:a16="http://schemas.microsoft.com/office/drawing/2014/main" id="{FAE235E6-412F-4230-91DB-A0D67CB36EA1}"/>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All rows use robust-domain silhouette and 100% validation coverage. Selection criteria differ.</a:t>
            </a:r>
          </a:p>
        </p:txBody>
      </p:sp>
    </p:spTree>
    <p:extLst>
      <p:ext uri="{BB962C8B-B14F-4D97-AF65-F5344CB8AC3E}">
        <p14:creationId xmlns:p14="http://schemas.microsoft.com/office/powerpoint/2010/main" val="13625167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7FFE4C9-7215-4A80-A5FD-369CC8782543}"/>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Alternative models leave subgroup counts unresolved</a:t>
            </a:r>
          </a:p>
        </p:txBody>
      </p:sp>
      <p:sp>
        <p:nvSpPr>
          <p:cNvPr id="2" name="slide-footer">
            <a:extLst xmlns:a="http://schemas.openxmlformats.org/drawingml/2006/main">
              <a:ext uri="{FF2B5EF4-FFF2-40B4-BE49-F238E27FC236}">
                <a16:creationId xmlns:a16="http://schemas.microsoft.com/office/drawing/2014/main" id="{456E64EC-FE58-4793-A9E9-DA0E4A7689EA}"/>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F32E63B5-CC40-4CD1-A586-47333AF0062E}"/>
              </a:ext>
            </a:extLst>
          </p:cNvPr>
          <p:cNvGraphicFramePr/>
          <p:nvPr/>
        </p:nvGraphicFramePr>
        <p:xfrm>
          <a:off xmlns:a="http://schemas.openxmlformats.org/drawingml/2006/main" x="609600" y="1809750"/>
          <a:ext xmlns:a="http://schemas.openxmlformats.org/drawingml/2006/main" cx="10972800" cy="3143250"/>
        </p:xfrm>
        <a:graphic xmlns:a="http://schemas.openxmlformats.org/drawingml/2006/main">
          <a:graphicData uri="http://schemas.openxmlformats.org/drawingml/2006/table">
            <a:tbl>
              <a:tblPr/>
              <a:tblGrid>
                <a:gridCol w="3333750"/>
                <a:gridCol w="4095750"/>
                <a:gridCol w="3543300"/>
              </a:tblGrid>
              <a:tr h="609600">
                <a:tc>
                  <a:txBody>
                    <a:bodyPr/>
                    <a:lstStyle/>
                    <a:p>
                      <a:r>
                        <a:rPr sz="1950" b="1">
                          <a:solidFill>
                            <a:srgbClr val="FFFFFF"/>
                          </a:solidFill>
                          <a:latin typeface="Arial"/>
                          <a:ea typeface="Arial"/>
                          <a:cs typeface="Arial"/>
                        </a:rPr>
                        <a:t>Analysis</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950" b="1">
                          <a:solidFill>
                            <a:srgbClr val="FFFFFF"/>
                          </a:solidFill>
                          <a:latin typeface="Arial"/>
                          <a:ea typeface="Arial"/>
                          <a:cs typeface="Arial"/>
                        </a:rPr>
                        <a:t>Observed result</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950" b="1">
                          <a:solidFill>
                            <a:srgbClr val="FFFFFF"/>
                          </a:solidFill>
                          <a:latin typeface="Arial"/>
                          <a:ea typeface="Arial"/>
                          <a:cs typeface="Arial"/>
                        </a:rPr>
                        <a:t>Interpretation</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1266825">
                <a:tc>
                  <a:txBody>
                    <a:bodyPr/>
                    <a:lstStyle/>
                    <a:p>
                      <a:r>
                        <a:rPr sz="1950">
                          <a:solidFill>
                            <a:srgbClr val="14323B"/>
                          </a:solidFill>
                          <a:latin typeface="Arial"/>
                          <a:ea typeface="Arial"/>
                          <a:cs typeface="Arial"/>
                        </a:rPr>
                        <a:t>14 incomplete tests</a:t>
                      </a:r>
                    </a:p>
                    <a:p>
                      <a:r>
                        <a:rPr sz="1950">
                          <a:solidFill>
                            <a:srgbClr val="14323B"/>
                          </a:solidFill>
                          <a:latin typeface="Arial"/>
                          <a:ea typeface="Arial"/>
                          <a:cs typeface="Arial"/>
                        </a:rPr>
                        <a:t>Observed-data mixtures</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950">
                          <a:solidFill>
                            <a:srgbClr val="14323B"/>
                          </a:solidFill>
                          <a:latin typeface="Arial"/>
                          <a:ea typeface="Arial"/>
                          <a:cs typeface="Arial"/>
                        </a:rPr>
                        <a:t>Best restricted family: t, df=4</a:t>
                      </a:r>
                    </a:p>
                    <a:p>
                      <a:r>
                        <a:rPr sz="1950">
                          <a:solidFill>
                            <a:srgbClr val="14323B"/>
                          </a:solidFill>
                          <a:latin typeface="Arial"/>
                          <a:ea typeface="Arial"/>
                          <a:cs typeface="Arial"/>
                        </a:rPr>
                        <a:t>8 components at the search limit</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950">
                          <a:solidFill>
                            <a:srgbClr val="14323B"/>
                          </a:solidFill>
                          <a:latin typeface="Arial"/>
                          <a:ea typeface="Arial"/>
                          <a:cs typeface="Arial"/>
                        </a:rPr>
                        <a:t>Component count remains unresolved</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1266825">
                <a:tc>
                  <a:txBody>
                    <a:bodyPr/>
                    <a:lstStyle/>
                    <a:p>
                      <a:r>
                        <a:rPr sz="1950">
                          <a:solidFill>
                            <a:srgbClr val="14323B"/>
                          </a:solidFill>
                          <a:latin typeface="Arial"/>
                          <a:ea typeface="Arial"/>
                          <a:cs typeface="Arial"/>
                        </a:rPr>
                        <a:t>2,013 longitudinal patients</a:t>
                      </a:r>
                    </a:p>
                    <a:p>
                      <a:r>
                        <a:rPr sz="1950">
                          <a:solidFill>
                            <a:srgbClr val="14323B"/>
                          </a:solidFill>
                          <a:latin typeface="Arial"/>
                          <a:ea typeface="Arial"/>
                          <a:cs typeface="Arial"/>
                        </a:rPr>
                        <a:t>Linear trajectory mixtures</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950">
                          <a:solidFill>
                            <a:srgbClr val="14323B"/>
                          </a:solidFill>
                          <a:latin typeface="Arial"/>
                          <a:ea typeface="Arial"/>
                          <a:cs typeface="Arial"/>
                        </a:rPr>
                        <a:t>Every multiclass fit contains</a:t>
                      </a:r>
                    </a:p>
                    <a:p>
                      <a:r>
                        <a:rPr sz="1950">
                          <a:solidFill>
                            <a:srgbClr val="14323B"/>
                          </a:solidFill>
                          <a:latin typeface="Arial"/>
                          <a:ea typeface="Arial"/>
                          <a:cs typeface="Arial"/>
                        </a:rPr>
                        <a:t>a class below 5%</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950">
                          <a:solidFill>
                            <a:srgbClr val="14323B"/>
                          </a:solidFill>
                          <a:latin typeface="Arial"/>
                          <a:ea typeface="Arial"/>
                          <a:cs typeface="Arial"/>
                        </a:rPr>
                        <a:t>One class meets the size rule</a:t>
                      </a:r>
                    </a:p>
                    <a:p>
                      <a:r>
                        <a:rPr sz="1950">
                          <a:solidFill>
                            <a:srgbClr val="14323B"/>
                          </a:solidFill>
                          <a:latin typeface="Arial"/>
                          <a:ea typeface="Arial"/>
                          <a:cs typeface="Arial"/>
                        </a:rPr>
                        <a:t>Recovery need not be uniform</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bl>
          </a:graphicData>
        </a:graphic>
      </p:graphicFrame>
      <p:sp>
        <p:nvSpPr>
          <p:cNvPr id="4" name="qualification">
            <a:extLst xmlns:a="http://schemas.openxmlformats.org/drawingml/2006/main">
              <a:ext uri="{FF2B5EF4-FFF2-40B4-BE49-F238E27FC236}">
                <a16:creationId xmlns:a16="http://schemas.microsoft.com/office/drawing/2014/main" id="{88446CC5-16DC-4F4B-8268-F65E51A78C06}"/>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Distributional fit and membership repeatability do not establish clinical utility.</a:t>
            </a:r>
          </a:p>
        </p:txBody>
      </p:sp>
    </p:spTree>
    <p:extLst>
      <p:ext uri="{BB962C8B-B14F-4D97-AF65-F5344CB8AC3E}">
        <p14:creationId xmlns:p14="http://schemas.microsoft.com/office/powerpoint/2010/main" val="189673017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AA09DC6-5448-4F70-BBC5-5EBE577B94F9}"/>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CogDash makes the findings explorable</a:t>
            </a:r>
          </a:p>
        </p:txBody>
      </p:sp>
      <p:sp>
        <p:nvSpPr>
          <p:cNvPr id="2" name="slide-footer">
            <a:extLst xmlns:a="http://schemas.openxmlformats.org/drawingml/2006/main">
              <a:ext uri="{FF2B5EF4-FFF2-40B4-BE49-F238E27FC236}">
                <a16:creationId xmlns:a16="http://schemas.microsoft.com/office/drawing/2014/main" id="{A2DB11D9-6621-4CBC-9B2B-7662BFAF3E18}"/>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DB1F6A33-B487-4A34-8271-0D5A42AE4AEB}"/>
              </a:ext>
            </a:extLst>
          </p:cNvPr>
          <p:cNvPicPr>
            <a:picLocks xmlns:a="http://schemas.openxmlformats.org/drawingml/2006/main" noChangeAspect="1"/>
          </p:cNvPicPr>
          <p:nvPr/>
        </p:nvPicPr>
        <p:blipFill>
          <a:blip xmlns:r="http://schemas.openxmlformats.org/officeDocument/2006/relationships" xmlns:a="http://schemas.openxmlformats.org/drawingml/2006/main" r:embed="Rb82c8b2ced8e4149"/>
          <a:stretch xmlns:a="http://schemas.openxmlformats.org/drawingml/2006/main"/>
        </p:blipFill>
        <p:spPr>
          <a:xfrm xmlns:a="http://schemas.openxmlformats.org/drawingml/2006/main">
            <a:off x="611717" y="1562100"/>
            <a:ext cx="8568267" cy="48196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B18788D3-DA6C-4B6C-B303-B3AEA3FFFA54}"/>
              </a:ext>
            </a:extLst>
          </p:cNvPr>
          <p:cNvSpPr>
            <a:spLocks xmlns:a="http://schemas.openxmlformats.org/drawingml/2006/main" noGrp="1"/>
          </p:cNvSpPr>
          <p:nvPr/>
        </p:nvSpPr>
        <p:spPr>
          <a:xfrm xmlns:a="http://schemas.openxmlformats.org/drawingml/2006/main">
            <a:off x="9429750" y="2171700"/>
            <a:ext cx="2143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C"/>
                </a:solidFill>
                <a:latin typeface="Arial"/>
                <a:ea typeface="Arial"/>
                <a:cs typeface="Arial"/>
              </a:defRPr>
            </a:defPPr>
          </a:lstStyle>
          <a:p xmlns:a="http://schemas.openxmlformats.org/drawingml/2006/main">
            <a:pPr algn="l">
              <a:defRPr sz="2250" b="1">
                <a:solidFill>
                  <a:srgbClr val="087F8C"/>
                </a:solidFill>
                <a:latin typeface="Arial"/>
                <a:ea typeface="Arial"/>
                <a:cs typeface="Arial"/>
              </a:defRPr>
            </a:pPr>
            <a:r>
              <a:rPr sz="2250" b="1">
                <a:solidFill>
                  <a:srgbClr val="087F8C"/>
                </a:solidFill>
                <a:latin typeface="Arial"/>
                <a:ea typeface="Arial"/>
                <a:cs typeface="Arial"/>
              </a:rPr>
              <a:t>Research exploration</a:t>
            </a:r>
          </a:p>
        </p:txBody>
      </p:sp>
      <p:sp>
        <p:nvSpPr>
          <p:cNvPr id="5" name="text">
            <a:extLst xmlns:a="http://schemas.openxmlformats.org/drawingml/2006/main">
              <a:ext uri="{FF2B5EF4-FFF2-40B4-BE49-F238E27FC236}">
                <a16:creationId xmlns:a16="http://schemas.microsoft.com/office/drawing/2014/main" id="{2CD6A052-0687-4BEA-A91B-27603FA0DAAF}"/>
              </a:ext>
            </a:extLst>
          </p:cNvPr>
          <p:cNvSpPr>
            <a:spLocks xmlns:a="http://schemas.openxmlformats.org/drawingml/2006/main" noGrp="1"/>
          </p:cNvSpPr>
          <p:nvPr/>
        </p:nvSpPr>
        <p:spPr>
          <a:xfrm xmlns:a="http://schemas.openxmlformats.org/drawingml/2006/main">
            <a:off x="9429750" y="3524250"/>
            <a:ext cx="21431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3B"/>
                </a:solidFill>
                <a:latin typeface="Arial"/>
                <a:ea typeface="Arial"/>
                <a:cs typeface="Arial"/>
              </a:defRPr>
            </a:defPPr>
          </a:lstStyle>
          <a:p xmlns:a="http://schemas.openxmlformats.org/drawingml/2006/main">
            <a:pPr algn="l">
              <a:defRPr sz="1875" b="0">
                <a:solidFill>
                  <a:srgbClr val="14323B"/>
                </a:solidFill>
                <a:latin typeface="Arial"/>
                <a:ea typeface="Arial"/>
                <a:cs typeface="Arial"/>
              </a:defRPr>
            </a:pPr>
            <a:r>
              <a:rPr sz="1875" b="0">
                <a:solidFill>
                  <a:srgbClr val="14323B"/>
                </a:solidFill>
                <a:latin typeface="Arial"/>
                <a:ea typeface="Arial"/>
                <a:cs typeface="Arial"/>
              </a:rPr>
              <a:t>Saved-model distances</a:t>
            </a:r>
          </a:p>
          <a:p xmlns:a="http://schemas.openxmlformats.org/drawingml/2006/main">
            <a:r>
              <a:t/>
            </a:r>
          </a:p>
          <a:p xmlns:a="http://schemas.openxmlformats.org/drawingml/2006/main">
            <a:pPr algn="l">
              <a:defRPr sz="1875" b="0">
                <a:solidFill>
                  <a:srgbClr val="14323B"/>
                </a:solidFill>
                <a:latin typeface="Arial"/>
                <a:ea typeface="Arial"/>
                <a:cs typeface="Arial"/>
              </a:defRPr>
            </a:pPr>
            <a:r>
              <a:rPr sz="1875" b="0">
                <a:solidFill>
                  <a:srgbClr val="14323B"/>
                </a:solidFill>
                <a:latin typeface="Arial"/>
                <a:ea typeface="Arial"/>
                <a:cs typeface="Arial"/>
              </a:rPr>
              <a:t>Clinical utility remains untested</a:t>
            </a:r>
          </a:p>
        </p:txBody>
      </p:sp>
    </p:spTree>
    <p:extLst>
      <p:ext uri="{BB962C8B-B14F-4D97-AF65-F5344CB8AC3E}">
        <p14:creationId xmlns:p14="http://schemas.microsoft.com/office/powerpoint/2010/main" val="12774875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0666D69-62C6-446D-8C17-C5E0E952CAF7}"/>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Limits that affect the interpretation</a:t>
            </a:r>
          </a:p>
        </p:txBody>
      </p:sp>
      <p:sp>
        <p:nvSpPr>
          <p:cNvPr id="2" name="slide-footer">
            <a:extLst xmlns:a="http://schemas.openxmlformats.org/drawingml/2006/main">
              <a:ext uri="{FF2B5EF4-FFF2-40B4-BE49-F238E27FC236}">
                <a16:creationId xmlns:a16="http://schemas.microsoft.com/office/drawing/2014/main" id="{87679992-DB45-4392-8C53-B954A5184E5C}"/>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15</a:t>
            </a:r>
          </a:p>
        </p:txBody>
      </p:sp>
      <p:sp>
        <p:nvSpPr>
          <p:cNvPr id="3" name="text">
            <a:extLst xmlns:a="http://schemas.openxmlformats.org/drawingml/2006/main">
              <a:ext uri="{FF2B5EF4-FFF2-40B4-BE49-F238E27FC236}">
                <a16:creationId xmlns:a16="http://schemas.microsoft.com/office/drawing/2014/main" id="{D5467576-2955-4878-927F-5220980634B0}"/>
              </a:ext>
            </a:extLst>
          </p:cNvPr>
          <p:cNvSpPr>
            <a:spLocks xmlns:a="http://schemas.openxmlformats.org/drawingml/2006/main" noGrp="1"/>
          </p:cNvSpPr>
          <p:nvPr/>
        </p:nvSpPr>
        <p:spPr>
          <a:xfrm xmlns:a="http://schemas.openxmlformats.org/drawingml/2006/main">
            <a:off x="609600" y="17335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External validity</a:t>
            </a:r>
          </a:p>
        </p:txBody>
      </p:sp>
      <p:sp>
        <p:nvSpPr>
          <p:cNvPr id="4" name="text">
            <a:extLst xmlns:a="http://schemas.openxmlformats.org/drawingml/2006/main">
              <a:ext uri="{FF2B5EF4-FFF2-40B4-BE49-F238E27FC236}">
                <a16:creationId xmlns:a16="http://schemas.microsoft.com/office/drawing/2014/main" id="{9F62EE16-0D1E-4934-9F29-7D6920E9ECAE}"/>
              </a:ext>
            </a:extLst>
          </p:cNvPr>
          <p:cNvSpPr>
            <a:spLocks xmlns:a="http://schemas.openxmlformats.org/drawingml/2006/main" noGrp="1"/>
          </p:cNvSpPr>
          <p:nvPr/>
        </p:nvSpPr>
        <p:spPr>
          <a:xfrm xmlns:a="http://schemas.openxmlformats.org/drawingml/2006/main">
            <a:off x="3857625" y="1733550"/>
            <a:ext cx="771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323B"/>
                </a:solidFill>
                <a:latin typeface="Arial"/>
                <a:ea typeface="Arial"/>
                <a:cs typeface="Arial"/>
              </a:defRPr>
            </a:defPPr>
          </a:lstStyle>
          <a:p xmlns:a="http://schemas.openxmlformats.org/drawingml/2006/main">
            <a:pPr algn="l">
              <a:defRPr sz="2175" b="0">
                <a:solidFill>
                  <a:srgbClr val="14323B"/>
                </a:solidFill>
                <a:latin typeface="Arial"/>
                <a:ea typeface="Arial"/>
                <a:cs typeface="Arial"/>
              </a:defRPr>
            </a:pPr>
            <a:r>
              <a:rPr sz="2175" b="0">
                <a:solidFill>
                  <a:srgbClr val="14323B"/>
                </a:solidFill>
                <a:latin typeface="Arial"/>
                <a:ea typeface="Arial"/>
                <a:cs typeface="Arial"/>
              </a:rPr>
              <a:t>Single-centre cohort and no independent functional outcome</a:t>
            </a:r>
          </a:p>
        </p:txBody>
      </p:sp>
      <p:sp>
        <p:nvSpPr>
          <p:cNvPr id="5" name="text">
            <a:extLst xmlns:a="http://schemas.openxmlformats.org/drawingml/2006/main">
              <a:ext uri="{FF2B5EF4-FFF2-40B4-BE49-F238E27FC236}">
                <a16:creationId xmlns:a16="http://schemas.microsoft.com/office/drawing/2014/main" id="{A1651022-8805-4C74-962F-0571DB31974B}"/>
              </a:ext>
            </a:extLst>
          </p:cNvPr>
          <p:cNvSpPr>
            <a:spLocks xmlns:a="http://schemas.openxmlformats.org/drawingml/2006/main" noGrp="1"/>
          </p:cNvSpPr>
          <p:nvPr/>
        </p:nvSpPr>
        <p:spPr>
          <a:xfrm xmlns:a="http://schemas.openxmlformats.org/drawingml/2006/main">
            <a:off x="609600" y="27336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Representation</a:t>
            </a:r>
          </a:p>
        </p:txBody>
      </p:sp>
      <p:sp>
        <p:nvSpPr>
          <p:cNvPr id="6" name="text">
            <a:extLst xmlns:a="http://schemas.openxmlformats.org/drawingml/2006/main">
              <a:ext uri="{FF2B5EF4-FFF2-40B4-BE49-F238E27FC236}">
                <a16:creationId xmlns:a16="http://schemas.microsoft.com/office/drawing/2014/main" id="{70E71AF3-E3F0-41A8-B95E-B0089B9F3D1F}"/>
              </a:ext>
            </a:extLst>
          </p:cNvPr>
          <p:cNvSpPr>
            <a:spLocks xmlns:a="http://schemas.openxmlformats.org/drawingml/2006/main" noGrp="1"/>
          </p:cNvSpPr>
          <p:nvPr/>
        </p:nvSpPr>
        <p:spPr>
          <a:xfrm xmlns:a="http://schemas.openxmlformats.org/drawingml/2006/main">
            <a:off x="3857625" y="2733675"/>
            <a:ext cx="771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323B"/>
                </a:solidFill>
                <a:latin typeface="Arial"/>
                <a:ea typeface="Arial"/>
                <a:cs typeface="Arial"/>
              </a:defRPr>
            </a:defPPr>
          </a:lstStyle>
          <a:p xmlns:a="http://schemas.openxmlformats.org/drawingml/2006/main">
            <a:pPr algn="l">
              <a:defRPr sz="2175" b="0">
                <a:solidFill>
                  <a:srgbClr val="14323B"/>
                </a:solidFill>
                <a:latin typeface="Arial"/>
                <a:ea typeface="Arial"/>
                <a:cs typeface="Arial"/>
              </a:defRPr>
            </a:pPr>
            <a:r>
              <a:rPr sz="2175" b="0">
                <a:solidFill>
                  <a:srgbClr val="14323B"/>
                </a:solidFill>
                <a:latin typeface="Arial"/>
                <a:ea typeface="Arial"/>
                <a:cs typeface="Arial"/>
              </a:rPr>
              <a:t>Inherited feature selection and exploratory domain weighting</a:t>
            </a:r>
          </a:p>
        </p:txBody>
      </p:sp>
      <p:sp>
        <p:nvSpPr>
          <p:cNvPr id="7" name="text">
            <a:extLst xmlns:a="http://schemas.openxmlformats.org/drawingml/2006/main">
              <a:ext uri="{FF2B5EF4-FFF2-40B4-BE49-F238E27FC236}">
                <a16:creationId xmlns:a16="http://schemas.microsoft.com/office/drawing/2014/main" id="{4F586A05-5162-4A88-8E63-9415201BA3CD}"/>
              </a:ext>
            </a:extLst>
          </p:cNvPr>
          <p:cNvSpPr>
            <a:spLocks xmlns:a="http://schemas.openxmlformats.org/drawingml/2006/main" noGrp="1"/>
          </p:cNvSpPr>
          <p:nvPr/>
        </p:nvSpPr>
        <p:spPr>
          <a:xfrm xmlns:a="http://schemas.openxmlformats.org/drawingml/2006/main">
            <a:off x="609600" y="37338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Missingness</a:t>
            </a:r>
          </a:p>
        </p:txBody>
      </p:sp>
      <p:sp>
        <p:nvSpPr>
          <p:cNvPr id="8" name="text">
            <a:extLst xmlns:a="http://schemas.openxmlformats.org/drawingml/2006/main">
              <a:ext uri="{FF2B5EF4-FFF2-40B4-BE49-F238E27FC236}">
                <a16:creationId xmlns:a16="http://schemas.microsoft.com/office/drawing/2014/main" id="{D5573099-3728-4511-8F15-D7986195F5D4}"/>
              </a:ext>
            </a:extLst>
          </p:cNvPr>
          <p:cNvSpPr>
            <a:spLocks xmlns:a="http://schemas.openxmlformats.org/drawingml/2006/main" noGrp="1"/>
          </p:cNvSpPr>
          <p:nvPr/>
        </p:nvSpPr>
        <p:spPr>
          <a:xfrm xmlns:a="http://schemas.openxmlformats.org/drawingml/2006/main">
            <a:off x="3857625" y="3733800"/>
            <a:ext cx="771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323B"/>
                </a:solidFill>
                <a:latin typeface="Arial"/>
                <a:ea typeface="Arial"/>
                <a:cs typeface="Arial"/>
              </a:defRPr>
            </a:defPPr>
          </a:lstStyle>
          <a:p xmlns:a="http://schemas.openxmlformats.org/drawingml/2006/main">
            <a:pPr algn="l">
              <a:defRPr sz="2175" b="0">
                <a:solidFill>
                  <a:srgbClr val="14323B"/>
                </a:solidFill>
                <a:latin typeface="Arial"/>
                <a:ea typeface="Arial"/>
                <a:cs typeface="Arial"/>
              </a:defRPr>
            </a:pPr>
            <a:r>
              <a:rPr sz="2175" b="0">
                <a:solidFill>
                  <a:srgbClr val="14323B"/>
                </a:solidFill>
                <a:latin typeface="Arial"/>
                <a:ea typeface="Arial"/>
                <a:cs typeface="Arial"/>
              </a:rPr>
              <a:t>Agreement under an imputer does not resolve MNAR</a:t>
            </a:r>
          </a:p>
        </p:txBody>
      </p:sp>
      <p:sp>
        <p:nvSpPr>
          <p:cNvPr id="9" name="text">
            <a:extLst xmlns:a="http://schemas.openxmlformats.org/drawingml/2006/main">
              <a:ext uri="{FF2B5EF4-FFF2-40B4-BE49-F238E27FC236}">
                <a16:creationId xmlns:a16="http://schemas.microsoft.com/office/drawing/2014/main" id="{490F790A-9841-4B73-9AD1-3F4E4A7F05B7}"/>
              </a:ext>
            </a:extLst>
          </p:cNvPr>
          <p:cNvSpPr>
            <a:spLocks xmlns:a="http://schemas.openxmlformats.org/drawingml/2006/main" noGrp="1"/>
          </p:cNvSpPr>
          <p:nvPr/>
        </p:nvSpPr>
        <p:spPr>
          <a:xfrm xmlns:a="http://schemas.openxmlformats.org/drawingml/2006/main">
            <a:off x="609600" y="47339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Model scope</a:t>
            </a:r>
          </a:p>
        </p:txBody>
      </p:sp>
      <p:sp>
        <p:nvSpPr>
          <p:cNvPr id="10" name="text">
            <a:extLst xmlns:a="http://schemas.openxmlformats.org/drawingml/2006/main">
              <a:ext uri="{FF2B5EF4-FFF2-40B4-BE49-F238E27FC236}">
                <a16:creationId xmlns:a16="http://schemas.microsoft.com/office/drawing/2014/main" id="{C9D9CC80-6D57-4BF8-8B94-D33F3A1EB4FC}"/>
              </a:ext>
            </a:extLst>
          </p:cNvPr>
          <p:cNvSpPr>
            <a:spLocks xmlns:a="http://schemas.openxmlformats.org/drawingml/2006/main" noGrp="1"/>
          </p:cNvSpPr>
          <p:nvPr/>
        </p:nvSpPr>
        <p:spPr>
          <a:xfrm xmlns:a="http://schemas.openxmlformats.org/drawingml/2006/main">
            <a:off x="3857625" y="4733925"/>
            <a:ext cx="771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323B"/>
                </a:solidFill>
                <a:latin typeface="Arial"/>
                <a:ea typeface="Arial"/>
                <a:cs typeface="Arial"/>
              </a:defRPr>
            </a:defPPr>
          </a:lstStyle>
          <a:p xmlns:a="http://schemas.openxmlformats.org/drawingml/2006/main">
            <a:pPr algn="l">
              <a:defRPr sz="2175" b="0">
                <a:solidFill>
                  <a:srgbClr val="14323B"/>
                </a:solidFill>
                <a:latin typeface="Arial"/>
                <a:ea typeface="Arial"/>
                <a:cs typeface="Arial"/>
              </a:defRPr>
            </a:pPr>
            <a:r>
              <a:rPr sz="2175" b="0">
                <a:solidFill>
                  <a:srgbClr val="14323B"/>
                </a:solidFill>
                <a:latin typeface="Arial"/>
                <a:ea typeface="Arial"/>
                <a:cs typeface="Arial"/>
              </a:rPr>
              <a:t>Restricted mixture families and linear trajectory assumptions</a:t>
            </a:r>
          </a:p>
        </p:txBody>
      </p:sp>
    </p:spTree>
    <p:extLst>
      <p:ext uri="{BB962C8B-B14F-4D97-AF65-F5344CB8AC3E}">
        <p14:creationId xmlns:p14="http://schemas.microsoft.com/office/powerpoint/2010/main" val="13393576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76EAF88-1251-4002-92BB-2002C42E50A3}"/>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Contribution and next validation step</a:t>
            </a:r>
          </a:p>
        </p:txBody>
      </p:sp>
      <p:sp>
        <p:nvSpPr>
          <p:cNvPr id="2" name="slide-footer">
            <a:extLst xmlns:a="http://schemas.openxmlformats.org/drawingml/2006/main">
              <a:ext uri="{FF2B5EF4-FFF2-40B4-BE49-F238E27FC236}">
                <a16:creationId xmlns:a16="http://schemas.microsoft.com/office/drawing/2014/main" id="{D153AAF3-4BA5-4265-A933-D592B8E97095}"/>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16</a:t>
            </a:r>
          </a:p>
        </p:txBody>
      </p:sp>
      <p:sp>
        <p:nvSpPr>
          <p:cNvPr id="3" name="section-label">
            <a:extLst xmlns:a="http://schemas.openxmlformats.org/drawingml/2006/main">
              <a:ext uri="{FF2B5EF4-FFF2-40B4-BE49-F238E27FC236}">
                <a16:creationId xmlns:a16="http://schemas.microsoft.com/office/drawing/2014/main" id="{A078DCD7-2DBD-4C87-8B6E-1A78C2EA56E9}"/>
              </a:ext>
            </a:extLst>
          </p:cNvPr>
          <p:cNvSpPr>
            <a:spLocks xmlns:a="http://schemas.openxmlformats.org/drawingml/2006/main" noGrp="1"/>
          </p:cNvSpPr>
          <p:nvPr/>
        </p:nvSpPr>
        <p:spPr>
          <a:xfrm xmlns:a="http://schemas.openxmlformats.org/drawingml/2006/main">
            <a:off x="609600" y="18097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Contribution</a:t>
            </a:r>
          </a:p>
        </p:txBody>
      </p:sp>
      <p:sp>
        <p:nvSpPr>
          <p:cNvPr id="4" name="text">
            <a:extLst xmlns:a="http://schemas.openxmlformats.org/drawingml/2006/main">
              <a:ext uri="{FF2B5EF4-FFF2-40B4-BE49-F238E27FC236}">
                <a16:creationId xmlns:a16="http://schemas.microsoft.com/office/drawing/2014/main" id="{14359FE0-F763-4A5F-A3C6-65CCD8CA5825}"/>
              </a:ext>
            </a:extLst>
          </p:cNvPr>
          <p:cNvSpPr>
            <a:spLocks xmlns:a="http://schemas.openxmlformats.org/drawingml/2006/main" noGrp="1"/>
          </p:cNvSpPr>
          <p:nvPr/>
        </p:nvSpPr>
        <p:spPr>
          <a:xfrm xmlns:a="http://schemas.openxmlformats.org/drawingml/2006/main">
            <a:off x="609600" y="2381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14323B"/>
                </a:solidFill>
                <a:latin typeface="Arial"/>
                <a:ea typeface="Arial"/>
                <a:cs typeface="Arial"/>
              </a:defRPr>
            </a:defPPr>
          </a:lstStyle>
          <a:p xmlns:a="http://schemas.openxmlformats.org/drawingml/2006/main">
            <a:pPr algn="l">
              <a:defRPr sz="3075" b="1">
                <a:solidFill>
                  <a:srgbClr val="14323B"/>
                </a:solidFill>
                <a:latin typeface="Arial"/>
                <a:ea typeface="Arial"/>
                <a:cs typeface="Arial"/>
              </a:defRPr>
            </a:pPr>
            <a:r>
              <a:rPr sz="3075" b="1">
                <a:solidFill>
                  <a:srgbClr val="14323B"/>
                </a:solidFill>
                <a:latin typeface="Arial"/>
                <a:ea typeface="Arial"/>
                <a:cs typeface="Arial"/>
              </a:rPr>
              <a:t>A reproducible analysis of score groups</a:t>
            </a:r>
          </a:p>
          <a:p xmlns:a="http://schemas.openxmlformats.org/drawingml/2006/main">
            <a:pPr algn="l">
              <a:defRPr sz="3075" b="1">
                <a:solidFill>
                  <a:srgbClr val="14323B"/>
                </a:solidFill>
                <a:latin typeface="Arial"/>
                <a:ea typeface="Arial"/>
                <a:cs typeface="Arial"/>
              </a:defRPr>
            </a:pPr>
            <a:r>
              <a:rPr sz="3075" b="1">
                <a:solidFill>
                  <a:srgbClr val="14323B"/>
                </a:solidFill>
                <a:latin typeface="Arial"/>
                <a:ea typeface="Arial"/>
                <a:cs typeface="Arial"/>
              </a:rPr>
              <a:t>and the choices that change them</a:t>
            </a:r>
          </a:p>
        </p:txBody>
      </p:sp>
      <p:sp>
        <p:nvSpPr>
          <p:cNvPr id="5" name="section-label">
            <a:extLst xmlns:a="http://schemas.openxmlformats.org/drawingml/2006/main">
              <a:ext uri="{FF2B5EF4-FFF2-40B4-BE49-F238E27FC236}">
                <a16:creationId xmlns:a16="http://schemas.microsoft.com/office/drawing/2014/main" id="{C4F16E71-9443-4FFE-B355-8BA4A4DA5D7C}"/>
              </a:ext>
            </a:extLst>
          </p:cNvPr>
          <p:cNvSpPr>
            <a:spLocks xmlns:a="http://schemas.openxmlformats.org/drawingml/2006/main" noGrp="1"/>
          </p:cNvSpPr>
          <p:nvPr/>
        </p:nvSpPr>
        <p:spPr>
          <a:xfrm xmlns:a="http://schemas.openxmlformats.org/drawingml/2006/main">
            <a:off x="609600" y="41910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Next empirical test</a:t>
            </a:r>
          </a:p>
        </p:txBody>
      </p:sp>
      <p:sp>
        <p:nvSpPr>
          <p:cNvPr id="6" name="text">
            <a:extLst xmlns:a="http://schemas.openxmlformats.org/drawingml/2006/main">
              <a:ext uri="{FF2B5EF4-FFF2-40B4-BE49-F238E27FC236}">
                <a16:creationId xmlns:a16="http://schemas.microsoft.com/office/drawing/2014/main" id="{129C3B1B-F75F-4863-9320-A7825AF30A9C}"/>
              </a:ext>
            </a:extLst>
          </p:cNvPr>
          <p:cNvSpPr>
            <a:spLocks xmlns:a="http://schemas.openxmlformats.org/drawingml/2006/main" noGrp="1"/>
          </p:cNvSpPr>
          <p:nvPr/>
        </p:nvSpPr>
        <p:spPr>
          <a:xfrm xmlns:a="http://schemas.openxmlformats.org/drawingml/2006/main">
            <a:off x="609600" y="4762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323B"/>
                </a:solidFill>
                <a:latin typeface="Arial"/>
                <a:ea typeface="Arial"/>
                <a:cs typeface="Arial"/>
              </a:defRPr>
            </a:defPPr>
          </a:lstStyle>
          <a:p xmlns:a="http://schemas.openxmlformats.org/drawingml/2006/main">
            <a:pPr algn="l">
              <a:defRPr sz="2325" b="0">
                <a:solidFill>
                  <a:srgbClr val="14323B"/>
                </a:solidFill>
                <a:latin typeface="Arial"/>
                <a:ea typeface="Arial"/>
                <a:cs typeface="Arial"/>
              </a:defRPr>
            </a:pPr>
            <a:r>
              <a:rPr sz="2325" b="0">
                <a:solidFill>
                  <a:srgbClr val="14323B"/>
                </a:solidFill>
                <a:latin typeface="Arial"/>
                <a:ea typeface="Arial"/>
                <a:cs typeface="Arial"/>
              </a:rPr>
              <a:t>External cohort and functional outcomes</a:t>
            </a:r>
          </a:p>
          <a:p xmlns:a="http://schemas.openxmlformats.org/drawingml/2006/main">
            <a:pPr algn="l">
              <a:defRPr sz="2325" b="0">
                <a:solidFill>
                  <a:srgbClr val="14323B"/>
                </a:solidFill>
                <a:latin typeface="Arial"/>
                <a:ea typeface="Arial"/>
                <a:cs typeface="Arial"/>
              </a:defRPr>
            </a:pPr>
            <a:r>
              <a:rPr sz="2325" b="0">
                <a:solidFill>
                  <a:srgbClr val="14323B"/>
                </a:solidFill>
                <a:latin typeface="Arial"/>
                <a:ea typeface="Arial"/>
                <a:cs typeface="Arial"/>
              </a:rPr>
              <a:t>Continuous scores versus added value from group membership</a:t>
            </a:r>
          </a:p>
        </p:txBody>
      </p:sp>
    </p:spTree>
    <p:extLst>
      <p:ext uri="{BB962C8B-B14F-4D97-AF65-F5344CB8AC3E}">
        <p14:creationId xmlns:p14="http://schemas.microsoft.com/office/powerpoint/2010/main" val="1284634401"/>
      </p:ext>
    </p:extLst>
  </p:cSld>
</p:sld>
</file>

<file path=ppt/slides/slide17.xml><?xml version="1.0" encoding="utf-8"?>
<p:sld xmlns:p="http://schemas.openxmlformats.org/presentationml/2006/main">
  <p:cSld>
    <p:bg>
      <p:bgPr>
        <a:solidFill xmlns:a="http://schemas.openxmlformats.org/drawingml/2006/main">
          <a:srgbClr val="14323B"/>
        </a:solidFill>
      </p:bgPr>
    </p:bg>
    <p:spTree>
      <p:nvGrpSpPr>
        <p:cNvPr id="1" name=""/>
        <p:cNvGrpSpPr/>
        <p:nvPr/>
      </p:nvGrpSpPr>
      <p:grpSpPr>
        <a:xfrm xmlns:a="http://schemas.openxmlformats.org/drawingml/2006/main"/>
      </p:grpSpPr>
      <p:sp>
        <p:nvSpPr>
          <p:cNvPr id="5" name="slide-footer">
            <a:extLst xmlns:a="http://schemas.openxmlformats.org/drawingml/2006/main">
              <a:ext uri="{FF2B5EF4-FFF2-40B4-BE49-F238E27FC236}">
                <a16:creationId xmlns:a16="http://schemas.microsoft.com/office/drawing/2014/main" id="{4D1AF2D0-33B5-4549-BA15-4A140699A023}"/>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9C5CC"/>
                </a:solidFill>
                <a:latin typeface="Arial"/>
                <a:ea typeface="Arial"/>
                <a:cs typeface="Arial"/>
              </a:defRPr>
            </a:defPPr>
          </a:lstStyle>
          <a:p xmlns:a="http://schemas.openxmlformats.org/drawingml/2006/main">
            <a:pPr algn="l">
              <a:defRPr sz="1200" b="0">
                <a:solidFill>
                  <a:srgbClr val="A9C5CC"/>
                </a:solidFill>
                <a:latin typeface="Arial"/>
                <a:ea typeface="Arial"/>
                <a:cs typeface="Arial"/>
              </a:defRPr>
            </a:pPr>
            <a:r>
              <a:rPr sz="1200" b="0">
                <a:solidFill>
                  <a:srgbClr val="A9C5CC"/>
                </a:solidFill>
                <a:latin typeface="Arial"/>
                <a:ea typeface="Arial"/>
                <a:cs typeface="Arial"/>
              </a:rPr>
              <a:t>17</a:t>
            </a:r>
          </a:p>
        </p:txBody>
      </p:sp>
      <p:sp>
        <p:nvSpPr>
          <p:cNvPr id="2" name="text">
            <a:extLst xmlns:a="http://schemas.openxmlformats.org/drawingml/2006/main">
              <a:ext uri="{FF2B5EF4-FFF2-40B4-BE49-F238E27FC236}">
                <a16:creationId xmlns:a16="http://schemas.microsoft.com/office/drawing/2014/main" id="{1D0077E7-045E-4DF2-9C7A-FB99640D78CE}"/>
              </a:ext>
            </a:extLst>
          </p:cNvPr>
          <p:cNvSpPr>
            <a:spLocks xmlns:a="http://schemas.openxmlformats.org/drawingml/2006/main" noGrp="1"/>
          </p:cNvSpPr>
          <p:nvPr/>
        </p:nvSpPr>
        <p:spPr>
          <a:xfrm xmlns:a="http://schemas.openxmlformats.org/drawingml/2006/main">
            <a:off x="609600" y="16192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25" b="1">
                <a:solidFill>
                  <a:srgbClr val="FFFFFF"/>
                </a:solidFill>
                <a:latin typeface="Arial"/>
                <a:ea typeface="Arial"/>
                <a:cs typeface="Arial"/>
              </a:defRPr>
            </a:defPPr>
          </a:lstStyle>
          <a:p xmlns:a="http://schemas.openxmlformats.org/drawingml/2006/main">
            <a:pPr algn="l">
              <a:defRPr sz="5025" b="1">
                <a:solidFill>
                  <a:srgbClr val="FFFFFF"/>
                </a:solidFill>
                <a:latin typeface="Arial"/>
                <a:ea typeface="Arial"/>
                <a:cs typeface="Arial"/>
              </a:defRPr>
            </a:pPr>
            <a:r>
              <a:rPr sz="5025" b="1">
                <a:solidFill>
                  <a:srgbClr val="FFFFFF"/>
                </a:solidFill>
                <a:latin typeface="Arial"/>
                <a:ea typeface="Arial"/>
                <a:cs typeface="Arial"/>
              </a:rPr>
              <a:t>Repeatable score groups</a:t>
            </a:r>
          </a:p>
        </p:txBody>
      </p:sp>
      <p:sp>
        <p:nvSpPr>
          <p:cNvPr id="3" name="text">
            <a:extLst xmlns:a="http://schemas.openxmlformats.org/drawingml/2006/main">
              <a:ext uri="{FF2B5EF4-FFF2-40B4-BE49-F238E27FC236}">
                <a16:creationId xmlns:a16="http://schemas.microsoft.com/office/drawing/2014/main" id="{D27344E6-8CE1-4371-8582-E44B9FA66FDD}"/>
              </a:ext>
            </a:extLst>
          </p:cNvPr>
          <p:cNvSpPr>
            <a:spLocks xmlns:a="http://schemas.openxmlformats.org/drawingml/2006/main" noGrp="1"/>
          </p:cNvSpPr>
          <p:nvPr/>
        </p:nvSpPr>
        <p:spPr>
          <a:xfrm xmlns:a="http://schemas.openxmlformats.org/drawingml/2006/main">
            <a:off x="609600" y="30003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CBE0E4"/>
                </a:solidFill>
                <a:latin typeface="Arial"/>
                <a:ea typeface="Arial"/>
                <a:cs typeface="Arial"/>
              </a:defRPr>
            </a:defPPr>
          </a:lstStyle>
          <a:p xmlns:a="http://schemas.openxmlformats.org/drawingml/2006/main">
            <a:pPr algn="l">
              <a:defRPr sz="3225" b="0">
                <a:solidFill>
                  <a:srgbClr val="CBE0E4"/>
                </a:solidFill>
                <a:latin typeface="Arial"/>
                <a:ea typeface="Arial"/>
                <a:cs typeface="Arial"/>
              </a:defRPr>
            </a:pPr>
            <a:r>
              <a:rPr sz="3225" b="0">
                <a:solidFill>
                  <a:srgbClr val="CBE0E4"/>
                </a:solidFill>
                <a:latin typeface="Arial"/>
                <a:ea typeface="Arial"/>
                <a:cs typeface="Arial"/>
              </a:rPr>
              <a:t>Clinical phenotypes remain unconfirmed</a:t>
            </a:r>
          </a:p>
        </p:txBody>
      </p:sp>
      <p:sp>
        <p:nvSpPr>
          <p:cNvPr id="4" name="text">
            <a:extLst xmlns:a="http://schemas.openxmlformats.org/drawingml/2006/main">
              <a:ext uri="{FF2B5EF4-FFF2-40B4-BE49-F238E27FC236}">
                <a16:creationId xmlns:a16="http://schemas.microsoft.com/office/drawing/2014/main" id="{E67D85AF-AEB2-4BDB-9204-5E05BBEAA6D0}"/>
              </a:ext>
            </a:extLst>
          </p:cNvPr>
          <p:cNvSpPr>
            <a:spLocks xmlns:a="http://schemas.openxmlformats.org/drawingml/2006/main" noGrp="1"/>
          </p:cNvSpPr>
          <p:nvPr/>
        </p:nvSpPr>
        <p:spPr>
          <a:xfrm xmlns:a="http://schemas.openxmlformats.org/drawingml/2006/main">
            <a:off x="60960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9C5CC"/>
                </a:solidFill>
                <a:latin typeface="Arial"/>
                <a:ea typeface="Arial"/>
                <a:cs typeface="Arial"/>
              </a:defRPr>
            </a:defPPr>
          </a:lstStyle>
          <a:p xmlns:a="http://schemas.openxmlformats.org/drawingml/2006/main">
            <a:pPr algn="l">
              <a:defRPr sz="2250" b="0">
                <a:solidFill>
                  <a:srgbClr val="A9C5CC"/>
                </a:solidFill>
                <a:latin typeface="Arial"/>
                <a:ea typeface="Arial"/>
                <a:cs typeface="Arial"/>
              </a:defRPr>
            </a:pPr>
            <a:r>
              <a:rPr sz="2250" b="0">
                <a:solidFill>
                  <a:srgbClr val="A9C5CC"/>
                </a:solidFill>
                <a:latin typeface="Arial"/>
                <a:ea typeface="Arial"/>
                <a:cs typeface="Arial"/>
              </a:rPr>
              <a:t>Questions and discussion</a:t>
            </a:r>
          </a:p>
        </p:txBody>
      </p:sp>
    </p:spTree>
    <p:extLst>
      <p:ext uri="{BB962C8B-B14F-4D97-AF65-F5344CB8AC3E}">
        <p14:creationId xmlns:p14="http://schemas.microsoft.com/office/powerpoint/2010/main" val="15203599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ABFAF50-B13B-45B2-A058-DB277D6E3E07}"/>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Hypothesis criteria and outcomes</a:t>
            </a:r>
          </a:p>
        </p:txBody>
      </p:sp>
      <p:sp>
        <p:nvSpPr>
          <p:cNvPr id="2" name="slide-footer">
            <a:extLst xmlns:a="http://schemas.openxmlformats.org/drawingml/2006/main">
              <a:ext uri="{FF2B5EF4-FFF2-40B4-BE49-F238E27FC236}">
                <a16:creationId xmlns:a16="http://schemas.microsoft.com/office/drawing/2014/main" id="{7A4F7E35-6DE3-404E-9F1B-D88549045324}"/>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Examiner reference</a:t>
            </a:r>
          </a:p>
        </p:txBody>
      </p:sp>
      <p:sp>
        <p:nvSpPr>
          <p:cNvPr id="3" name="slide-number">
            <a:extLst xmlns:a="http://schemas.openxmlformats.org/drawingml/2006/main">
              <a:ext uri="{FF2B5EF4-FFF2-40B4-BE49-F238E27FC236}">
                <a16:creationId xmlns:a16="http://schemas.microsoft.com/office/drawing/2014/main" id="{33590FFB-7C39-455F-9FAF-9B4C2B44DBC7}"/>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57C"/>
                </a:solidFill>
                <a:latin typeface="Arial"/>
                <a:ea typeface="Arial"/>
                <a:cs typeface="Arial"/>
              </a:defRPr>
            </a:defPPr>
          </a:lstStyle>
          <a:p xmlns:a="http://schemas.openxmlformats.org/drawingml/2006/main">
            <a:pPr algn="r">
              <a:defRPr sz="1200" b="0">
                <a:solidFill>
                  <a:srgbClr val="60757C"/>
                </a:solidFill>
                <a:latin typeface="Arial"/>
                <a:ea typeface="Arial"/>
                <a:cs typeface="Arial"/>
              </a:defRPr>
            </a:pPr>
            <a:r>
              <a:rPr sz="1200" b="0">
                <a:solidFill>
                  <a:srgbClr val="60757C"/>
                </a:solidFill>
                <a:latin typeface="Arial"/>
                <a:ea typeface="Arial"/>
                <a:cs typeface="Arial"/>
              </a:rPr>
              <a:t>18</a:t>
            </a:r>
          </a:p>
        </p:txBody>
      </p:sp>
      <p:graphicFrame>
        <p:nvGraphicFramePr>
          <p:cNvPr id="4" name="">
            <a:extLst xmlns:a="http://schemas.openxmlformats.org/drawingml/2006/main">
              <a:ext uri="{FF2B5EF4-FFF2-40B4-BE49-F238E27FC236}">
                <a16:creationId xmlns:a16="http://schemas.microsoft.com/office/drawing/2014/main" id="{9C1EB76B-A561-4832-8EA6-1BFF5E2D6186}"/>
              </a:ext>
            </a:extLst>
          </p:cNvPr>
          <p:cNvGraphicFramePr/>
          <p:nvPr/>
        </p:nvGraphicFramePr>
        <p:xfrm>
          <a:off xmlns:a="http://schemas.openxmlformats.org/drawingml/2006/main" x="609600" y="1562100"/>
          <a:ext xmlns:a="http://schemas.openxmlformats.org/drawingml/2006/main" cx="10972800" cy="4191000"/>
        </p:xfrm>
        <a:graphic xmlns:a="http://schemas.openxmlformats.org/drawingml/2006/main">
          <a:graphicData uri="http://schemas.openxmlformats.org/drawingml/2006/table">
            <a:tbl>
              <a:tblPr/>
              <a:tblGrid>
                <a:gridCol w="1809750"/>
                <a:gridCol w="4476750"/>
                <a:gridCol w="4686300"/>
              </a:tblGrid>
              <a:tr h="533400">
                <a:tc>
                  <a:txBody>
                    <a:bodyPr/>
                    <a:lstStyle/>
                    <a:p>
                      <a:r>
                        <a:rPr sz="1800" b="1">
                          <a:solidFill>
                            <a:srgbClr val="FFFFFF"/>
                          </a:solidFill>
                          <a:latin typeface="Arial"/>
                          <a:ea typeface="Arial"/>
                          <a:cs typeface="Arial"/>
                        </a:rPr>
                        <a:t>Hypothesis</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Original criterion</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Outcome</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914400">
                <a:tc>
                  <a:txBody>
                    <a:bodyPr/>
                    <a:lstStyle/>
                    <a:p>
                      <a:r>
                        <a:rPr sz="1800">
                          <a:solidFill>
                            <a:srgbClr val="14323B"/>
                          </a:solidFill>
                          <a:latin typeface="Arial"/>
                          <a:ea typeface="Arial"/>
                          <a:cs typeface="Arial"/>
                        </a:rPr>
                        <a:t>H1</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At least 2 groups</a:t>
                      </a:r>
                    </a:p>
                    <a:p>
                      <a:r>
                        <a:rPr sz="1800">
                          <a:solidFill>
                            <a:srgbClr val="14323B"/>
                          </a:solidFill>
                          <a:latin typeface="Arial"/>
                          <a:ea typeface="Arial"/>
                          <a:cs typeface="Arial"/>
                        </a:rPr>
                        <a:t>Silhouette ≥0.40, noise ≤30%</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10/10 meet embedding criteria</a:t>
                      </a:r>
                    </a:p>
                    <a:p>
                      <a:r>
                        <a:rPr sz="1800">
                          <a:solidFill>
                            <a:srgbClr val="14323B"/>
                          </a:solidFill>
                          <a:latin typeface="Arial"/>
                          <a:ea typeface="Arial"/>
                          <a:cs typeface="Arial"/>
                        </a:rPr>
                        <a:t>Core stability is moderate</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914400">
                <a:tc>
                  <a:txBody>
                    <a:bodyPr/>
                    <a:lstStyle/>
                    <a:p>
                      <a:r>
                        <a:rPr sz="1800">
                          <a:solidFill>
                            <a:srgbClr val="14323B"/>
                          </a:solidFill>
                          <a:latin typeface="Arial"/>
                          <a:ea typeface="Arial"/>
                          <a:cs typeface="Arial"/>
                        </a:rPr>
                        <a:t>H2</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Median pairwise ARI &gt;0.50</a:t>
                      </a:r>
                    </a:p>
                    <a:p>
                      <a:r>
                        <a:rPr sz="1800">
                          <a:solidFill>
                            <a:srgbClr val="14323B"/>
                          </a:solidFill>
                          <a:latin typeface="Arial"/>
                          <a:ea typeface="Arial"/>
                          <a:cs typeface="Arial"/>
                        </a:rPr>
                        <a:t>Fixed reference</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Median 0.739</a:t>
                      </a:r>
                    </a:p>
                    <a:p>
                      <a:r>
                        <a:rPr sz="1800">
                          <a:solidFill>
                            <a:srgbClr val="14323B"/>
                          </a:solidFill>
                          <a:latin typeface="Arial"/>
                          <a:ea typeface="Arial"/>
                          <a:cs typeface="Arial"/>
                        </a:rPr>
                        <a:t>Supported within this design</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914400">
                <a:tc>
                  <a:txBody>
                    <a:bodyPr/>
                    <a:lstStyle/>
                    <a:p>
                      <a:r>
                        <a:rPr sz="1800">
                          <a:solidFill>
                            <a:srgbClr val="14323B"/>
                          </a:solidFill>
                          <a:latin typeface="Arial"/>
                          <a:ea typeface="Arial"/>
                          <a:cs typeface="Arial"/>
                        </a:rPr>
                        <a:t>H3</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Association with clinical unit</a:t>
                      </a:r>
                    </a:p>
                    <a:p>
                      <a:r>
                        <a:rPr sz="1800">
                          <a:solidFill>
                            <a:srgbClr val="14323B"/>
                          </a:solidFill>
                          <a:latin typeface="Arial"/>
                          <a:ea typeface="Arial"/>
                          <a:cs typeface="Arial"/>
                        </a:rPr>
                        <a:t>Cramér’s V &gt;0.10</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V = 0.162</a:t>
                      </a:r>
                    </a:p>
                    <a:p>
                      <a:r>
                        <a:rPr sz="1800">
                          <a:solidFill>
                            <a:srgbClr val="14323B"/>
                          </a:solidFill>
                          <a:latin typeface="Arial"/>
                          <a:ea typeface="Arial"/>
                          <a:cs typeface="Arial"/>
                        </a:rPr>
                        <a:t>Added prediction unconfirmed</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914400">
                <a:tc>
                  <a:txBody>
                    <a:bodyPr/>
                    <a:lstStyle/>
                    <a:p>
                      <a:r>
                        <a:rPr sz="1800">
                          <a:solidFill>
                            <a:srgbClr val="14323B"/>
                          </a:solidFill>
                          <a:latin typeface="Arial"/>
                          <a:ea typeface="Arial"/>
                          <a:cs typeface="Arial"/>
                        </a:rPr>
                        <a:t>H4</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Similar separation</a:t>
                      </a:r>
                    </a:p>
                    <a:p>
                      <a:r>
                        <a:rPr sz="1800">
                          <a:solidFill>
                            <a:srgbClr val="14323B"/>
                          </a:solidFill>
                          <a:latin typeface="Arial"/>
                          <a:ea typeface="Arial"/>
                          <a:cs typeface="Arial"/>
                        </a:rPr>
                        <a:t>Lower VIF and condition number</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VIF 2.77 to 1.88</a:t>
                      </a:r>
                    </a:p>
                    <a:p>
                      <a:r>
                        <a:rPr sz="1800">
                          <a:solidFill>
                            <a:srgbClr val="14323B"/>
                          </a:solidFill>
                          <a:latin typeface="Arial"/>
                          <a:ea typeface="Arial"/>
                          <a:cs typeface="Arial"/>
                        </a:rPr>
                        <a:t>Condition number 61.7 to 11.8</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bl>
          </a:graphicData>
        </a:graphic>
      </p:graphicFrame>
    </p:spTree>
    <p:extLst>
      <p:ext uri="{BB962C8B-B14F-4D97-AF65-F5344CB8AC3E}">
        <p14:creationId xmlns:p14="http://schemas.microsoft.com/office/powerpoint/2010/main" val="115059190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AF2E73C-8CF3-452E-A2BD-CD0F3048DCEB}"/>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Fixed-reference agreement and independent refitting</a:t>
            </a:r>
          </a:p>
        </p:txBody>
      </p:sp>
      <p:sp>
        <p:nvSpPr>
          <p:cNvPr id="2" name="slide-footer">
            <a:extLst xmlns:a="http://schemas.openxmlformats.org/drawingml/2006/main">
              <a:ext uri="{FF2B5EF4-FFF2-40B4-BE49-F238E27FC236}">
                <a16:creationId xmlns:a16="http://schemas.microsoft.com/office/drawing/2014/main" id="{55F8FD78-09D3-4EDD-9DE1-9A16102D178A}"/>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Examiner reference</a:t>
            </a:r>
          </a:p>
        </p:txBody>
      </p:sp>
      <p:sp>
        <p:nvSpPr>
          <p:cNvPr id="3" name="slide-number">
            <a:extLst xmlns:a="http://schemas.openxmlformats.org/drawingml/2006/main">
              <a:ext uri="{FF2B5EF4-FFF2-40B4-BE49-F238E27FC236}">
                <a16:creationId xmlns:a16="http://schemas.microsoft.com/office/drawing/2014/main" id="{3B7FE7C5-C255-443D-8BD5-5216AF72A3C3}"/>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57C"/>
                </a:solidFill>
                <a:latin typeface="Arial"/>
                <a:ea typeface="Arial"/>
                <a:cs typeface="Arial"/>
              </a:defRPr>
            </a:defPPr>
          </a:lstStyle>
          <a:p xmlns:a="http://schemas.openxmlformats.org/drawingml/2006/main">
            <a:pPr algn="r">
              <a:defRPr sz="1200" b="0">
                <a:solidFill>
                  <a:srgbClr val="60757C"/>
                </a:solidFill>
                <a:latin typeface="Arial"/>
                <a:ea typeface="Arial"/>
                <a:cs typeface="Arial"/>
              </a:defRPr>
            </a:pPr>
            <a:r>
              <a:rPr sz="1200" b="0">
                <a:solidFill>
                  <a:srgbClr val="60757C"/>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791595A3-0162-4A16-848B-32113A460A00}"/>
              </a:ext>
            </a:extLst>
          </p:cNvPr>
          <p:cNvGraphicFramePr/>
          <p:nvPr/>
        </p:nvGraphicFramePr>
        <p:xfrm>
          <a:off xmlns:a="http://schemas.openxmlformats.org/drawingml/2006/main" x="609600" y="1619250"/>
          <a:ext xmlns:a="http://schemas.openxmlformats.org/drawingml/2006/main" cx="10972800" cy="3714750"/>
        </p:xfrm>
        <a:graphic xmlns:a="http://schemas.openxmlformats.org/drawingml/2006/main">
          <a:graphicData uri="http://schemas.openxmlformats.org/drawingml/2006/table">
            <a:tbl>
              <a:tblPr/>
              <a:tblGrid>
                <a:gridCol w="3143250"/>
                <a:gridCol w="3914775"/>
                <a:gridCol w="3914775"/>
              </a:tblGrid>
              <a:tr h="619125">
                <a:tc>
                  <a:txBody>
                    <a:bodyPr/>
                    <a:lstStyle/>
                    <a:p>
                      <a:r>
                        <a:rPr sz="1800" b="1">
                          <a:solidFill>
                            <a:srgbClr val="FFFFFF"/>
                          </a:solidFill>
                          <a:latin typeface="Arial"/>
                          <a:ea typeface="Arial"/>
                          <a:cs typeface="Arial"/>
                        </a:rPr>
                        <a:t>Feature</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Historical H2</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Patient extension</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619125">
                <a:tc>
                  <a:txBody>
                    <a:bodyPr/>
                    <a:lstStyle/>
                    <a:p>
                      <a:r>
                        <a:rPr sz="1800">
                          <a:solidFill>
                            <a:srgbClr val="14323B"/>
                          </a:solidFill>
                          <a:latin typeface="Arial"/>
                          <a:ea typeface="Arial"/>
                          <a:cs typeface="Arial"/>
                        </a:rPr>
                        <a:t>Observations</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17,406 assessments</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7,285 index patients</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619125">
                <a:tc>
                  <a:txBody>
                    <a:bodyPr/>
                    <a:lstStyle/>
                    <a:p>
                      <a:r>
                        <a:rPr sz="1800">
                          <a:solidFill>
                            <a:srgbClr val="14323B"/>
                          </a:solidFill>
                          <a:latin typeface="Arial"/>
                          <a:ea typeface="Arial"/>
                          <a:cs typeface="Arial"/>
                        </a:rPr>
                        <a:t>Imputation comparison</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10 methods, 45 pairs</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20 stochastic Bayesian draws</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619125">
                <a:tc>
                  <a:txBody>
                    <a:bodyPr/>
                    <a:lstStyle/>
                    <a:p>
                      <a:r>
                        <a:rPr sz="1800">
                          <a:solidFill>
                            <a:srgbClr val="14323B"/>
                          </a:solidFill>
                          <a:latin typeface="Arial"/>
                          <a:ea typeface="Arial"/>
                          <a:cs typeface="Arial"/>
                        </a:rPr>
                        <a:t>Transformation and fit</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Frozen MICE-based reference</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Independent discovery fits</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619125">
                <a:tc>
                  <a:txBody>
                    <a:bodyPr/>
                    <a:lstStyle/>
                    <a:p>
                      <a:r>
                        <a:rPr sz="1800">
                          <a:solidFill>
                            <a:srgbClr val="14323B"/>
                          </a:solidFill>
                          <a:latin typeface="Arial"/>
                          <a:ea typeface="Arial"/>
                          <a:cs typeface="Arial"/>
                        </a:rPr>
                        <a:t>Comparison set</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Same assessment rows</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Same 1,457 validation patients</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619125">
                <a:tc>
                  <a:txBody>
                    <a:bodyPr/>
                    <a:lstStyle/>
                    <a:p>
                      <a:r>
                        <a:rPr sz="1800">
                          <a:solidFill>
                            <a:srgbClr val="14323B"/>
                          </a:solidFill>
                          <a:latin typeface="Arial"/>
                          <a:ea typeface="Arial"/>
                          <a:cs typeface="Arial"/>
                        </a:rPr>
                        <a:t>Three-group mean ARI</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0.710</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0.935</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bl>
          </a:graphicData>
        </a:graphic>
      </p:graphicFrame>
      <p:sp>
        <p:nvSpPr>
          <p:cNvPr id="5" name="qualification">
            <a:extLst xmlns:a="http://schemas.openxmlformats.org/drawingml/2006/main">
              <a:ext uri="{FF2B5EF4-FFF2-40B4-BE49-F238E27FC236}">
                <a16:creationId xmlns:a16="http://schemas.microsoft.com/office/drawing/2014/main" id="{B82C1A3A-FF6A-427A-A4CA-01FAA5109679}"/>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Historical assessment subsampling: mean ARI 0.273. This tests a different source of variability.</a:t>
            </a:r>
          </a:p>
        </p:txBody>
      </p:sp>
    </p:spTree>
    <p:extLst>
      <p:ext uri="{BB962C8B-B14F-4D97-AF65-F5344CB8AC3E}">
        <p14:creationId xmlns:p14="http://schemas.microsoft.com/office/powerpoint/2010/main" val="9670720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2C0F0A6-CD2B-4FF4-8ABD-730DF50DF4E3}"/>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Independent imputation agreement in full</a:t>
            </a:r>
          </a:p>
        </p:txBody>
      </p:sp>
      <p:sp>
        <p:nvSpPr>
          <p:cNvPr id="2" name="slide-footer">
            <a:extLst xmlns:a="http://schemas.openxmlformats.org/drawingml/2006/main">
              <a:ext uri="{FF2B5EF4-FFF2-40B4-BE49-F238E27FC236}">
                <a16:creationId xmlns:a16="http://schemas.microsoft.com/office/drawing/2014/main" id="{EAA6A768-9D1E-4CC0-940B-AF275068C5A3}"/>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Examiner reference</a:t>
            </a:r>
          </a:p>
        </p:txBody>
      </p:sp>
      <p:sp>
        <p:nvSpPr>
          <p:cNvPr id="3" name="slide-number">
            <a:extLst xmlns:a="http://schemas.openxmlformats.org/drawingml/2006/main">
              <a:ext uri="{FF2B5EF4-FFF2-40B4-BE49-F238E27FC236}">
                <a16:creationId xmlns:a16="http://schemas.microsoft.com/office/drawing/2014/main" id="{EAE72CED-E218-4B94-B035-B0665ECC79D7}"/>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57C"/>
                </a:solidFill>
                <a:latin typeface="Arial"/>
                <a:ea typeface="Arial"/>
                <a:cs typeface="Arial"/>
              </a:defRPr>
            </a:defPPr>
          </a:lstStyle>
          <a:p xmlns:a="http://schemas.openxmlformats.org/drawingml/2006/main">
            <a:pPr algn="r">
              <a:defRPr sz="1200" b="0">
                <a:solidFill>
                  <a:srgbClr val="60757C"/>
                </a:solidFill>
                <a:latin typeface="Arial"/>
                <a:ea typeface="Arial"/>
                <a:cs typeface="Arial"/>
              </a:defRPr>
            </a:pPr>
            <a:r>
              <a:rPr sz="1200" b="0">
                <a:solidFill>
                  <a:srgbClr val="60757C"/>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43540525-5EF5-407C-B03F-3F3C45C750AB}"/>
              </a:ext>
            </a:extLst>
          </p:cNvPr>
          <p:cNvGraphicFramePr/>
          <p:nvPr/>
        </p:nvGraphicFramePr>
        <p:xfrm>
          <a:off xmlns:a="http://schemas.openxmlformats.org/drawingml/2006/main" x="609600" y="1571625"/>
          <a:ext xmlns:a="http://schemas.openxmlformats.org/drawingml/2006/main" cx="10972800" cy="4057650"/>
        </p:xfrm>
        <a:graphic xmlns:a="http://schemas.openxmlformats.org/drawingml/2006/main">
          <a:graphicData uri="http://schemas.openxmlformats.org/drawingml/2006/table">
            <a:tbl>
              <a:tblPr/>
              <a:tblGrid>
                <a:gridCol w="3619500"/>
                <a:gridCol w="1524000"/>
                <a:gridCol w="2381250"/>
                <a:gridCol w="3448050"/>
              </a:tblGrid>
              <a:tr h="579664">
                <a:tc>
                  <a:txBody>
                    <a:bodyPr/>
                    <a:lstStyle/>
                    <a:p>
                      <a:r>
                        <a:rPr sz="1875" b="1">
                          <a:solidFill>
                            <a:srgbClr val="FFFFFF"/>
                          </a:solidFill>
                          <a:latin typeface="Arial"/>
                          <a:ea typeface="Arial"/>
                          <a:cs typeface="Arial"/>
                        </a:rPr>
                        <a:t>Method</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75" b="1">
                          <a:solidFill>
                            <a:srgbClr val="FFFFFF"/>
                          </a:solidFill>
                          <a:latin typeface="Arial"/>
                          <a:ea typeface="Arial"/>
                          <a:cs typeface="Arial"/>
                        </a:rPr>
                        <a:t>Groups</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75" b="1">
                          <a:solidFill>
                            <a:srgbClr val="FFFFFF"/>
                          </a:solidFill>
                          <a:latin typeface="Arial"/>
                          <a:ea typeface="Arial"/>
                          <a:cs typeface="Arial"/>
                        </a:rPr>
                        <a:t>Mean ARI</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75" b="1">
                          <a:solidFill>
                            <a:srgbClr val="FFFFFF"/>
                          </a:solidFill>
                          <a:latin typeface="Arial"/>
                          <a:ea typeface="Arial"/>
                          <a:cs typeface="Arial"/>
                        </a:rPr>
                        <a:t>5th–95th percentiles</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579664">
                <a:tc>
                  <a:txBody>
                    <a:bodyPr/>
                    <a:lstStyle/>
                    <a:p>
                      <a:r>
                        <a:rPr sz="1875">
                          <a:solidFill>
                            <a:srgbClr val="14323B"/>
                          </a:solidFill>
                          <a:latin typeface="Arial"/>
                          <a:ea typeface="Arial"/>
                          <a:cs typeface="Arial"/>
                        </a:rPr>
                        <a:t>K-means</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2</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0.959</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0.944–0.974</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579664">
                <a:tc>
                  <a:txBody>
                    <a:bodyPr/>
                    <a:lstStyle/>
                    <a:p>
                      <a:r>
                        <a:rPr sz="1875">
                          <a:solidFill>
                            <a:srgbClr val="14323B"/>
                          </a:solidFill>
                          <a:latin typeface="Arial"/>
                          <a:ea typeface="Arial"/>
                          <a:cs typeface="Arial"/>
                        </a:rPr>
                        <a:t>K-means</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3</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0.935</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0.917–0.951</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579664">
                <a:tc>
                  <a:txBody>
                    <a:bodyPr/>
                    <a:lstStyle/>
                    <a:p>
                      <a:r>
                        <a:rPr sz="1875">
                          <a:solidFill>
                            <a:srgbClr val="14323B"/>
                          </a:solidFill>
                          <a:latin typeface="Arial"/>
                          <a:ea typeface="Arial"/>
                          <a:cs typeface="Arial"/>
                        </a:rPr>
                        <a:t>K-means</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4</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0.738</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0.627–0.823</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579664">
                <a:tc>
                  <a:txBody>
                    <a:bodyPr/>
                    <a:lstStyle/>
                    <a:p>
                      <a:r>
                        <a:rPr sz="1875">
                          <a:solidFill>
                            <a:srgbClr val="14323B"/>
                          </a:solidFill>
                          <a:latin typeface="Arial"/>
                          <a:ea typeface="Arial"/>
                          <a:cs typeface="Arial"/>
                        </a:rPr>
                        <a:t>Sampled PAM</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2</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0.909</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0.851–0.959</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579664">
                <a:tc>
                  <a:txBody>
                    <a:bodyPr/>
                    <a:lstStyle/>
                    <a:p>
                      <a:r>
                        <a:rPr sz="1875">
                          <a:solidFill>
                            <a:srgbClr val="14323B"/>
                          </a:solidFill>
                          <a:latin typeface="Arial"/>
                          <a:ea typeface="Arial"/>
                          <a:cs typeface="Arial"/>
                        </a:rPr>
                        <a:t>Sampled PAM</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3</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0.504</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0.281–0.878</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579664">
                <a:tc>
                  <a:txBody>
                    <a:bodyPr/>
                    <a:lstStyle/>
                    <a:p>
                      <a:r>
                        <a:rPr sz="1875">
                          <a:solidFill>
                            <a:srgbClr val="14323B"/>
                          </a:solidFill>
                          <a:latin typeface="Arial"/>
                          <a:ea typeface="Arial"/>
                          <a:cs typeface="Arial"/>
                        </a:rPr>
                        <a:t>Sampled PAM</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4</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0.462</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0.308–0.662</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bl>
          </a:graphicData>
        </a:graphic>
      </p:graphicFrame>
      <p:sp>
        <p:nvSpPr>
          <p:cNvPr id="5" name="qualification">
            <a:extLst xmlns:a="http://schemas.openxmlformats.org/drawingml/2006/main">
              <a:ext uri="{FF2B5EF4-FFF2-40B4-BE49-F238E27FC236}">
                <a16:creationId xmlns:a16="http://schemas.microsoft.com/office/drawing/2014/main" id="{9D3D586F-40E5-4153-B266-FA9C73F25374}"/>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Percentiles describe dependent comparisons. They are not confidence intervals.</a:t>
            </a:r>
          </a:p>
        </p:txBody>
      </p:sp>
    </p:spTree>
    <p:extLst>
      <p:ext uri="{BB962C8B-B14F-4D97-AF65-F5344CB8AC3E}">
        <p14:creationId xmlns:p14="http://schemas.microsoft.com/office/powerpoint/2010/main" val="18762859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27CBB08-51DC-43BD-9AE8-9ABD94D6980B}"/>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Partition changes and geometry changes are separable</a:t>
            </a:r>
          </a:p>
        </p:txBody>
      </p:sp>
      <p:sp>
        <p:nvSpPr>
          <p:cNvPr id="2" name="slide-footer">
            <a:extLst xmlns:a="http://schemas.openxmlformats.org/drawingml/2006/main">
              <a:ext uri="{FF2B5EF4-FFF2-40B4-BE49-F238E27FC236}">
                <a16:creationId xmlns:a16="http://schemas.microsoft.com/office/drawing/2014/main" id="{C690EBE0-6BEF-4D56-A282-BEDB1CD88AA0}"/>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Examiner reference</a:t>
            </a:r>
          </a:p>
        </p:txBody>
      </p:sp>
      <p:sp>
        <p:nvSpPr>
          <p:cNvPr id="3" name="slide-number">
            <a:extLst xmlns:a="http://schemas.openxmlformats.org/drawingml/2006/main">
              <a:ext uri="{FF2B5EF4-FFF2-40B4-BE49-F238E27FC236}">
                <a16:creationId xmlns:a16="http://schemas.microsoft.com/office/drawing/2014/main" id="{EEFA10F0-2DA3-43A9-B7DF-3358863AE9B2}"/>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57C"/>
                </a:solidFill>
                <a:latin typeface="Arial"/>
                <a:ea typeface="Arial"/>
                <a:cs typeface="Arial"/>
              </a:defRPr>
            </a:defPPr>
          </a:lstStyle>
          <a:p xmlns:a="http://schemas.openxmlformats.org/drawingml/2006/main">
            <a:pPr algn="r">
              <a:defRPr sz="1200" b="0">
                <a:solidFill>
                  <a:srgbClr val="60757C"/>
                </a:solidFill>
                <a:latin typeface="Arial"/>
                <a:ea typeface="Arial"/>
                <a:cs typeface="Arial"/>
              </a:defRPr>
            </a:pPr>
            <a:r>
              <a:rPr sz="1200" b="0">
                <a:solidFill>
                  <a:srgbClr val="60757C"/>
                </a:solidFill>
                <a:latin typeface="Arial"/>
                <a:ea typeface="Arial"/>
                <a:cs typeface="Arial"/>
              </a:rPr>
              <a:t>21</a:t>
            </a:r>
          </a:p>
        </p:txBody>
      </p:sp>
      <p:graphicFrame>
        <p:nvGraphicFramePr>
          <p:cNvPr id="4" name="">
            <a:extLst xmlns:a="http://schemas.openxmlformats.org/drawingml/2006/main">
              <a:ext uri="{FF2B5EF4-FFF2-40B4-BE49-F238E27FC236}">
                <a16:creationId xmlns:a16="http://schemas.microsoft.com/office/drawing/2014/main" id="{6B2DFE12-6187-4940-84B1-8A908C39559C}"/>
              </a:ext>
            </a:extLst>
          </p:cNvPr>
          <p:cNvGraphicFramePr/>
          <p:nvPr/>
        </p:nvGraphicFramePr>
        <p:xfrm>
          <a:off xmlns:a="http://schemas.openxmlformats.org/drawingml/2006/main" x="609600" y="1809750"/>
          <a:ext xmlns:a="http://schemas.openxmlformats.org/drawingml/2006/main" cx="10972800" cy="2381250"/>
        </p:xfrm>
        <a:graphic xmlns:a="http://schemas.openxmlformats.org/drawingml/2006/main">
          <a:graphicData uri="http://schemas.openxmlformats.org/drawingml/2006/table">
            <a:tbl>
              <a:tblPr/>
              <a:tblGrid>
                <a:gridCol w="4000500"/>
                <a:gridCol w="3486150"/>
                <a:gridCol w="3486150"/>
              </a:tblGrid>
              <a:tr h="762000">
                <a:tc>
                  <a:txBody>
                    <a:bodyPr/>
                    <a:lstStyle/>
                    <a:p>
                      <a:r>
                        <a:rPr sz="2025" b="1">
                          <a:solidFill>
                            <a:srgbClr val="FFFFFF"/>
                          </a:solidFill>
                          <a:latin typeface="Arial"/>
                          <a:ea typeface="Arial"/>
                          <a:cs typeface="Arial"/>
                        </a:rPr>
                        <a:t>Fixed validation labels</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2025" b="1">
                          <a:solidFill>
                            <a:srgbClr val="FFFFFF"/>
                          </a:solidFill>
                          <a:latin typeface="Arial"/>
                          <a:ea typeface="Arial"/>
                          <a:cs typeface="Arial"/>
                        </a:rPr>
                        <a:t>Scored in robust space</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2025" b="1">
                          <a:solidFill>
                            <a:srgbClr val="FFFFFF"/>
                          </a:solidFill>
                          <a:latin typeface="Arial"/>
                          <a:ea typeface="Arial"/>
                          <a:cs typeface="Arial"/>
                        </a:rPr>
                        <a:t>Scored in equal-domain space</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809625">
                <a:tc>
                  <a:txBody>
                    <a:bodyPr/>
                    <a:lstStyle/>
                    <a:p>
                      <a:r>
                        <a:rPr sz="2025">
                          <a:solidFill>
                            <a:srgbClr val="14323B"/>
                          </a:solidFill>
                          <a:latin typeface="Arial"/>
                          <a:ea typeface="Arial"/>
                          <a:cs typeface="Arial"/>
                        </a:rPr>
                        <a:t>Robust k = 3</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2025">
                          <a:solidFill>
                            <a:srgbClr val="14323B"/>
                          </a:solidFill>
                          <a:latin typeface="Arial"/>
                          <a:ea typeface="Arial"/>
                          <a:cs typeface="Arial"/>
                        </a:rPr>
                        <a:t>0.608</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2025">
                          <a:solidFill>
                            <a:srgbClr val="14323B"/>
                          </a:solidFill>
                          <a:latin typeface="Arial"/>
                          <a:ea typeface="Arial"/>
                          <a:cs typeface="Arial"/>
                        </a:rPr>
                        <a:t>0.440</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809625">
                <a:tc>
                  <a:txBody>
                    <a:bodyPr/>
                    <a:lstStyle/>
                    <a:p>
                      <a:r>
                        <a:rPr sz="2025">
                          <a:solidFill>
                            <a:srgbClr val="14323B"/>
                          </a:solidFill>
                          <a:latin typeface="Arial"/>
                          <a:ea typeface="Arial"/>
                          <a:cs typeface="Arial"/>
                        </a:rPr>
                        <a:t>Equal-domain k = 3</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2025">
                          <a:solidFill>
                            <a:srgbClr val="14323B"/>
                          </a:solidFill>
                          <a:latin typeface="Arial"/>
                          <a:ea typeface="Arial"/>
                          <a:cs typeface="Arial"/>
                        </a:rPr>
                        <a:t>0.172</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2025">
                          <a:solidFill>
                            <a:srgbClr val="14323B"/>
                          </a:solidFill>
                          <a:latin typeface="Arial"/>
                          <a:ea typeface="Arial"/>
                          <a:cs typeface="Arial"/>
                        </a:rPr>
                        <a:t>0.283</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bl>
          </a:graphicData>
        </a:graphic>
      </p:graphicFrame>
      <p:sp>
        <p:nvSpPr>
          <p:cNvPr id="5" name="text">
            <a:extLst xmlns:a="http://schemas.openxmlformats.org/drawingml/2006/main">
              <a:ext uri="{FF2B5EF4-FFF2-40B4-BE49-F238E27FC236}">
                <a16:creationId xmlns:a16="http://schemas.microsoft.com/office/drawing/2014/main" id="{686182C4-91EB-466B-9F9A-1C7FDE561C68}"/>
              </a:ext>
            </a:extLst>
          </p:cNvPr>
          <p:cNvSpPr>
            <a:spLocks xmlns:a="http://schemas.openxmlformats.org/drawingml/2006/main" noGrp="1"/>
          </p:cNvSpPr>
          <p:nvPr/>
        </p:nvSpPr>
        <p:spPr>
          <a:xfrm xmlns:a="http://schemas.openxmlformats.org/drawingml/2006/main">
            <a:off x="609600" y="4667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B85647"/>
                </a:solidFill>
                <a:latin typeface="Arial"/>
                <a:ea typeface="Arial"/>
                <a:cs typeface="Arial"/>
              </a:defRPr>
            </a:defPPr>
          </a:lstStyle>
          <a:p xmlns:a="http://schemas.openxmlformats.org/drawingml/2006/main">
            <a:pPr algn="l">
              <a:defRPr sz="2625" b="1">
                <a:solidFill>
                  <a:srgbClr val="B85647"/>
                </a:solidFill>
                <a:latin typeface="Arial"/>
                <a:ea typeface="Arial"/>
                <a:cs typeface="Arial"/>
              </a:defRPr>
            </a:pPr>
            <a:r>
              <a:rPr sz="2625" b="1">
                <a:solidFill>
                  <a:srgbClr val="B85647"/>
                </a:solidFill>
                <a:latin typeface="Arial"/>
                <a:ea typeface="Arial"/>
                <a:cs typeface="Arial"/>
              </a:rPr>
              <a:t>ARI between the two partitions: 0.243</a:t>
            </a:r>
          </a:p>
        </p:txBody>
      </p:sp>
      <p:sp>
        <p:nvSpPr>
          <p:cNvPr id="6" name="qualification">
            <a:extLst xmlns:a="http://schemas.openxmlformats.org/drawingml/2006/main">
              <a:ext uri="{FF2B5EF4-FFF2-40B4-BE49-F238E27FC236}">
                <a16:creationId xmlns:a16="http://schemas.microsoft.com/office/drawing/2014/main" id="{37C13B68-6544-4AF0-A260-CF27D8C13D17}"/>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A silhouette is conditional on geometry. The same labels can receive different scores.</a:t>
            </a:r>
          </a:p>
        </p:txBody>
      </p:sp>
    </p:spTree>
    <p:extLst>
      <p:ext uri="{BB962C8B-B14F-4D97-AF65-F5344CB8AC3E}">
        <p14:creationId xmlns:p14="http://schemas.microsoft.com/office/powerpoint/2010/main" val="69095859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17E3E8A-1C38-43D1-8750-9F6AD5CEE42C}"/>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Incomplete-data mixture comparison</a:t>
            </a:r>
          </a:p>
        </p:txBody>
      </p:sp>
      <p:sp>
        <p:nvSpPr>
          <p:cNvPr id="2" name="slide-footer">
            <a:extLst xmlns:a="http://schemas.openxmlformats.org/drawingml/2006/main">
              <a:ext uri="{FF2B5EF4-FFF2-40B4-BE49-F238E27FC236}">
                <a16:creationId xmlns:a16="http://schemas.microsoft.com/office/drawing/2014/main" id="{748C98C4-9C28-461D-95FF-0BF6A591B69C}"/>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Examiner reference</a:t>
            </a:r>
          </a:p>
        </p:txBody>
      </p:sp>
      <p:sp>
        <p:nvSpPr>
          <p:cNvPr id="3" name="slide-number">
            <a:extLst xmlns:a="http://schemas.openxmlformats.org/drawingml/2006/main">
              <a:ext uri="{FF2B5EF4-FFF2-40B4-BE49-F238E27FC236}">
                <a16:creationId xmlns:a16="http://schemas.microsoft.com/office/drawing/2014/main" id="{E82C8C04-9CEE-427D-9DD0-09A873457000}"/>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57C"/>
                </a:solidFill>
                <a:latin typeface="Arial"/>
                <a:ea typeface="Arial"/>
                <a:cs typeface="Arial"/>
              </a:defRPr>
            </a:defPPr>
          </a:lstStyle>
          <a:p xmlns:a="http://schemas.openxmlformats.org/drawingml/2006/main">
            <a:pPr algn="r">
              <a:defRPr sz="1200" b="0">
                <a:solidFill>
                  <a:srgbClr val="60757C"/>
                </a:solidFill>
                <a:latin typeface="Arial"/>
                <a:ea typeface="Arial"/>
                <a:cs typeface="Arial"/>
              </a:defRPr>
            </a:pPr>
            <a:r>
              <a:rPr sz="1200" b="0">
                <a:solidFill>
                  <a:srgbClr val="60757C"/>
                </a:solidFill>
                <a:latin typeface="Arial"/>
                <a:ea typeface="Arial"/>
                <a:cs typeface="Arial"/>
              </a:rPr>
              <a:t>22</a:t>
            </a:r>
          </a:p>
        </p:txBody>
      </p:sp>
      <p:graphicFrame>
        <p:nvGraphicFramePr>
          <p:cNvPr id="4" name="">
            <a:extLst xmlns:a="http://schemas.openxmlformats.org/drawingml/2006/main">
              <a:ext uri="{FF2B5EF4-FFF2-40B4-BE49-F238E27FC236}">
                <a16:creationId xmlns:a16="http://schemas.microsoft.com/office/drawing/2014/main" id="{1142CF7D-6EB0-4FA5-A540-638A8775969C}"/>
              </a:ext>
            </a:extLst>
          </p:cNvPr>
          <p:cNvGraphicFramePr/>
          <p:nvPr/>
        </p:nvGraphicFramePr>
        <p:xfrm>
          <a:off xmlns:a="http://schemas.openxmlformats.org/drawingml/2006/main" x="609600" y="1581150"/>
          <a:ext xmlns:a="http://schemas.openxmlformats.org/drawingml/2006/main" cx="10972800" cy="3333750"/>
        </p:xfrm>
        <a:graphic xmlns:a="http://schemas.openxmlformats.org/drawingml/2006/main">
          <a:graphicData uri="http://schemas.openxmlformats.org/drawingml/2006/table">
            <a:tbl>
              <a:tblPr/>
              <a:tblGrid>
                <a:gridCol w="3429000"/>
                <a:gridCol w="762000"/>
                <a:gridCol w="2000250"/>
                <a:gridCol w="2762250"/>
                <a:gridCol w="2019300"/>
              </a:tblGrid>
              <a:tr h="742950">
                <a:tc>
                  <a:txBody>
                    <a:bodyPr/>
                    <a:lstStyle/>
                    <a:p>
                      <a:r>
                        <a:rPr sz="1800" b="1">
                          <a:solidFill>
                            <a:srgbClr val="FFFFFF"/>
                          </a:solidFill>
                          <a:latin typeface="Arial"/>
                          <a:ea typeface="Arial"/>
                          <a:cs typeface="Arial"/>
                        </a:rPr>
                        <a:t>Family</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k</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BIC</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Validation log likelihood</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Domain silhouette</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647700">
                <a:tc>
                  <a:txBody>
                    <a:bodyPr/>
                    <a:lstStyle/>
                    <a:p>
                      <a:r>
                        <a:rPr sz="1800">
                          <a:solidFill>
                            <a:srgbClr val="14323B"/>
                          </a:solidFill>
                          <a:latin typeface="Arial"/>
                          <a:ea typeface="Arial"/>
                          <a:cs typeface="Arial"/>
                        </a:rPr>
                        <a:t>Gaussian</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6</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73878.4</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-6.076</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0.188</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647700">
                <a:tc>
                  <a:txBody>
                    <a:bodyPr/>
                    <a:lstStyle/>
                    <a:p>
                      <a:r>
                        <a:rPr sz="1800">
                          <a:solidFill>
                            <a:srgbClr val="14323B"/>
                          </a:solidFill>
                          <a:latin typeface="Arial"/>
                          <a:ea typeface="Arial"/>
                          <a:cs typeface="Arial"/>
                        </a:rPr>
                        <a:t>Contaminated Gaussian</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7</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74641.8</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-6.030</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0.154</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647700">
                <a:tc>
                  <a:txBody>
                    <a:bodyPr/>
                    <a:lstStyle/>
                    <a:p>
                      <a:r>
                        <a:rPr sz="1800">
                          <a:solidFill>
                            <a:srgbClr val="14323B"/>
                          </a:solidFill>
                          <a:latin typeface="Arial"/>
                          <a:ea typeface="Arial"/>
                          <a:cs typeface="Arial"/>
                        </a:rPr>
                        <a:t>t, df = 10</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8</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69815.8</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-5.550</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0.111</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647700">
                <a:tc>
                  <a:txBody>
                    <a:bodyPr/>
                    <a:lstStyle/>
                    <a:p>
                      <a:r>
                        <a:rPr sz="1800">
                          <a:solidFill>
                            <a:srgbClr val="14323B"/>
                          </a:solidFill>
                          <a:latin typeface="Arial"/>
                          <a:ea typeface="Arial"/>
                          <a:cs typeface="Arial"/>
                        </a:rPr>
                        <a:t>t, df = 4</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8</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67545.6</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-5.341</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0.095</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bl>
          </a:graphicData>
        </a:graphic>
      </p:graphicFrame>
      <p:sp>
        <p:nvSpPr>
          <p:cNvPr id="5" name="text">
            <a:extLst xmlns:a="http://schemas.openxmlformats.org/drawingml/2006/main">
              <a:ext uri="{FF2B5EF4-FFF2-40B4-BE49-F238E27FC236}">
                <a16:creationId xmlns:a16="http://schemas.microsoft.com/office/drawing/2014/main" id="{62FF8D26-1126-48F6-ADC1-F2B16F001F6B}"/>
              </a:ext>
            </a:extLst>
          </p:cNvPr>
          <p:cNvSpPr>
            <a:spLocks xmlns:a="http://schemas.openxmlformats.org/drawingml/2006/main" noGrp="1"/>
          </p:cNvSpPr>
          <p:nvPr/>
        </p:nvSpPr>
        <p:spPr>
          <a:xfrm xmlns:a="http://schemas.openxmlformats.org/drawingml/2006/main">
            <a:off x="609600" y="52578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C"/>
                </a:solidFill>
                <a:latin typeface="Arial"/>
                <a:ea typeface="Arial"/>
                <a:cs typeface="Arial"/>
              </a:defRPr>
            </a:defPPr>
          </a:lstStyle>
          <a:p xmlns:a="http://schemas.openxmlformats.org/drawingml/2006/main">
            <a:pPr algn="l">
              <a:defRPr sz="2250" b="1">
                <a:solidFill>
                  <a:srgbClr val="087F8C"/>
                </a:solidFill>
                <a:latin typeface="Arial"/>
                <a:ea typeface="Arial"/>
                <a:cs typeface="Arial"/>
              </a:defRPr>
            </a:pPr>
            <a:r>
              <a:rPr sz="2250" b="1">
                <a:solidFill>
                  <a:srgbClr val="087F8C"/>
                </a:solidFill>
                <a:latin typeface="Arial"/>
                <a:ea typeface="Arial"/>
                <a:cs typeface="Arial"/>
              </a:rPr>
              <a:t>28 of 32 fits converged</a:t>
            </a:r>
          </a:p>
        </p:txBody>
      </p:sp>
      <p:sp>
        <p:nvSpPr>
          <p:cNvPr id="6" name="qualification">
            <a:extLst xmlns:a="http://schemas.openxmlformats.org/drawingml/2006/main">
              <a:ext uri="{FF2B5EF4-FFF2-40B4-BE49-F238E27FC236}">
                <a16:creationId xmlns:a16="http://schemas.microsoft.com/office/drawing/2014/main" id="{55C33972-D34A-4DA0-A4F1-A8A608CA5FA1}"/>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Likelihoods refer to the same 14-test representation. The upper-bound optimum remains unresolved.</a:t>
            </a:r>
          </a:p>
        </p:txBody>
      </p:sp>
    </p:spTree>
    <p:extLst>
      <p:ext uri="{BB962C8B-B14F-4D97-AF65-F5344CB8AC3E}">
        <p14:creationId xmlns:p14="http://schemas.microsoft.com/office/powerpoint/2010/main" val="166826861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39C076E-72B9-4424-A6E3-0F893B92A744}"/>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Continuous-reference checks give mixed evidence</a:t>
            </a:r>
          </a:p>
        </p:txBody>
      </p:sp>
      <p:sp>
        <p:nvSpPr>
          <p:cNvPr id="2" name="slide-footer">
            <a:extLst xmlns:a="http://schemas.openxmlformats.org/drawingml/2006/main">
              <a:ext uri="{FF2B5EF4-FFF2-40B4-BE49-F238E27FC236}">
                <a16:creationId xmlns:a16="http://schemas.microsoft.com/office/drawing/2014/main" id="{4948C1CA-E002-40CC-8049-A82CFC38868B}"/>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Examiner reference</a:t>
            </a:r>
          </a:p>
        </p:txBody>
      </p:sp>
      <p:sp>
        <p:nvSpPr>
          <p:cNvPr id="3" name="slide-number">
            <a:extLst xmlns:a="http://schemas.openxmlformats.org/drawingml/2006/main">
              <a:ext uri="{FF2B5EF4-FFF2-40B4-BE49-F238E27FC236}">
                <a16:creationId xmlns:a16="http://schemas.microsoft.com/office/drawing/2014/main" id="{2F5CB5E2-7A79-4800-A0EE-C60084F4CC43}"/>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57C"/>
                </a:solidFill>
                <a:latin typeface="Arial"/>
                <a:ea typeface="Arial"/>
                <a:cs typeface="Arial"/>
              </a:defRPr>
            </a:defPPr>
          </a:lstStyle>
          <a:p xmlns:a="http://schemas.openxmlformats.org/drawingml/2006/main">
            <a:pPr algn="r">
              <a:defRPr sz="1200" b="0">
                <a:solidFill>
                  <a:srgbClr val="60757C"/>
                </a:solidFill>
                <a:latin typeface="Arial"/>
                <a:ea typeface="Arial"/>
                <a:cs typeface="Arial"/>
              </a:defRPr>
            </a:pPr>
            <a:r>
              <a:rPr sz="1200" b="0">
                <a:solidFill>
                  <a:srgbClr val="60757C"/>
                </a:solidFill>
                <a:latin typeface="Arial"/>
                <a:ea typeface="Arial"/>
                <a:cs typeface="Arial"/>
              </a:rPr>
              <a:t>23</a:t>
            </a:r>
          </a:p>
        </p:txBody>
      </p:sp>
      <p:graphicFrame>
        <p:nvGraphicFramePr>
          <p:cNvPr id="4" name="">
            <a:extLst xmlns:a="http://schemas.openxmlformats.org/drawingml/2006/main">
              <a:ext uri="{FF2B5EF4-FFF2-40B4-BE49-F238E27FC236}">
                <a16:creationId xmlns:a16="http://schemas.microsoft.com/office/drawing/2014/main" id="{D5B07267-AE12-4496-A9BA-AE28862D6CC9}"/>
              </a:ext>
            </a:extLst>
          </p:cNvPr>
          <p:cNvGraphicFramePr/>
          <p:nvPr/>
        </p:nvGraphicFramePr>
        <p:xfrm>
          <a:off xmlns:a="http://schemas.openxmlformats.org/drawingml/2006/main" x="609600" y="1809750"/>
          <a:ext xmlns:a="http://schemas.openxmlformats.org/drawingml/2006/main" cx="10972800" cy="2571750"/>
        </p:xfrm>
        <a:graphic xmlns:a="http://schemas.openxmlformats.org/drawingml/2006/main">
          <a:graphicData uri="http://schemas.openxmlformats.org/drawingml/2006/table">
            <a:tbl>
              <a:tblPr/>
              <a:tblGrid>
                <a:gridCol w="3333750"/>
                <a:gridCol w="3429000"/>
                <a:gridCol w="4210050"/>
              </a:tblGrid>
              <a:tr h="781050">
                <a:tc>
                  <a:txBody>
                    <a:bodyPr/>
                    <a:lstStyle/>
                    <a:p>
                      <a:r>
                        <a:rPr sz="1950" b="1">
                          <a:solidFill>
                            <a:srgbClr val="FFFFFF"/>
                          </a:solidFill>
                          <a:latin typeface="Arial"/>
                          <a:ea typeface="Arial"/>
                          <a:cs typeface="Arial"/>
                        </a:rPr>
                        <a:t>Diagnostic</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950" b="1">
                          <a:solidFill>
                            <a:srgbClr val="FFFFFF"/>
                          </a:solidFill>
                          <a:latin typeface="Arial"/>
                          <a:ea typeface="Arial"/>
                          <a:cs typeface="Arial"/>
                        </a:rPr>
                        <a:t>Fitted-reference tail fraction</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950" b="1">
                          <a:solidFill>
                            <a:srgbClr val="FFFFFF"/>
                          </a:solidFill>
                          <a:latin typeface="Arial"/>
                          <a:ea typeface="Arial"/>
                          <a:cs typeface="Arial"/>
                        </a:rPr>
                        <a:t>Meaning within this reference</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895350">
                <a:tc>
                  <a:txBody>
                    <a:bodyPr/>
                    <a:lstStyle/>
                    <a:p>
                      <a:r>
                        <a:rPr sz="1950">
                          <a:solidFill>
                            <a:srgbClr val="14323B"/>
                          </a:solidFill>
                          <a:latin typeface="Arial"/>
                          <a:ea typeface="Arial"/>
                          <a:cs typeface="Arial"/>
                        </a:rPr>
                        <a:t>Maximum silhouette</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950">
                          <a:solidFill>
                            <a:srgbClr val="14323B"/>
                          </a:solidFill>
                          <a:latin typeface="Arial"/>
                          <a:ea typeface="Arial"/>
                          <a:cs typeface="Arial"/>
                        </a:rPr>
                        <a:t>0.0099</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950">
                          <a:solidFill>
                            <a:srgbClr val="14323B"/>
                          </a:solidFill>
                          <a:latin typeface="Arial"/>
                          <a:ea typeface="Arial"/>
                          <a:cs typeface="Arial"/>
                        </a:rPr>
                        <a:t>More separation than the fitted copula</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895350">
                <a:tc>
                  <a:txBody>
                    <a:bodyPr/>
                    <a:lstStyle/>
                    <a:p>
                      <a:r>
                        <a:rPr sz="1950">
                          <a:solidFill>
                            <a:srgbClr val="14323B"/>
                          </a:solidFill>
                          <a:latin typeface="Arial"/>
                          <a:ea typeface="Arial"/>
                          <a:cs typeface="Arial"/>
                        </a:rPr>
                        <a:t>PC1 dip statistic</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950">
                          <a:solidFill>
                            <a:srgbClr val="14323B"/>
                          </a:solidFill>
                          <a:latin typeface="Arial"/>
                          <a:ea typeface="Arial"/>
                          <a:cs typeface="Arial"/>
                        </a:rPr>
                        <a:t>0.9901</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950">
                          <a:solidFill>
                            <a:srgbClr val="14323B"/>
                          </a:solidFill>
                          <a:latin typeface="Arial"/>
                          <a:ea typeface="Arial"/>
                          <a:cs typeface="Arial"/>
                        </a:rPr>
                        <a:t>No excess projected multimodality</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bl>
          </a:graphicData>
        </a:graphic>
      </p:graphicFrame>
      <p:sp>
        <p:nvSpPr>
          <p:cNvPr id="5" name="text">
            <a:extLst xmlns:a="http://schemas.openxmlformats.org/drawingml/2006/main">
              <a:ext uri="{FF2B5EF4-FFF2-40B4-BE49-F238E27FC236}">
                <a16:creationId xmlns:a16="http://schemas.microsoft.com/office/drawing/2014/main" id="{6B3CB7B1-D568-48D2-B09C-475712B6B77A}"/>
              </a:ext>
            </a:extLst>
          </p:cNvPr>
          <p:cNvSpPr>
            <a:spLocks xmlns:a="http://schemas.openxmlformats.org/drawingml/2006/main" noGrp="1"/>
          </p:cNvSpPr>
          <p:nvPr/>
        </p:nvSpPr>
        <p:spPr>
          <a:xfrm xmlns:a="http://schemas.openxmlformats.org/drawingml/2006/main">
            <a:off x="609600" y="4857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8C"/>
                </a:solidFill>
                <a:latin typeface="Arial"/>
                <a:ea typeface="Arial"/>
                <a:cs typeface="Arial"/>
              </a:defRPr>
            </a:defPPr>
          </a:lstStyle>
          <a:p xmlns:a="http://schemas.openxmlformats.org/drawingml/2006/main">
            <a:pPr algn="l">
              <a:defRPr sz="2475" b="1">
                <a:solidFill>
                  <a:srgbClr val="087F8C"/>
                </a:solidFill>
                <a:latin typeface="Arial"/>
                <a:ea typeface="Arial"/>
                <a:cs typeface="Arial"/>
              </a:defRPr>
            </a:pPr>
            <a:r>
              <a:rPr sz="2475" b="1">
                <a:solidFill>
                  <a:srgbClr val="087F8C"/>
                </a:solidFill>
                <a:latin typeface="Arial"/>
                <a:ea typeface="Arial"/>
                <a:cs typeface="Arial"/>
              </a:rPr>
              <a:t>1,000 patients and 100 reference simulations</a:t>
            </a:r>
          </a:p>
        </p:txBody>
      </p:sp>
      <p:sp>
        <p:nvSpPr>
          <p:cNvPr id="6" name="qualification">
            <a:extLst xmlns:a="http://schemas.openxmlformats.org/drawingml/2006/main">
              <a:ext uri="{FF2B5EF4-FFF2-40B4-BE49-F238E27FC236}">
                <a16:creationId xmlns:a16="http://schemas.microsoft.com/office/drawing/2014/main" id="{65446A96-5EBD-4991-97AF-55FFD04523B0}"/>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Descriptive calibration. Missingness masks are independent of simulated values.</a:t>
            </a:r>
          </a:p>
        </p:txBody>
      </p:sp>
    </p:spTree>
    <p:extLst>
      <p:ext uri="{BB962C8B-B14F-4D97-AF65-F5344CB8AC3E}">
        <p14:creationId xmlns:p14="http://schemas.microsoft.com/office/powerpoint/2010/main" val="61656265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5F71368-DF5E-47F1-A8C1-F454FFD7D809}"/>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The trajectory size rule selects one class</a:t>
            </a:r>
          </a:p>
        </p:txBody>
      </p:sp>
      <p:sp>
        <p:nvSpPr>
          <p:cNvPr id="2" name="slide-footer">
            <a:extLst xmlns:a="http://schemas.openxmlformats.org/drawingml/2006/main">
              <a:ext uri="{FF2B5EF4-FFF2-40B4-BE49-F238E27FC236}">
                <a16:creationId xmlns:a16="http://schemas.microsoft.com/office/drawing/2014/main" id="{E56A587B-84B5-4F5C-9D97-FBA58FC902BC}"/>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Examiner reference</a:t>
            </a:r>
          </a:p>
        </p:txBody>
      </p:sp>
      <p:sp>
        <p:nvSpPr>
          <p:cNvPr id="3" name="slide-number">
            <a:extLst xmlns:a="http://schemas.openxmlformats.org/drawingml/2006/main">
              <a:ext uri="{FF2B5EF4-FFF2-40B4-BE49-F238E27FC236}">
                <a16:creationId xmlns:a16="http://schemas.microsoft.com/office/drawing/2014/main" id="{354D4A5A-8451-4743-A7BF-039444FD7F5A}"/>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57C"/>
                </a:solidFill>
                <a:latin typeface="Arial"/>
                <a:ea typeface="Arial"/>
                <a:cs typeface="Arial"/>
              </a:defRPr>
            </a:defPPr>
          </a:lstStyle>
          <a:p xmlns:a="http://schemas.openxmlformats.org/drawingml/2006/main">
            <a:pPr algn="r">
              <a:defRPr sz="1200" b="0">
                <a:solidFill>
                  <a:srgbClr val="60757C"/>
                </a:solidFill>
                <a:latin typeface="Arial"/>
                <a:ea typeface="Arial"/>
                <a:cs typeface="Arial"/>
              </a:defRPr>
            </a:pPr>
            <a:r>
              <a:rPr sz="1200" b="0">
                <a:solidFill>
                  <a:srgbClr val="60757C"/>
                </a:solidFill>
                <a:latin typeface="Arial"/>
                <a:ea typeface="Arial"/>
                <a:cs typeface="Arial"/>
              </a:rPr>
              <a:t>24</a:t>
            </a:r>
          </a:p>
        </p:txBody>
      </p:sp>
      <p:graphicFrame>
        <p:nvGraphicFramePr>
          <p:cNvPr id="4" name="">
            <a:extLst xmlns:a="http://schemas.openxmlformats.org/drawingml/2006/main">
              <a:ext uri="{FF2B5EF4-FFF2-40B4-BE49-F238E27FC236}">
                <a16:creationId xmlns:a16="http://schemas.microsoft.com/office/drawing/2014/main" id="{6AA1BDAA-927E-4FE7-B337-101597ACE61D}"/>
              </a:ext>
            </a:extLst>
          </p:cNvPr>
          <p:cNvGraphicFramePr/>
          <p:nvPr/>
        </p:nvGraphicFramePr>
        <p:xfrm>
          <a:off xmlns:a="http://schemas.openxmlformats.org/drawingml/2006/main" x="609600" y="1619250"/>
          <a:ext xmlns:a="http://schemas.openxmlformats.org/drawingml/2006/main" cx="10972800" cy="3238500"/>
        </p:xfrm>
        <a:graphic xmlns:a="http://schemas.openxmlformats.org/drawingml/2006/main">
          <a:graphicData uri="http://schemas.openxmlformats.org/drawingml/2006/table">
            <a:tbl>
              <a:tblPr/>
              <a:tblGrid>
                <a:gridCol w="1428750"/>
                <a:gridCol w="2571750"/>
                <a:gridCol w="3333750"/>
                <a:gridCol w="3638550"/>
              </a:tblGrid>
              <a:tr h="723900">
                <a:tc>
                  <a:txBody>
                    <a:bodyPr/>
                    <a:lstStyle/>
                    <a:p>
                      <a:r>
                        <a:rPr sz="1875" b="1">
                          <a:solidFill>
                            <a:srgbClr val="FFFFFF"/>
                          </a:solidFill>
                          <a:latin typeface="Arial"/>
                          <a:ea typeface="Arial"/>
                          <a:cs typeface="Arial"/>
                        </a:rPr>
                        <a:t>Classes</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75" b="1">
                          <a:solidFill>
                            <a:srgbClr val="FFFFFF"/>
                          </a:solidFill>
                          <a:latin typeface="Arial"/>
                          <a:ea typeface="Arial"/>
                          <a:cs typeface="Arial"/>
                        </a:rPr>
                        <a:t>BIC</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75" b="1">
                          <a:solidFill>
                            <a:srgbClr val="FFFFFF"/>
                          </a:solidFill>
                          <a:latin typeface="Arial"/>
                          <a:ea typeface="Arial"/>
                          <a:cs typeface="Arial"/>
                        </a:rPr>
                        <a:t>Validation log likelihood</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75" b="1">
                          <a:solidFill>
                            <a:srgbClr val="FFFFFF"/>
                          </a:solidFill>
                          <a:latin typeface="Arial"/>
                          <a:ea typeface="Arial"/>
                          <a:cs typeface="Arial"/>
                        </a:rPr>
                        <a:t>Smallest expected class</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628650">
                <a:tc>
                  <a:txBody>
                    <a:bodyPr/>
                    <a:lstStyle/>
                    <a:p>
                      <a:r>
                        <a:rPr sz="1875">
                          <a:solidFill>
                            <a:srgbClr val="14323B"/>
                          </a:solidFill>
                          <a:latin typeface="Arial"/>
                          <a:ea typeface="Arial"/>
                          <a:cs typeface="Arial"/>
                        </a:rPr>
                        <a:t>1</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8376.3</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-2.598</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100.0%</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628650">
                <a:tc>
                  <a:txBody>
                    <a:bodyPr/>
                    <a:lstStyle/>
                    <a:p>
                      <a:r>
                        <a:rPr sz="1875">
                          <a:solidFill>
                            <a:srgbClr val="14323B"/>
                          </a:solidFill>
                          <a:latin typeface="Arial"/>
                          <a:ea typeface="Arial"/>
                          <a:cs typeface="Arial"/>
                        </a:rPr>
                        <a:t>2</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7572.2</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-2.403</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3.9%</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628650">
                <a:tc>
                  <a:txBody>
                    <a:bodyPr/>
                    <a:lstStyle/>
                    <a:p>
                      <a:r>
                        <a:rPr sz="1875">
                          <a:solidFill>
                            <a:srgbClr val="14323B"/>
                          </a:solidFill>
                          <a:latin typeface="Arial"/>
                          <a:ea typeface="Arial"/>
                          <a:cs typeface="Arial"/>
                        </a:rPr>
                        <a:t>3</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6806.0</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-2.290</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75">
                          <a:solidFill>
                            <a:srgbClr val="14323B"/>
                          </a:solidFill>
                          <a:latin typeface="Arial"/>
                          <a:ea typeface="Arial"/>
                          <a:cs typeface="Arial"/>
                        </a:rPr>
                        <a:t>2.7%</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628650">
                <a:tc>
                  <a:txBody>
                    <a:bodyPr/>
                    <a:lstStyle/>
                    <a:p>
                      <a:r>
                        <a:rPr sz="1875">
                          <a:solidFill>
                            <a:srgbClr val="14323B"/>
                          </a:solidFill>
                          <a:latin typeface="Arial"/>
                          <a:ea typeface="Arial"/>
                          <a:cs typeface="Arial"/>
                        </a:rPr>
                        <a:t>4</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6465.5</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-2.212</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75">
                          <a:solidFill>
                            <a:srgbClr val="14323B"/>
                          </a:solidFill>
                          <a:latin typeface="Arial"/>
                          <a:ea typeface="Arial"/>
                          <a:cs typeface="Arial"/>
                        </a:rPr>
                        <a:t>1.3%</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bl>
          </a:graphicData>
        </a:graphic>
      </p:graphicFrame>
      <p:sp>
        <p:nvSpPr>
          <p:cNvPr id="5" name="text">
            <a:extLst xmlns:a="http://schemas.openxmlformats.org/drawingml/2006/main">
              <a:ext uri="{FF2B5EF4-FFF2-40B4-BE49-F238E27FC236}">
                <a16:creationId xmlns:a16="http://schemas.microsoft.com/office/drawing/2014/main" id="{19AA0AA5-7328-461A-BABC-3C49F59EC54E}"/>
              </a:ext>
            </a:extLst>
          </p:cNvPr>
          <p:cNvSpPr>
            <a:spLocks xmlns:a="http://schemas.openxmlformats.org/drawingml/2006/main" noGrp="1"/>
          </p:cNvSpPr>
          <p:nvPr/>
        </p:nvSpPr>
        <p:spPr>
          <a:xfrm xmlns:a="http://schemas.openxmlformats.org/drawingml/2006/main">
            <a:off x="609600" y="5238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C"/>
                </a:solidFill>
                <a:latin typeface="Arial"/>
                <a:ea typeface="Arial"/>
                <a:cs typeface="Arial"/>
              </a:defRPr>
            </a:defPPr>
          </a:lstStyle>
          <a:p xmlns:a="http://schemas.openxmlformats.org/drawingml/2006/main">
            <a:pPr algn="l">
              <a:defRPr sz="2250" b="1">
                <a:solidFill>
                  <a:srgbClr val="087F8C"/>
                </a:solidFill>
                <a:latin typeface="Arial"/>
                <a:ea typeface="Arial"/>
                <a:cs typeface="Arial"/>
              </a:defRPr>
            </a:pPr>
            <a:r>
              <a:rPr sz="2250" b="1">
                <a:solidFill>
                  <a:srgbClr val="087F8C"/>
                </a:solidFill>
                <a:latin typeface="Arial"/>
                <a:ea typeface="Arial"/>
                <a:cs typeface="Arial"/>
              </a:rPr>
              <a:t>2,013 patients: 1,590 discovery and 423 validation</a:t>
            </a:r>
          </a:p>
        </p:txBody>
      </p:sp>
      <p:sp>
        <p:nvSpPr>
          <p:cNvPr id="6" name="qualification">
            <a:extLst xmlns:a="http://schemas.openxmlformats.org/drawingml/2006/main">
              <a:ext uri="{FF2B5EF4-FFF2-40B4-BE49-F238E27FC236}">
                <a16:creationId xmlns:a16="http://schemas.microsoft.com/office/drawing/2014/main" id="{5C6C6732-9609-4166-BCFF-FDA776336E44}"/>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Every class must contain at least 5% expected discovery membership. Nonlinear change remains open.</a:t>
            </a:r>
          </a:p>
        </p:txBody>
      </p:sp>
    </p:spTree>
    <p:extLst>
      <p:ext uri="{BB962C8B-B14F-4D97-AF65-F5344CB8AC3E}">
        <p14:creationId xmlns:p14="http://schemas.microsoft.com/office/powerpoint/2010/main" val="6155468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5049D2A-59FA-4DE0-A2F9-08DF5D6FE3B0}"/>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Preprocessing sensitivity at fixed three-group k-means</a:t>
            </a:r>
          </a:p>
        </p:txBody>
      </p:sp>
      <p:sp>
        <p:nvSpPr>
          <p:cNvPr id="2" name="slide-footer">
            <a:extLst xmlns:a="http://schemas.openxmlformats.org/drawingml/2006/main">
              <a:ext uri="{FF2B5EF4-FFF2-40B4-BE49-F238E27FC236}">
                <a16:creationId xmlns:a16="http://schemas.microsoft.com/office/drawing/2014/main" id="{89C2E161-4D21-4125-986B-6552C698C21A}"/>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Examiner reference</a:t>
            </a:r>
          </a:p>
        </p:txBody>
      </p:sp>
      <p:sp>
        <p:nvSpPr>
          <p:cNvPr id="3" name="slide-number">
            <a:extLst xmlns:a="http://schemas.openxmlformats.org/drawingml/2006/main">
              <a:ext uri="{FF2B5EF4-FFF2-40B4-BE49-F238E27FC236}">
                <a16:creationId xmlns:a16="http://schemas.microsoft.com/office/drawing/2014/main" id="{B560B755-17A8-43D9-B819-A0BEDCDA00E3}"/>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57C"/>
                </a:solidFill>
                <a:latin typeface="Arial"/>
                <a:ea typeface="Arial"/>
                <a:cs typeface="Arial"/>
              </a:defRPr>
            </a:defPPr>
          </a:lstStyle>
          <a:p xmlns:a="http://schemas.openxmlformats.org/drawingml/2006/main">
            <a:pPr algn="r">
              <a:defRPr sz="1200" b="0">
                <a:solidFill>
                  <a:srgbClr val="60757C"/>
                </a:solidFill>
                <a:latin typeface="Arial"/>
                <a:ea typeface="Arial"/>
                <a:cs typeface="Arial"/>
              </a:defRPr>
            </a:pPr>
            <a:r>
              <a:rPr sz="1200" b="0">
                <a:solidFill>
                  <a:srgbClr val="60757C"/>
                </a:solidFill>
                <a:latin typeface="Arial"/>
                <a:ea typeface="Arial"/>
                <a:cs typeface="Arial"/>
              </a:rPr>
              <a:t>25</a:t>
            </a:r>
          </a:p>
        </p:txBody>
      </p:sp>
      <p:graphicFrame>
        <p:nvGraphicFramePr>
          <p:cNvPr id="4" name="">
            <a:extLst xmlns:a="http://schemas.openxmlformats.org/drawingml/2006/main">
              <a:ext uri="{FF2B5EF4-FFF2-40B4-BE49-F238E27FC236}">
                <a16:creationId xmlns:a16="http://schemas.microsoft.com/office/drawing/2014/main" id="{ACBE1FA0-A879-4E7A-8C9B-50030CD59491}"/>
              </a:ext>
            </a:extLst>
          </p:cNvPr>
          <p:cNvGraphicFramePr/>
          <p:nvPr/>
        </p:nvGraphicFramePr>
        <p:xfrm>
          <a:off xmlns:a="http://schemas.openxmlformats.org/drawingml/2006/main" x="609600" y="1571625"/>
          <a:ext xmlns:a="http://schemas.openxmlformats.org/drawingml/2006/main" cx="10972800" cy="4095750"/>
        </p:xfrm>
        <a:graphic xmlns:a="http://schemas.openxmlformats.org/drawingml/2006/main">
          <a:graphicData uri="http://schemas.openxmlformats.org/drawingml/2006/table">
            <a:tbl>
              <a:tblPr/>
              <a:tblGrid>
                <a:gridCol w="5810250"/>
                <a:gridCol w="2286000"/>
                <a:gridCol w="2876550"/>
              </a:tblGrid>
              <a:tr h="585107">
                <a:tc>
                  <a:txBody>
                    <a:bodyPr/>
                    <a:lstStyle/>
                    <a:p>
                      <a:r>
                        <a:rPr sz="1800" b="1">
                          <a:solidFill>
                            <a:srgbClr val="FFFFFF"/>
                          </a:solidFill>
                          <a:latin typeface="Arial"/>
                          <a:ea typeface="Arial"/>
                          <a:cs typeface="Arial"/>
                        </a:rPr>
                        <a:t>Change from reference</a:t>
                      </a:r>
                    </a:p>
                  </a:txBody>
                  <a:tcPr marL="133350" marR="133350" marT="114300" marB="114300" anchor="ctr">
                    <a:lnL w="9525">
                      <a:solidFill>
                        <a:srgbClr val="E5ECEE"/>
                      </a:solidFill>
                      <a:prstDash val="solid"/>
                    </a:lnL>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Validation patients</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c>
                  <a:txBody>
                    <a:bodyPr/>
                    <a:lstStyle/>
                    <a:p>
                      <a:r>
                        <a:rPr sz="1800" b="1">
                          <a:solidFill>
                            <a:srgbClr val="FFFFFF"/>
                          </a:solidFill>
                          <a:latin typeface="Arial"/>
                          <a:ea typeface="Arial"/>
                          <a:cs typeface="Arial"/>
                        </a:rPr>
                        <a:t>ARI versus reference</a:t>
                      </a:r>
                    </a:p>
                  </a:txBody>
                  <a:tcPr marL="133350" marR="133350" marT="114300" marB="114300" anchor="ctr">
                    <a:lnR w="9525">
                      <a:solidFill>
                        <a:srgbClr val="E5ECEE"/>
                      </a:solidFill>
                      <a:prstDash val="solid"/>
                    </a:lnR>
                    <a:lnT w="9525">
                      <a:solidFill>
                        <a:srgbClr val="E5ECEE"/>
                      </a:solidFill>
                      <a:prstDash val="solid"/>
                    </a:lnT>
                    <a:lnB w="9525">
                      <a:solidFill>
                        <a:srgbClr val="E5ECEE"/>
                      </a:solidFill>
                      <a:prstDash val="solid"/>
                    </a:lnB>
                    <a:solidFill>
                      <a:srgbClr val="14323B"/>
                    </a:solidFill>
                  </a:tcPr>
                </a:tc>
              </a:tr>
              <a:tr h="585107">
                <a:tc>
                  <a:txBody>
                    <a:bodyPr/>
                    <a:lstStyle/>
                    <a:p>
                      <a:r>
                        <a:rPr sz="1800">
                          <a:solidFill>
                            <a:srgbClr val="14323B"/>
                          </a:solidFill>
                          <a:latin typeface="Arial"/>
                          <a:ea typeface="Arial"/>
                          <a:cs typeface="Arial"/>
                        </a:rPr>
                        <a:t>Mean imputation</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1,457</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0.921</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585107">
                <a:tc>
                  <a:txBody>
                    <a:bodyPr/>
                    <a:lstStyle/>
                    <a:p>
                      <a:r>
                        <a:rPr sz="1800">
                          <a:solidFill>
                            <a:srgbClr val="14323B"/>
                          </a:solidFill>
                          <a:latin typeface="Arial"/>
                          <a:ea typeface="Arial"/>
                          <a:cs typeface="Arial"/>
                        </a:rPr>
                        <a:t>KNN imputation</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1,457</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0.538</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585107">
                <a:tc>
                  <a:txBody>
                    <a:bodyPr/>
                    <a:lstStyle/>
                    <a:p>
                      <a:r>
                        <a:rPr sz="1800">
                          <a:solidFill>
                            <a:srgbClr val="14323B"/>
                          </a:solidFill>
                          <a:latin typeface="Arial"/>
                          <a:ea typeface="Arial"/>
                          <a:cs typeface="Arial"/>
                        </a:rPr>
                        <a:t>At least 7 observed tests</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1,339</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0.903</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585107">
                <a:tc>
                  <a:txBody>
                    <a:bodyPr/>
                    <a:lstStyle/>
                    <a:p>
                      <a:r>
                        <a:rPr sz="1800">
                          <a:solidFill>
                            <a:srgbClr val="14323B"/>
                          </a:solidFill>
                          <a:latin typeface="Arial"/>
                          <a:ea typeface="Arial"/>
                          <a:cs typeface="Arial"/>
                        </a:rPr>
                        <a:t>No clipping</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1,457</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0.958</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r h="585107">
                <a:tc>
                  <a:txBody>
                    <a:bodyPr/>
                    <a:lstStyle/>
                    <a:p>
                      <a:r>
                        <a:rPr sz="1800">
                          <a:solidFill>
                            <a:srgbClr val="14323B"/>
                          </a:solidFill>
                          <a:latin typeface="Arial"/>
                          <a:ea typeface="Arial"/>
                          <a:cs typeface="Arial"/>
                        </a:rPr>
                        <a:t>50-iteration imputation limit</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1,457</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c>
                  <a:txBody>
                    <a:bodyPr/>
                    <a:lstStyle/>
                    <a:p>
                      <a:r>
                        <a:rPr sz="1800">
                          <a:solidFill>
                            <a:srgbClr val="14323B"/>
                          </a:solidFill>
                          <a:latin typeface="Arial"/>
                          <a:ea typeface="Arial"/>
                          <a:cs typeface="Arial"/>
                        </a:rPr>
                        <a:t>1.000</a:t>
                      </a:r>
                    </a:p>
                  </a:txBody>
                  <a:tcPr marL="133350" marR="133350" marT="114300" marB="114300" anchor="ctr">
                    <a:lnR w="9525">
                      <a:solidFill>
                        <a:srgbClr val="E5ECEE"/>
                      </a:solidFill>
                      <a:prstDash val="solid"/>
                    </a:lnR>
                    <a:lnB w="9525">
                      <a:solidFill>
                        <a:srgbClr val="E5ECEE"/>
                      </a:solidFill>
                      <a:prstDash val="solid"/>
                    </a:lnB>
                    <a:solidFill>
                      <a:srgbClr val="FFFFFF"/>
                    </a:solidFill>
                  </a:tcPr>
                </a:tc>
              </a:tr>
              <a:tr h="585107">
                <a:tc>
                  <a:txBody>
                    <a:bodyPr/>
                    <a:lstStyle/>
                    <a:p>
                      <a:r>
                        <a:rPr sz="1800">
                          <a:solidFill>
                            <a:srgbClr val="14323B"/>
                          </a:solidFill>
                          <a:latin typeface="Arial"/>
                          <a:ea typeface="Arial"/>
                          <a:cs typeface="Arial"/>
                        </a:rPr>
                        <a:t>Independent validation clustering</a:t>
                      </a:r>
                    </a:p>
                  </a:txBody>
                  <a:tcPr marL="133350" marR="133350" marT="114300" marB="114300" anchor="ctr">
                    <a:lnL w="9525">
                      <a:solidFill>
                        <a:srgbClr val="E5ECEE"/>
                      </a:solidFill>
                      <a:prstDash val="solid"/>
                    </a:lnL>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1,457</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c>
                  <a:txBody>
                    <a:bodyPr/>
                    <a:lstStyle/>
                    <a:p>
                      <a:r>
                        <a:rPr sz="1800">
                          <a:solidFill>
                            <a:srgbClr val="14323B"/>
                          </a:solidFill>
                          <a:latin typeface="Arial"/>
                          <a:ea typeface="Arial"/>
                          <a:cs typeface="Arial"/>
                        </a:rPr>
                        <a:t>0.895</a:t>
                      </a:r>
                    </a:p>
                  </a:txBody>
                  <a:tcPr marL="133350" marR="133350" marT="114300" marB="114300" anchor="ctr">
                    <a:lnR w="9525">
                      <a:solidFill>
                        <a:srgbClr val="E5ECEE"/>
                      </a:solidFill>
                      <a:prstDash val="solid"/>
                    </a:lnR>
                    <a:lnB w="9525">
                      <a:solidFill>
                        <a:srgbClr val="E5ECEE"/>
                      </a:solidFill>
                      <a:prstDash val="solid"/>
                    </a:lnB>
                    <a:solidFill>
                      <a:srgbClr val="F5F8F8"/>
                    </a:solidFill>
                  </a:tcPr>
                </a:tc>
              </a:tr>
            </a:tbl>
          </a:graphicData>
        </a:graphic>
      </p:graphicFrame>
      <p:sp>
        <p:nvSpPr>
          <p:cNvPr id="5" name="qualification">
            <a:extLst xmlns:a="http://schemas.openxmlformats.org/drawingml/2006/main">
              <a:ext uri="{FF2B5EF4-FFF2-40B4-BE49-F238E27FC236}">
                <a16:creationId xmlns:a16="http://schemas.microsoft.com/office/drawing/2014/main" id="{5F8A8572-193F-4B1C-B35E-DF0E37CD3370}"/>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The final row measures partition agreement under a frozen transformation, not predictive accuracy.</a:t>
            </a:r>
          </a:p>
        </p:txBody>
      </p:sp>
    </p:spTree>
    <p:extLst>
      <p:ext uri="{BB962C8B-B14F-4D97-AF65-F5344CB8AC3E}">
        <p14:creationId xmlns:p14="http://schemas.microsoft.com/office/powerpoint/2010/main" val="100955019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FC4614C-5D90-4A07-8486-EA256DF267FD}"/>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Algorithms and missing-data assumptions</a:t>
            </a:r>
          </a:p>
        </p:txBody>
      </p:sp>
      <p:sp>
        <p:nvSpPr>
          <p:cNvPr id="2" name="slide-footer">
            <a:extLst xmlns:a="http://schemas.openxmlformats.org/drawingml/2006/main">
              <a:ext uri="{FF2B5EF4-FFF2-40B4-BE49-F238E27FC236}">
                <a16:creationId xmlns:a16="http://schemas.microsoft.com/office/drawing/2014/main" id="{711C5BEF-98AC-4BCF-A810-3899EA71D452}"/>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Examiner reference</a:t>
            </a:r>
          </a:p>
        </p:txBody>
      </p:sp>
      <p:sp>
        <p:nvSpPr>
          <p:cNvPr id="3" name="slide-number">
            <a:extLst xmlns:a="http://schemas.openxmlformats.org/drawingml/2006/main">
              <a:ext uri="{FF2B5EF4-FFF2-40B4-BE49-F238E27FC236}">
                <a16:creationId xmlns:a16="http://schemas.microsoft.com/office/drawing/2014/main" id="{C45F7BC7-CBDB-4FC1-893B-862B7EAECA69}"/>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57C"/>
                </a:solidFill>
                <a:latin typeface="Arial"/>
                <a:ea typeface="Arial"/>
                <a:cs typeface="Arial"/>
              </a:defRPr>
            </a:defPPr>
          </a:lstStyle>
          <a:p xmlns:a="http://schemas.openxmlformats.org/drawingml/2006/main">
            <a:pPr algn="r">
              <a:defRPr sz="1200" b="0">
                <a:solidFill>
                  <a:srgbClr val="60757C"/>
                </a:solidFill>
                <a:latin typeface="Arial"/>
                <a:ea typeface="Arial"/>
                <a:cs typeface="Arial"/>
              </a:defRPr>
            </a:pPr>
            <a:r>
              <a:rPr sz="1200" b="0">
                <a:solidFill>
                  <a:srgbClr val="60757C"/>
                </a:solidFill>
                <a:latin typeface="Arial"/>
                <a:ea typeface="Arial"/>
                <a:cs typeface="Arial"/>
              </a:rPr>
              <a:t>26</a:t>
            </a:r>
          </a:p>
        </p:txBody>
      </p:sp>
      <p:sp>
        <p:nvSpPr>
          <p:cNvPr id="4" name="section-label">
            <a:extLst xmlns:a="http://schemas.openxmlformats.org/drawingml/2006/main">
              <a:ext uri="{FF2B5EF4-FFF2-40B4-BE49-F238E27FC236}">
                <a16:creationId xmlns:a16="http://schemas.microsoft.com/office/drawing/2014/main" id="{5D9A23CA-205C-4628-AD66-73B029B960E7}"/>
              </a:ext>
            </a:extLst>
          </p:cNvPr>
          <p:cNvSpPr>
            <a:spLocks xmlns:a="http://schemas.openxmlformats.org/drawingml/2006/main" noGrp="1"/>
          </p:cNvSpPr>
          <p:nvPr/>
        </p:nvSpPr>
        <p:spPr>
          <a:xfrm xmlns:a="http://schemas.openxmlformats.org/drawingml/2006/main">
            <a:off x="609600" y="16192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Historical imputation comparison</a:t>
            </a:r>
          </a:p>
        </p:txBody>
      </p:sp>
      <p:sp>
        <p:nvSpPr>
          <p:cNvPr id="5" name="text">
            <a:extLst xmlns:a="http://schemas.openxmlformats.org/drawingml/2006/main">
              <a:ext uri="{FF2B5EF4-FFF2-40B4-BE49-F238E27FC236}">
                <a16:creationId xmlns:a16="http://schemas.microsoft.com/office/drawing/2014/main" id="{CCEE0A2A-19B1-4C4D-A23A-FF09EC62AAB6}"/>
              </a:ext>
            </a:extLst>
          </p:cNvPr>
          <p:cNvSpPr>
            <a:spLocks xmlns:a="http://schemas.openxmlformats.org/drawingml/2006/main" noGrp="1"/>
          </p:cNvSpPr>
          <p:nvPr/>
        </p:nvSpPr>
        <p:spPr>
          <a:xfrm xmlns:a="http://schemas.openxmlformats.org/drawingml/2006/main">
            <a:off x="609600" y="21431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323B"/>
                </a:solidFill>
                <a:latin typeface="Arial"/>
                <a:ea typeface="Arial"/>
                <a:cs typeface="Arial"/>
              </a:defRPr>
            </a:defPPr>
          </a:lstStyle>
          <a:p xmlns:a="http://schemas.openxmlformats.org/drawingml/2006/main">
            <a:pPr algn="l">
              <a:defRPr sz="2175" b="0">
                <a:solidFill>
                  <a:srgbClr val="14323B"/>
                </a:solidFill>
                <a:latin typeface="Arial"/>
                <a:ea typeface="Arial"/>
                <a:cs typeface="Arial"/>
              </a:defRPr>
            </a:pPr>
            <a:r>
              <a:rPr sz="2175" b="0">
                <a:solidFill>
                  <a:srgbClr val="14323B"/>
                </a:solidFill>
                <a:latin typeface="Arial"/>
                <a:ea typeface="Arial"/>
                <a:cs typeface="Arial"/>
              </a:rPr>
              <a:t>Mean, EM, MICE, KNN, MissForest, PMM, SoftImpute,</a:t>
            </a:r>
          </a:p>
          <a:p xmlns:a="http://schemas.openxmlformats.org/drawingml/2006/main">
            <a:pPr algn="l">
              <a:defRPr sz="2175" b="0">
                <a:solidFill>
                  <a:srgbClr val="14323B"/>
                </a:solidFill>
                <a:latin typeface="Arial"/>
                <a:ea typeface="Arial"/>
                <a:cs typeface="Arial"/>
              </a:defRPr>
            </a:pPr>
            <a:r>
              <a:rPr sz="2175" b="0">
                <a:solidFill>
                  <a:srgbClr val="14323B"/>
                </a:solidFill>
                <a:latin typeface="Arial"/>
                <a:ea typeface="Arial"/>
                <a:cs typeface="Arial"/>
              </a:rPr>
              <a:t>NMF, denoising autoencoder and variational autoencoder</a:t>
            </a:r>
          </a:p>
        </p:txBody>
      </p:sp>
      <p:sp>
        <p:nvSpPr>
          <p:cNvPr id="6" name="section-label">
            <a:extLst xmlns:a="http://schemas.openxmlformats.org/drawingml/2006/main">
              <a:ext uri="{FF2B5EF4-FFF2-40B4-BE49-F238E27FC236}">
                <a16:creationId xmlns:a16="http://schemas.microsoft.com/office/drawing/2014/main" id="{1C5B1215-110F-4C4D-9F25-042ADAD7DAE8}"/>
              </a:ext>
            </a:extLst>
          </p:cNvPr>
          <p:cNvSpPr>
            <a:spLocks xmlns:a="http://schemas.openxmlformats.org/drawingml/2006/main" noGrp="1"/>
          </p:cNvSpPr>
          <p:nvPr/>
        </p:nvSpPr>
        <p:spPr>
          <a:xfrm xmlns:a="http://schemas.openxmlformats.org/drawingml/2006/main">
            <a:off x="609600" y="35718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Historical discovery settings</a:t>
            </a:r>
          </a:p>
        </p:txBody>
      </p:sp>
      <p:sp>
        <p:nvSpPr>
          <p:cNvPr id="7" name="text">
            <a:extLst xmlns:a="http://schemas.openxmlformats.org/drawingml/2006/main">
              <a:ext uri="{FF2B5EF4-FFF2-40B4-BE49-F238E27FC236}">
                <a16:creationId xmlns:a16="http://schemas.microsoft.com/office/drawing/2014/main" id="{BD466D58-A425-47B3-A866-BC81B36A9DE1}"/>
              </a:ext>
            </a:extLst>
          </p:cNvPr>
          <p:cNvSpPr>
            <a:spLocks xmlns:a="http://schemas.openxmlformats.org/drawingml/2006/main" noGrp="1"/>
          </p:cNvSpPr>
          <p:nvPr/>
        </p:nvSpPr>
        <p:spPr>
          <a:xfrm xmlns:a="http://schemas.openxmlformats.org/drawingml/2006/main">
            <a:off x="609600" y="40957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323B"/>
                </a:solidFill>
                <a:latin typeface="Arial"/>
                <a:ea typeface="Arial"/>
                <a:cs typeface="Arial"/>
              </a:defRPr>
            </a:defPPr>
          </a:lstStyle>
          <a:p xmlns:a="http://schemas.openxmlformats.org/drawingml/2006/main">
            <a:pPr algn="l">
              <a:defRPr sz="2175" b="0">
                <a:solidFill>
                  <a:srgbClr val="14323B"/>
                </a:solidFill>
                <a:latin typeface="Arial"/>
                <a:ea typeface="Arial"/>
                <a:cs typeface="Arial"/>
              </a:defRPr>
            </a:pPr>
            <a:r>
              <a:rPr sz="2175" b="0">
                <a:solidFill>
                  <a:srgbClr val="14323B"/>
                </a:solidFill>
                <a:latin typeface="Arial"/>
                <a:ea typeface="Arial"/>
                <a:cs typeface="Arial"/>
              </a:rPr>
              <a:t>UMAP: 8 dimensions, 15 neighbours, min_dist = 0</a:t>
            </a:r>
          </a:p>
          <a:p xmlns:a="http://schemas.openxmlformats.org/drawingml/2006/main">
            <a:pPr algn="l">
              <a:defRPr sz="2175" b="0">
                <a:solidFill>
                  <a:srgbClr val="14323B"/>
                </a:solidFill>
                <a:latin typeface="Arial"/>
                <a:ea typeface="Arial"/>
                <a:cs typeface="Arial"/>
              </a:defRPr>
            </a:pPr>
            <a:r>
              <a:rPr sz="2175" b="0">
                <a:solidFill>
                  <a:srgbClr val="14323B"/>
                </a:solidFill>
                <a:latin typeface="Arial"/>
                <a:ea typeface="Arial"/>
                <a:cs typeface="Arial"/>
              </a:rPr>
              <a:t>HDBSCAN: minimum cluster size 1,000 and min_samples = 50</a:t>
            </a:r>
          </a:p>
        </p:txBody>
      </p:sp>
      <p:sp>
        <p:nvSpPr>
          <p:cNvPr id="8" name="qualification">
            <a:extLst xmlns:a="http://schemas.openxmlformats.org/drawingml/2006/main">
              <a:ext uri="{FF2B5EF4-FFF2-40B4-BE49-F238E27FC236}">
                <a16:creationId xmlns:a16="http://schemas.microsoft.com/office/drawing/2014/main" id="{5F830369-EF69-4E96-AE69-6424BA51786A}"/>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The patient extension uses a separate bounded Bayesian imputer. MAR/MNAR uncertainty remains.</a:t>
            </a:r>
          </a:p>
        </p:txBody>
      </p:sp>
    </p:spTree>
    <p:extLst>
      <p:ext uri="{BB962C8B-B14F-4D97-AF65-F5344CB8AC3E}">
        <p14:creationId xmlns:p14="http://schemas.microsoft.com/office/powerpoint/2010/main" val="10738395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E4CDD5F-7A35-437C-99F5-269E79062321}"/>
              </a:ext>
            </a:extLst>
          </p:cNvPr>
          <p:cNvSpPr>
            <a:spLocks xmlns:a="http://schemas.openxmlformats.org/drawingml/2006/main" noGrp="1"/>
          </p:cNvSpPr>
          <p:nvPr/>
        </p:nvSpPr>
        <p:spPr>
          <a:xfrm xmlns:a="http://schemas.openxmlformats.org/drawingml/2006/main">
            <a:off x="609600" y="4381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3B"/>
                </a:solidFill>
                <a:latin typeface="Arial"/>
                <a:ea typeface="Arial"/>
                <a:cs typeface="Arial"/>
              </a:defRPr>
            </a:defPPr>
          </a:lstStyle>
          <a:p xmlns:a="http://schemas.openxmlformats.org/drawingml/2006/main">
            <a:pPr algn="l">
              <a:defRPr sz="3300" b="1">
                <a:solidFill>
                  <a:srgbClr val="14323B"/>
                </a:solidFill>
                <a:latin typeface="Arial"/>
                <a:ea typeface="Arial"/>
                <a:cs typeface="Arial"/>
              </a:defRPr>
            </a:pPr>
            <a:r>
              <a:rPr sz="3300" b="1">
                <a:solidFill>
                  <a:srgbClr val="14323B"/>
                </a:solidFill>
                <a:latin typeface="Arial"/>
                <a:ea typeface="Arial"/>
                <a:cs typeface="Arial"/>
              </a:rPr>
              <a:t>Clinical association and practical value</a:t>
            </a:r>
          </a:p>
        </p:txBody>
      </p:sp>
      <p:sp>
        <p:nvSpPr>
          <p:cNvPr id="2" name="slide-footer">
            <a:extLst xmlns:a="http://schemas.openxmlformats.org/drawingml/2006/main">
              <a:ext uri="{FF2B5EF4-FFF2-40B4-BE49-F238E27FC236}">
                <a16:creationId xmlns:a16="http://schemas.microsoft.com/office/drawing/2014/main" id="{18F3E076-AF80-4060-B24F-C0604AD85E44}"/>
              </a:ext>
            </a:extLst>
          </p:cNvPr>
          <p:cNvSpPr>
            <a:spLocks xmlns:a="http://schemas.openxmlformats.org/drawingml/2006/main" noGrp="1"/>
          </p:cNvSpPr>
          <p:nvPr/>
        </p:nvSpPr>
        <p:spPr>
          <a:xfrm xmlns:a="http://schemas.openxmlformats.org/drawingml/2006/main">
            <a:off x="609600" y="6429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57C"/>
                </a:solidFill>
                <a:latin typeface="Arial"/>
                <a:ea typeface="Arial"/>
                <a:cs typeface="Arial"/>
              </a:defRPr>
            </a:defPPr>
          </a:lstStyle>
          <a:p xmlns:a="http://schemas.openxmlformats.org/drawingml/2006/main">
            <a:pPr algn="l">
              <a:defRPr sz="1200" b="0">
                <a:solidFill>
                  <a:srgbClr val="60757C"/>
                </a:solidFill>
                <a:latin typeface="Arial"/>
                <a:ea typeface="Arial"/>
                <a:cs typeface="Arial"/>
              </a:defRPr>
            </a:pPr>
            <a:r>
              <a:rPr sz="1200" b="0">
                <a:solidFill>
                  <a:srgbClr val="60757C"/>
                </a:solidFill>
                <a:latin typeface="Arial"/>
                <a:ea typeface="Arial"/>
                <a:cs typeface="Arial"/>
              </a:rPr>
              <a:t>Examiner reference</a:t>
            </a:r>
          </a:p>
        </p:txBody>
      </p:sp>
      <p:sp>
        <p:nvSpPr>
          <p:cNvPr id="3" name="slide-number">
            <a:extLst xmlns:a="http://schemas.openxmlformats.org/drawingml/2006/main">
              <a:ext uri="{FF2B5EF4-FFF2-40B4-BE49-F238E27FC236}">
                <a16:creationId xmlns:a16="http://schemas.microsoft.com/office/drawing/2014/main" id="{EA705D34-EDEF-4C37-BED2-F547970F12A7}"/>
              </a:ext>
            </a:extLst>
          </p:cNvPr>
          <p:cNvSpPr>
            <a:spLocks xmlns:a="http://schemas.openxmlformats.org/drawingml/2006/main" noGrp="1"/>
          </p:cNvSpPr>
          <p:nvPr/>
        </p:nvSpPr>
        <p:spPr>
          <a:xfrm xmlns:a="http://schemas.openxmlformats.org/drawingml/2006/main">
            <a:off x="10953750" y="642937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60757C"/>
                </a:solidFill>
                <a:latin typeface="Arial"/>
                <a:ea typeface="Arial"/>
                <a:cs typeface="Arial"/>
              </a:defRPr>
            </a:defPPr>
          </a:lstStyle>
          <a:p xmlns:a="http://schemas.openxmlformats.org/drawingml/2006/main">
            <a:pPr algn="r">
              <a:defRPr sz="1200" b="0">
                <a:solidFill>
                  <a:srgbClr val="60757C"/>
                </a:solidFill>
                <a:latin typeface="Arial"/>
                <a:ea typeface="Arial"/>
                <a:cs typeface="Arial"/>
              </a:defRPr>
            </a:pPr>
            <a:r>
              <a:rPr sz="1200" b="0">
                <a:solidFill>
                  <a:srgbClr val="60757C"/>
                </a:solidFill>
                <a:latin typeface="Arial"/>
                <a:ea typeface="Arial"/>
                <a:cs typeface="Arial"/>
              </a:rPr>
              <a:t>27</a:t>
            </a:r>
          </a:p>
        </p:txBody>
      </p:sp>
      <p:sp>
        <p:nvSpPr>
          <p:cNvPr id="4" name="text">
            <a:extLst xmlns:a="http://schemas.openxmlformats.org/drawingml/2006/main">
              <a:ext uri="{FF2B5EF4-FFF2-40B4-BE49-F238E27FC236}">
                <a16:creationId xmlns:a16="http://schemas.microsoft.com/office/drawing/2014/main" id="{631A53A9-6509-4055-963E-4CA085DA5C2C}"/>
              </a:ext>
            </a:extLst>
          </p:cNvPr>
          <p:cNvSpPr>
            <a:spLocks xmlns:a="http://schemas.openxmlformats.org/drawingml/2006/main" noGrp="1"/>
          </p:cNvSpPr>
          <p:nvPr/>
        </p:nvSpPr>
        <p:spPr>
          <a:xfrm xmlns:a="http://schemas.openxmlformats.org/drawingml/2006/main">
            <a:off x="609600" y="171450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087F8C"/>
                </a:solidFill>
                <a:latin typeface="Arial"/>
                <a:ea typeface="Arial"/>
                <a:cs typeface="Arial"/>
              </a:defRPr>
            </a:defPPr>
          </a:lstStyle>
          <a:p xmlns:a="http://schemas.openxmlformats.org/drawingml/2006/main">
            <a:pPr algn="l">
              <a:defRPr sz="6000" b="1">
                <a:solidFill>
                  <a:srgbClr val="087F8C"/>
                </a:solidFill>
                <a:latin typeface="Arial"/>
                <a:ea typeface="Arial"/>
                <a:cs typeface="Arial"/>
              </a:defRPr>
            </a:pPr>
            <a:r>
              <a:rPr sz="6000" b="1">
                <a:solidFill>
                  <a:srgbClr val="087F8C"/>
                </a:solidFill>
                <a:latin typeface="Arial"/>
                <a:ea typeface="Arial"/>
                <a:cs typeface="Arial"/>
              </a:rPr>
              <a:t>0.162</a:t>
            </a:r>
          </a:p>
        </p:txBody>
      </p:sp>
      <p:sp>
        <p:nvSpPr>
          <p:cNvPr id="5" name="text">
            <a:extLst xmlns:a="http://schemas.openxmlformats.org/drawingml/2006/main">
              <a:ext uri="{FF2B5EF4-FFF2-40B4-BE49-F238E27FC236}">
                <a16:creationId xmlns:a16="http://schemas.microsoft.com/office/drawing/2014/main" id="{0CA47EF9-CD83-47D1-ADD8-6DCA36DAB533}"/>
              </a:ext>
            </a:extLst>
          </p:cNvPr>
          <p:cNvSpPr>
            <a:spLocks xmlns:a="http://schemas.openxmlformats.org/drawingml/2006/main" noGrp="1"/>
          </p:cNvSpPr>
          <p:nvPr/>
        </p:nvSpPr>
        <p:spPr>
          <a:xfrm xmlns:a="http://schemas.openxmlformats.org/drawingml/2006/main">
            <a:off x="609600" y="28575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323B"/>
                </a:solidFill>
                <a:latin typeface="Arial"/>
                <a:ea typeface="Arial"/>
                <a:cs typeface="Arial"/>
              </a:defRPr>
            </a:defPPr>
          </a:lstStyle>
          <a:p xmlns:a="http://schemas.openxmlformats.org/drawingml/2006/main">
            <a:pPr algn="l">
              <a:defRPr sz="2175" b="0">
                <a:solidFill>
                  <a:srgbClr val="14323B"/>
                </a:solidFill>
                <a:latin typeface="Arial"/>
                <a:ea typeface="Arial"/>
                <a:cs typeface="Arial"/>
              </a:defRPr>
            </a:pPr>
            <a:r>
              <a:rPr sz="2175" b="0">
                <a:solidFill>
                  <a:srgbClr val="14323B"/>
                </a:solidFill>
                <a:latin typeface="Arial"/>
                <a:ea typeface="Arial"/>
                <a:cs typeface="Arial"/>
              </a:rPr>
              <a:t>Cramér’s V for clinical-unit association</a:t>
            </a:r>
          </a:p>
        </p:txBody>
      </p:sp>
      <p:sp>
        <p:nvSpPr>
          <p:cNvPr id="6" name="text">
            <a:extLst xmlns:a="http://schemas.openxmlformats.org/drawingml/2006/main">
              <a:ext uri="{FF2B5EF4-FFF2-40B4-BE49-F238E27FC236}">
                <a16:creationId xmlns:a16="http://schemas.microsoft.com/office/drawing/2014/main" id="{C7C213E3-968B-4E0D-BC79-024EF0A2817A}"/>
              </a:ext>
            </a:extLst>
          </p:cNvPr>
          <p:cNvSpPr>
            <a:spLocks xmlns:a="http://schemas.openxmlformats.org/drawingml/2006/main" noGrp="1"/>
          </p:cNvSpPr>
          <p:nvPr/>
        </p:nvSpPr>
        <p:spPr>
          <a:xfrm xmlns:a="http://schemas.openxmlformats.org/drawingml/2006/main">
            <a:off x="6572250" y="17145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B85647"/>
                </a:solidFill>
                <a:latin typeface="Arial"/>
                <a:ea typeface="Arial"/>
                <a:cs typeface="Arial"/>
              </a:defRPr>
            </a:defPPr>
          </a:lstStyle>
          <a:p xmlns:a="http://schemas.openxmlformats.org/drawingml/2006/main">
            <a:pPr algn="l">
              <a:defRPr sz="6000" b="1">
                <a:solidFill>
                  <a:srgbClr val="B85647"/>
                </a:solidFill>
                <a:latin typeface="Arial"/>
                <a:ea typeface="Arial"/>
                <a:cs typeface="Arial"/>
              </a:defRPr>
            </a:pPr>
            <a:r>
              <a:rPr sz="6000" b="1">
                <a:solidFill>
                  <a:srgbClr val="B85647"/>
                </a:solidFill>
                <a:latin typeface="Arial"/>
                <a:ea typeface="Arial"/>
                <a:cs typeface="Arial"/>
              </a:rPr>
              <a:t>0.0013</a:t>
            </a:r>
          </a:p>
        </p:txBody>
      </p:sp>
      <p:sp>
        <p:nvSpPr>
          <p:cNvPr id="7" name="text">
            <a:extLst xmlns:a="http://schemas.openxmlformats.org/drawingml/2006/main">
              <a:ext uri="{FF2B5EF4-FFF2-40B4-BE49-F238E27FC236}">
                <a16:creationId xmlns:a16="http://schemas.microsoft.com/office/drawing/2014/main" id="{77FE448C-E7D7-484D-A5DB-C03E68B74D4C}"/>
              </a:ext>
            </a:extLst>
          </p:cNvPr>
          <p:cNvSpPr>
            <a:spLocks xmlns:a="http://schemas.openxmlformats.org/drawingml/2006/main" noGrp="1"/>
          </p:cNvSpPr>
          <p:nvPr/>
        </p:nvSpPr>
        <p:spPr>
          <a:xfrm xmlns:a="http://schemas.openxmlformats.org/drawingml/2006/main">
            <a:off x="6572250" y="28575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323B"/>
                </a:solidFill>
                <a:latin typeface="Arial"/>
                <a:ea typeface="Arial"/>
                <a:cs typeface="Arial"/>
              </a:defRPr>
            </a:defPPr>
          </a:lstStyle>
          <a:p xmlns:a="http://schemas.openxmlformats.org/drawingml/2006/main">
            <a:pPr algn="l">
              <a:defRPr sz="2175" b="0">
                <a:solidFill>
                  <a:srgbClr val="14323B"/>
                </a:solidFill>
                <a:latin typeface="Arial"/>
                <a:ea typeface="Arial"/>
                <a:cs typeface="Arial"/>
              </a:defRPr>
            </a:pPr>
            <a:r>
              <a:rPr sz="2175" b="0">
                <a:solidFill>
                  <a:srgbClr val="14323B"/>
                </a:solidFill>
                <a:latin typeface="Arial"/>
                <a:ea typeface="Arial"/>
                <a:cs typeface="Arial"/>
              </a:rPr>
              <a:t>Log-loss improvement beyond diagnosis</a:t>
            </a:r>
          </a:p>
        </p:txBody>
      </p:sp>
      <p:sp>
        <p:nvSpPr>
          <p:cNvPr id="8" name="text">
            <a:extLst xmlns:a="http://schemas.openxmlformats.org/drawingml/2006/main">
              <a:ext uri="{FF2B5EF4-FFF2-40B4-BE49-F238E27FC236}">
                <a16:creationId xmlns:a16="http://schemas.microsoft.com/office/drawing/2014/main" id="{ED7BDFEE-0FBC-4194-AEA7-F2EAC93675BE}"/>
              </a:ext>
            </a:extLst>
          </p:cNvPr>
          <p:cNvSpPr>
            <a:spLocks xmlns:a="http://schemas.openxmlformats.org/drawingml/2006/main" noGrp="1"/>
          </p:cNvSpPr>
          <p:nvPr/>
        </p:nvSpPr>
        <p:spPr>
          <a:xfrm xmlns:a="http://schemas.openxmlformats.org/drawingml/2006/main">
            <a:off x="609600" y="4619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323B"/>
                </a:solidFill>
                <a:latin typeface="Arial"/>
                <a:ea typeface="Arial"/>
                <a:cs typeface="Arial"/>
              </a:defRPr>
            </a:defPPr>
          </a:lstStyle>
          <a:p xmlns:a="http://schemas.openxmlformats.org/drawingml/2006/main">
            <a:pPr algn="l">
              <a:defRPr sz="2550" b="1">
                <a:solidFill>
                  <a:srgbClr val="14323B"/>
                </a:solidFill>
                <a:latin typeface="Arial"/>
                <a:ea typeface="Arial"/>
                <a:cs typeface="Arial"/>
              </a:defRPr>
            </a:pPr>
            <a:r>
              <a:rPr sz="2550" b="1">
                <a:solidFill>
                  <a:srgbClr val="14323B"/>
                </a:solidFill>
                <a:latin typeface="Arial"/>
                <a:ea typeface="Arial"/>
                <a:cs typeface="Arial"/>
              </a:rPr>
              <a:t>95% patient-bootstrap interval: −0.0006 to 0.0031</a:t>
            </a:r>
          </a:p>
        </p:txBody>
      </p:sp>
      <p:sp>
        <p:nvSpPr>
          <p:cNvPr id="9" name="qualification">
            <a:extLst xmlns:a="http://schemas.openxmlformats.org/drawingml/2006/main">
              <a:ext uri="{FF2B5EF4-FFF2-40B4-BE49-F238E27FC236}">
                <a16:creationId xmlns:a16="http://schemas.microsoft.com/office/drawing/2014/main" id="{87D91978-20C8-4CB3-A940-150E2BEF4B9E}"/>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57C"/>
                </a:solidFill>
                <a:latin typeface="Arial"/>
                <a:ea typeface="Arial"/>
                <a:cs typeface="Arial"/>
              </a:defRPr>
            </a:defPPr>
          </a:lstStyle>
          <a:p xmlns:a="http://schemas.openxmlformats.org/drawingml/2006/main">
            <a:pPr algn="l">
              <a:defRPr sz="1500" b="0">
                <a:solidFill>
                  <a:srgbClr val="60757C"/>
                </a:solidFill>
                <a:latin typeface="Arial"/>
                <a:ea typeface="Arial"/>
                <a:cs typeface="Arial"/>
              </a:defRPr>
            </a:pPr>
            <a:r>
              <a:rPr sz="1500" b="0">
                <a:solidFill>
                  <a:srgbClr val="60757C"/>
                </a:solidFill>
                <a:latin typeface="Arial"/>
                <a:ea typeface="Arial"/>
                <a:cs typeface="Arial"/>
              </a:rPr>
              <a:t>The interval includes zero. No independent functional outcome was available.</a:t>
            </a:r>
          </a:p>
        </p:txBody>
      </p:sp>
    </p:spTree>
    <p:extLst>
      <p:ext uri="{BB962C8B-B14F-4D97-AF65-F5344CB8AC3E}">
        <p14:creationId xmlns:p14="http://schemas.microsoft.com/office/powerpoint/2010/main" val="586773181"/>
      </p:ext>
    </p:extLst>
  </p:cSld>
</p:sld>
</file>

<file path=ppt/theme/theme1.xml><?xml version="1.0" encoding="utf-8"?>
<a:theme xmlns:a="http://schemas.openxmlformats.org/drawingml/2006/main" name="ChatGPT">
  <a:themeElements>
    <a:clrScheme name="Cognitive research">
      <a:dk1>
        <a:srgbClr val="000000"/>
      </a:dk1>
      <a:lt1>
        <a:srgbClr val="FFFFFF"/>
      </a:lt1>
      <a:dk2>
        <a:srgbClr val="14323B"/>
      </a:dk2>
      <a:lt2>
        <a:srgbClr val="E5ECEE"/>
      </a:lt2>
      <a:accent1>
        <a:srgbClr val="087F8C"/>
      </a:accent1>
      <a:accent2>
        <a:srgbClr val="BA7D24"/>
      </a:accent2>
      <a:accent3>
        <a:srgbClr val="2975A2"/>
      </a:accent3>
      <a:accent4>
        <a:srgbClr val="B85647"/>
      </a:accent4>
      <a:accent5>
        <a:srgbClr val="775CA5"/>
      </a:accent5>
      <a:accent6>
        <a:srgbClr val="72A6A6"/>
      </a:accent6>
      <a:hlink>
        <a:srgbClr val="087F8C"/>
      </a:hlink>
      <a:folHlink>
        <a:srgbClr val="775CA5"/>
      </a:folHlink>
    </a:clrScheme>
    <a:fontScheme name="">
      <a:majorFont>
        <a:latin typeface="Arial"/>
        <a:ea typeface=""/>
        <a:cs typeface=""/>
      </a:majorFont>
      <a:minorFont>
        <a:latin typeface="Arial"/>
        <a:ea typeface=""/>
        <a:cs typeface=""/>
      </a:minorFont>
    </a:fontScheme>
    <a:fmtScheme name="Cognitive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2026-10-17T14:25:59.3300000Z</dcterms:created>
  <dcterms:modified xsi:type="dcterms:W3CDTF">2026-10-17T14:25:59.3300000Z</dcterms:modified>
</coreProperties>
</file>