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9da2baee1248e1" /><Relationship Type="http://schemas.openxmlformats.org/officeDocument/2006/relationships/extended-properties" Target="/docProps/app.xml" Id="Rdc374cbceaa6473d" /><Relationship Type="http://schemas.openxmlformats.org/officeDocument/2006/relationships/officeDocument" Target="/ppt/presentation.xml" Id="R1df76d5c24fc4ef9" /></Relationships>
</file>

<file path=ppt/presentation.xml><?xml version="1.0" encoding="utf-8"?>
<p:presentation xmlns:p="http://schemas.openxmlformats.org/presentationml/2006/main">
  <p:sldMasterIdLst>
    <p:sldMasterId xmlns:r="http://schemas.openxmlformats.org/officeDocument/2006/relationships" id="2147483648" r:id="R71a5f56a68174b8b"/>
  </p:sldMasterIdLst>
  <p:notesMasterIdLst>
    <p:notesMasterId xmlns:r="http://schemas.openxmlformats.org/officeDocument/2006/relationships" r:id="R2cef8b0a26354f99"/>
  </p:notesMasterIdLst>
  <p:sldIdLst>
    <p:sldId xmlns:r="http://schemas.openxmlformats.org/officeDocument/2006/relationships" id="256" r:id="Ra73fc2dfbe8c4eb5"/>
    <p:sldId xmlns:r="http://schemas.openxmlformats.org/officeDocument/2006/relationships" id="257" r:id="R6f4b07d734f54e40"/>
    <p:sldId xmlns:r="http://schemas.openxmlformats.org/officeDocument/2006/relationships" id="258" r:id="R403dffa1e2f549a5"/>
    <p:sldId xmlns:r="http://schemas.openxmlformats.org/officeDocument/2006/relationships" id="259" r:id="R87a4996108644ece"/>
    <p:sldId xmlns:r="http://schemas.openxmlformats.org/officeDocument/2006/relationships" id="260" r:id="R494c36dfdd9c4893"/>
    <p:sldId xmlns:r="http://schemas.openxmlformats.org/officeDocument/2006/relationships" id="261" r:id="Rde6d69d700dd43c9"/>
    <p:sldId xmlns:r="http://schemas.openxmlformats.org/officeDocument/2006/relationships" id="262" r:id="R68ea4561c3f9444d"/>
    <p:sldId xmlns:r="http://schemas.openxmlformats.org/officeDocument/2006/relationships" id="263" r:id="Ra343adfd0d8e41eb"/>
    <p:sldId xmlns:r="http://schemas.openxmlformats.org/officeDocument/2006/relationships" id="264" r:id="Rd521c2bc97184e5e"/>
    <p:sldId xmlns:r="http://schemas.openxmlformats.org/officeDocument/2006/relationships" id="265" r:id="R396f90a97ce24ac8"/>
    <p:sldId xmlns:r="http://schemas.openxmlformats.org/officeDocument/2006/relationships" id="266" r:id="Rc149045331f84229"/>
    <p:sldId xmlns:r="http://schemas.openxmlformats.org/officeDocument/2006/relationships" id="267" r:id="R7ede9e77a7b348ad"/>
    <p:sldId xmlns:r="http://schemas.openxmlformats.org/officeDocument/2006/relationships" id="268" r:id="Rcc7bdd3172524e2d"/>
    <p:sldId xmlns:r="http://schemas.openxmlformats.org/officeDocument/2006/relationships" id="269" r:id="Ra9500f698de944ee"/>
    <p:sldId xmlns:r="http://schemas.openxmlformats.org/officeDocument/2006/relationships" id="270" r:id="R039b820fd515459b"/>
    <p:sldId xmlns:r="http://schemas.openxmlformats.org/officeDocument/2006/relationships" id="271" r:id="R6b6e1be578d6438a"/>
    <p:sldId xmlns:r="http://schemas.openxmlformats.org/officeDocument/2006/relationships" id="272" r:id="R6aa8021173ac46cc"/>
    <p:sldId xmlns:r="http://schemas.openxmlformats.org/officeDocument/2006/relationships" id="273" r:id="R296dd15fc25e4813"/>
    <p:sldId xmlns:r="http://schemas.openxmlformats.org/officeDocument/2006/relationships" id="274" r:id="Rf1e80f88c628432c"/>
    <p:sldId xmlns:r="http://schemas.openxmlformats.org/officeDocument/2006/relationships" id="275" r:id="R3df3c557dd29457e"/>
    <p:sldId xmlns:r="http://schemas.openxmlformats.org/officeDocument/2006/relationships" id="276" r:id="R958f9fb3b7a743de"/>
    <p:sldId xmlns:r="http://schemas.openxmlformats.org/officeDocument/2006/relationships" id="277" r:id="R6ffaa547ae4e47b8"/>
    <p:sldId xmlns:r="http://schemas.openxmlformats.org/officeDocument/2006/relationships" id="278" r:id="R34cf89ce10a8430d"/>
    <p:sldId xmlns:r="http://schemas.openxmlformats.org/officeDocument/2006/relationships" id="279" r:id="Rcadfe6f520b643e9"/>
    <p:sldId xmlns:r="http://schemas.openxmlformats.org/officeDocument/2006/relationships" id="280" r:id="R18507371287e4607"/>
    <p:sldId xmlns:r="http://schemas.openxmlformats.org/officeDocument/2006/relationships" id="281" r:id="Recfc91b8da224e70"/>
    <p:sldId xmlns:r="http://schemas.openxmlformats.org/officeDocument/2006/relationships" id="282" r:id="Rafdac6237e424436"/>
    <p:sldId xmlns:r="http://schemas.openxmlformats.org/officeDocument/2006/relationships" id="283" r:id="R25a00ce96ca648f7"/>
    <p:sldId xmlns:r="http://schemas.openxmlformats.org/officeDocument/2006/relationships" id="284" r:id="R855ad98e9d5f4125"/>
    <p:sldId xmlns:r="http://schemas.openxmlformats.org/officeDocument/2006/relationships" id="285" r:id="Rce4cdd84102b4560"/>
    <p:sldId xmlns:r="http://schemas.openxmlformats.org/officeDocument/2006/relationships" id="286" r:id="Rd393435cd0cc48d0"/>
    <p:sldId xmlns:r="http://schemas.openxmlformats.org/officeDocument/2006/relationships" id="287" r:id="R17d36edc5b3f4031"/>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9d23592a9c8490f" /><Relationship Type="http://schemas.openxmlformats.org/officeDocument/2006/relationships/slideMaster" Target="/ppt/slideMasters/slideMaster1.xml" Id="R71a5f56a68174b8b" /><Relationship Type="http://schemas.openxmlformats.org/officeDocument/2006/relationships/notesMaster" Target="/ppt/notesMasters/notesMaster1.xml" Id="R2cef8b0a26354f99" /><Relationship Type="http://schemas.openxmlformats.org/officeDocument/2006/relationships/presProps" Target="/ppt/presProps.xml" Id="R75d2a1124ab5444c" /><Relationship Type="http://schemas.openxmlformats.org/officeDocument/2006/relationships/viewProps" Target="/ppt/viewProps.xml" Id="R876d39842df44852" /><Relationship Type="http://schemas.openxmlformats.org/officeDocument/2006/relationships/tableStyles" Target="/ppt/tableStyles.xml" Id="R8ac1d626dc4b409d" /><Relationship Type="http://schemas.openxmlformats.org/officeDocument/2006/relationships/slide" Target="/ppt/slides/slide1.xml" Id="Ra73fc2dfbe8c4eb5" /><Relationship Type="http://schemas.openxmlformats.org/officeDocument/2006/relationships/slide" Target="/ppt/slides/slide2.xml" Id="R6f4b07d734f54e40" /><Relationship Type="http://schemas.openxmlformats.org/officeDocument/2006/relationships/slide" Target="/ppt/slides/slide3.xml" Id="R403dffa1e2f549a5" /><Relationship Type="http://schemas.openxmlformats.org/officeDocument/2006/relationships/slide" Target="/ppt/slides/slide4.xml" Id="R87a4996108644ece" /><Relationship Type="http://schemas.openxmlformats.org/officeDocument/2006/relationships/slide" Target="/ppt/slides/slide5.xml" Id="R494c36dfdd9c4893" /><Relationship Type="http://schemas.openxmlformats.org/officeDocument/2006/relationships/slide" Target="/ppt/slides/slide6.xml" Id="Rde6d69d700dd43c9" /><Relationship Type="http://schemas.openxmlformats.org/officeDocument/2006/relationships/slide" Target="/ppt/slides/slide7.xml" Id="R68ea4561c3f9444d" /><Relationship Type="http://schemas.openxmlformats.org/officeDocument/2006/relationships/slide" Target="/ppt/slides/slide8.xml" Id="Ra343adfd0d8e41eb" /><Relationship Type="http://schemas.openxmlformats.org/officeDocument/2006/relationships/slide" Target="/ppt/slides/slide9.xml" Id="Rd521c2bc97184e5e" /><Relationship Type="http://schemas.openxmlformats.org/officeDocument/2006/relationships/slide" Target="/ppt/slides/slide10.xml" Id="R396f90a97ce24ac8" /><Relationship Type="http://schemas.openxmlformats.org/officeDocument/2006/relationships/slide" Target="/ppt/slides/slide11.xml" Id="Rc149045331f84229" /><Relationship Type="http://schemas.openxmlformats.org/officeDocument/2006/relationships/slide" Target="/ppt/slides/slide12.xml" Id="R7ede9e77a7b348ad" /><Relationship Type="http://schemas.openxmlformats.org/officeDocument/2006/relationships/slide" Target="/ppt/slides/slide13.xml" Id="Rcc7bdd3172524e2d" /><Relationship Type="http://schemas.openxmlformats.org/officeDocument/2006/relationships/slide" Target="/ppt/slides/slide14.xml" Id="Ra9500f698de944ee" /><Relationship Type="http://schemas.openxmlformats.org/officeDocument/2006/relationships/slide" Target="/ppt/slides/slide15.xml" Id="R039b820fd515459b" /><Relationship Type="http://schemas.openxmlformats.org/officeDocument/2006/relationships/slide" Target="/ppt/slides/slide16.xml" Id="R6b6e1be578d6438a" /><Relationship Type="http://schemas.openxmlformats.org/officeDocument/2006/relationships/slide" Target="/ppt/slides/slide17.xml" Id="R6aa8021173ac46cc" /><Relationship Type="http://schemas.openxmlformats.org/officeDocument/2006/relationships/slide" Target="/ppt/slides/slide18.xml" Id="R296dd15fc25e4813" /><Relationship Type="http://schemas.openxmlformats.org/officeDocument/2006/relationships/slide" Target="/ppt/slides/slide19.xml" Id="Rf1e80f88c628432c" /><Relationship Type="http://schemas.openxmlformats.org/officeDocument/2006/relationships/slide" Target="/ppt/slides/slide20.xml" Id="R3df3c557dd29457e" /><Relationship Type="http://schemas.openxmlformats.org/officeDocument/2006/relationships/slide" Target="/ppt/slides/slide21.xml" Id="R958f9fb3b7a743de" /><Relationship Type="http://schemas.openxmlformats.org/officeDocument/2006/relationships/slide" Target="/ppt/slides/slide22.xml" Id="R6ffaa547ae4e47b8" /><Relationship Type="http://schemas.openxmlformats.org/officeDocument/2006/relationships/slide" Target="/ppt/slides/slide23.xml" Id="R34cf89ce10a8430d" /><Relationship Type="http://schemas.openxmlformats.org/officeDocument/2006/relationships/slide" Target="/ppt/slides/slide24.xml" Id="Rcadfe6f520b643e9" /><Relationship Type="http://schemas.openxmlformats.org/officeDocument/2006/relationships/slide" Target="/ppt/slides/slide25.xml" Id="R18507371287e4607" /><Relationship Type="http://schemas.openxmlformats.org/officeDocument/2006/relationships/slide" Target="/ppt/slides/slide26.xml" Id="Recfc91b8da224e70" /><Relationship Type="http://schemas.openxmlformats.org/officeDocument/2006/relationships/slide" Target="/ppt/slides/slide27.xml" Id="Rafdac6237e424436" /><Relationship Type="http://schemas.openxmlformats.org/officeDocument/2006/relationships/slide" Target="/ppt/slides/slide28.xml" Id="R25a00ce96ca648f7" /><Relationship Type="http://schemas.openxmlformats.org/officeDocument/2006/relationships/slide" Target="/ppt/slides/slide29.xml" Id="R855ad98e9d5f4125" /><Relationship Type="http://schemas.openxmlformats.org/officeDocument/2006/relationships/slide" Target="/ppt/slides/slide30.xml" Id="Rce4cdd84102b4560" /><Relationship Type="http://schemas.openxmlformats.org/officeDocument/2006/relationships/slide" Target="/ppt/slides/slide31.xml" Id="Rd393435cd0cc48d0" /><Relationship Type="http://schemas.openxmlformats.org/officeDocument/2006/relationships/slide" Target="/ppt/slides/slide32.xml" Id="R17d36edc5b3f40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d6316343c048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1f774641d74d57" /><Relationship Type="http://schemas.openxmlformats.org/officeDocument/2006/relationships/notesMaster" Target="/ppt/notesMasters/notesMaster1.xml" Id="R00df6a3684b84a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87bf93d3234451" /><Relationship Type="http://schemas.openxmlformats.org/officeDocument/2006/relationships/notesMaster" Target="/ppt/notesMasters/notesMaster1.xml" Id="R1e97244e604f4a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27f83d7eda4418" /><Relationship Type="http://schemas.openxmlformats.org/officeDocument/2006/relationships/notesMaster" Target="/ppt/notesMasters/notesMaster1.xml" Id="R6c8d2d27621848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9775f6267d47e6" /><Relationship Type="http://schemas.openxmlformats.org/officeDocument/2006/relationships/notesMaster" Target="/ppt/notesMasters/notesMaster1.xml" Id="R1b0c1d70f9c142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b912ea5f244ec1" /><Relationship Type="http://schemas.openxmlformats.org/officeDocument/2006/relationships/notesMaster" Target="/ppt/notesMasters/notesMaster1.xml" Id="R0448b79f158248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dff84bb1184d72" /><Relationship Type="http://schemas.openxmlformats.org/officeDocument/2006/relationships/notesMaster" Target="/ppt/notesMasters/notesMaster1.xml" Id="Rfe21da847e4b4c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1434bdfe5f4974" /><Relationship Type="http://schemas.openxmlformats.org/officeDocument/2006/relationships/notesMaster" Target="/ppt/notesMasters/notesMaster1.xml" Id="Rcc9fed3e476c44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aa12d6b80149e6" /><Relationship Type="http://schemas.openxmlformats.org/officeDocument/2006/relationships/notesMaster" Target="/ppt/notesMasters/notesMaster1.xml" Id="R517daf130e4a43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4f54265db34954" /><Relationship Type="http://schemas.openxmlformats.org/officeDocument/2006/relationships/notesMaster" Target="/ppt/notesMasters/notesMaster1.xml" Id="R354ff31f340f49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aefab6b86846a8" /><Relationship Type="http://schemas.openxmlformats.org/officeDocument/2006/relationships/notesMaster" Target="/ppt/notesMasters/notesMaster1.xml" Id="Ra733e17a942d45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85c6990140469c" /><Relationship Type="http://schemas.openxmlformats.org/officeDocument/2006/relationships/notesMaster" Target="/ppt/notesMasters/notesMaster1.xml" Id="R29dfde7aa1c142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e5ebfc95074c0a" /><Relationship Type="http://schemas.openxmlformats.org/officeDocument/2006/relationships/notesMaster" Target="/ppt/notesMasters/notesMaster1.xml" Id="R9ba350dc2db74e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348f68f96340eb" /><Relationship Type="http://schemas.openxmlformats.org/officeDocument/2006/relationships/notesMaster" Target="/ppt/notesMasters/notesMaster1.xml" Id="Raca18a3b39ec4b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4a9c43b07945aa" /><Relationship Type="http://schemas.openxmlformats.org/officeDocument/2006/relationships/notesMaster" Target="/ppt/notesMasters/notesMaster1.xml" Id="R59e41d4701a840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d4c30974d0474f" /><Relationship Type="http://schemas.openxmlformats.org/officeDocument/2006/relationships/notesMaster" Target="/ppt/notesMasters/notesMaster1.xml" Id="R5c64e50142fa41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c49952f7e14ae7" /><Relationship Type="http://schemas.openxmlformats.org/officeDocument/2006/relationships/notesMaster" Target="/ppt/notesMasters/notesMaster1.xml" Id="R32aad8700fdc414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c884c57b6a4878" /><Relationship Type="http://schemas.openxmlformats.org/officeDocument/2006/relationships/notesMaster" Target="/ppt/notesMasters/notesMaster1.xml" Id="Rc92db20f68c9422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6ffa2b48df4fa4" /><Relationship Type="http://schemas.openxmlformats.org/officeDocument/2006/relationships/notesMaster" Target="/ppt/notesMasters/notesMaster1.xml" Id="R249513a51bce43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7d16d7713c40bb" /><Relationship Type="http://schemas.openxmlformats.org/officeDocument/2006/relationships/notesMaster" Target="/ppt/notesMasters/notesMaster1.xml" Id="R5eb72f89aafa4a6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138604df9274a9c" /><Relationship Type="http://schemas.openxmlformats.org/officeDocument/2006/relationships/notesMaster" Target="/ppt/notesMasters/notesMaster1.xml" Id="R343a5fbb547840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23752091fd84ae0" /><Relationship Type="http://schemas.openxmlformats.org/officeDocument/2006/relationships/notesMaster" Target="/ppt/notesMasters/notesMaster1.xml" Id="R51f681becc334e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b3df04444a047dc" /><Relationship Type="http://schemas.openxmlformats.org/officeDocument/2006/relationships/notesMaster" Target="/ppt/notesMasters/notesMaster1.xml" Id="Rece78b2b0e944c8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5049993474541e7" /><Relationship Type="http://schemas.openxmlformats.org/officeDocument/2006/relationships/notesMaster" Target="/ppt/notesMasters/notesMaster1.xml" Id="Rcd5571228f154b1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532ee8584284980" /><Relationship Type="http://schemas.openxmlformats.org/officeDocument/2006/relationships/notesMaster" Target="/ppt/notesMasters/notesMaster1.xml" Id="R8dd7fabfff97441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282374fdf9447c7" /><Relationship Type="http://schemas.openxmlformats.org/officeDocument/2006/relationships/notesMaster" Target="/ppt/notesMasters/notesMaster1.xml" Id="R9d221289959b4ff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2e1e676478d40b8" /><Relationship Type="http://schemas.openxmlformats.org/officeDocument/2006/relationships/notesMaster" Target="/ppt/notesMasters/notesMaster1.xml" Id="R7981e6338c3649f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c362bcae8b6406b" /><Relationship Type="http://schemas.openxmlformats.org/officeDocument/2006/relationships/notesMaster" Target="/ppt/notesMasters/notesMaster1.xml" Id="R66dd9506e914419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9438e53063d4b38" /><Relationship Type="http://schemas.openxmlformats.org/officeDocument/2006/relationships/notesMaster" Target="/ppt/notesMasters/notesMaster1.xml" Id="R3f4be2aa76a648f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cd4fa2918914d0c" /><Relationship Type="http://schemas.openxmlformats.org/officeDocument/2006/relationships/notesMaster" Target="/ppt/notesMasters/notesMaster1.xml" Id="Rd166a2103857481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bb54da6d54c40f7" /><Relationship Type="http://schemas.openxmlformats.org/officeDocument/2006/relationships/notesMaster" Target="/ppt/notesMasters/notesMaster1.xml" Id="R7338bff8a511479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c301a7b7dfc4c40" /><Relationship Type="http://schemas.openxmlformats.org/officeDocument/2006/relationships/notesMaster" Target="/ppt/notesMasters/notesMaster1.xml" Id="Ra8162bb4b6df4cc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6dcbadfa4c64f05" /><Relationship Type="http://schemas.openxmlformats.org/officeDocument/2006/relationships/notesMaster" Target="/ppt/notesMasters/notesMaster1.xml" Id="R3bcbd3e625c94c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MSC THESIS DEFENSE</a:t>
            </a:r>
          </a:p>
          <a:p xmlns:a="http://schemas.openxmlformats.org/drawingml/2006/main">
            <a:r>
              <a:t/>
            </a:r>
          </a:p>
          <a:p xmlns:a="http://schemas.openxmlformats.org/drawingml/2006/main">
            <a:r>
              <a:t>Data-Driven Cognitive Phenotyping</a:t>
            </a:r>
          </a:p>
          <a:p xmlns:a="http://schemas.openxmlformats.org/drawingml/2006/main">
            <a:r>
              <a:t>in Acquired Brain Injury</a:t>
            </a:r>
          </a:p>
          <a:p xmlns:a="http://schemas.openxmlformats.org/drawingml/2006/main">
            <a:r>
              <a:t/>
            </a:r>
          </a:p>
          <a:p xmlns:a="http://schemas.openxmlformats.org/drawingml/2006/main">
            <a:r>
              <a:t>Do routine neuropsychological data reveal cognitive subtypes?</a:t>
            </a:r>
          </a:p>
          <a:p xmlns:a="http://schemas.openxmlformats.org/drawingml/2006/main">
            <a:r>
              <a:t/>
            </a:r>
          </a:p>
          <a:p xmlns:a="http://schemas.openxmlformats.org/drawingml/2006/main">
            <a:r>
              <a:t>Zoltan Kunos</a:t>
            </a:r>
          </a:p>
          <a:p xmlns:a="http://schemas.openxmlformats.org/drawingml/2006/main">
            <a:r>
              <a:t>MSc Fundamental Principles of Data Science · Universitat de Barcelona</a:t>
            </a:r>
          </a:p>
          <a:p xmlns:a="http://schemas.openxmlformats.org/drawingml/2006/main">
            <a:r>
              <a:t/>
            </a:r>
          </a:p>
          <a:p xmlns:a="http://schemas.openxmlformats.org/drawingml/2006/main">
            <a:r>
              <a:t>Supervisor: Dr. Alejandro García-Rudolph</a:t>
            </a:r>
          </a:p>
          <a:p xmlns:a="http://schemas.openxmlformats.org/drawingml/2006/main">
            <a:r>
              <a:t/>
            </a:r>
          </a:p>
          <a:p xmlns:a="http://schemas.openxmlformats.org/drawingml/2006/main">
            <a:r>
              <a:t>16 October 2026</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clinic. Acquired brain injury can disrupt attention, memory, language, executive function, orientation and visuospatial cognition — and it does not do so in the same way in any two patients. That is the core fact: impairment after ABI is heterogeneous. Clinicians manage that with broad categories — diagnosis, injury severity — which describe the scope of the problem, not the individual profile or its degree. Two patients who both 'have memory problems' can need completely different programmes. So the question writes itself: can a data-driven method recover a cognitive organisation that is actually meaningful — and can we trust it when missing data are handled honestly rather than ignored?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Where does this sit relative to prior work? Earlier cognitive-phenotyping studies tend to share a set of limitations: small samples, often under two hundred; reliance on complete-case analysis; little algorithmic stress-testing; a number of clusters fixed in advance; and seldom any clinical validation. This dissertation pushes on each. It works at scale — over seventeen thousand assessments. It compares ten imputation strategies instead of deleting incomplete rows. It runs hyperparameter, seed and missingness sensitivity checks. It uses density-based clustering that does not fix the number of clusters in advance. And it validates against clinical-unit assignment. Those five moves are the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HYPOTHESES</a:t>
            </a:r>
          </a:p>
          <a:p xmlns:a="http://schemas.openxmlformats.org/drawingml/2006/main">
            <a:r>
              <a:t/>
            </a:r>
          </a:p>
          <a:p xmlns:a="http://schemas.openxmlformats.org/drawingml/2006/main">
            <a:r>
              <a:t>Four hypotheses, objective criteria</a:t>
            </a:r>
          </a:p>
          <a:p xmlns:a="http://schemas.openxmlformats.org/drawingml/2006/main">
            <a:r>
              <a:t/>
            </a:r>
          </a:p>
          <a:p xmlns:a="http://schemas.openxmlformats.org/drawingml/2006/main">
            <a:r>
              <a:t>H1</a:t>
            </a:r>
          </a:p>
          <a:p xmlns:a="http://schemas.openxmlformats.org/drawingml/2006/main">
            <a:r>
              <a:t/>
            </a:r>
          </a:p>
          <a:p xmlns:a="http://schemas.openxmlformats.org/drawingml/2006/main">
            <a:r>
              <a:t>Are stable clusters recoverable?</a:t>
            </a:r>
          </a:p>
          <a:p xmlns:a="http://schemas.openxmlformats.org/drawingml/2006/main">
            <a:r>
              <a:t/>
            </a:r>
          </a:p>
          <a:p xmlns:a="http://schemas.openxmlformats.org/drawingml/2006/main">
            <a:r>
              <a:t>At least eight methods meet selected embedding thresholds; discreteness requires separate evidence</a:t>
            </a:r>
          </a:p>
          <a:p xmlns:a="http://schemas.openxmlformats.org/drawingml/2006/main">
            <a:r>
              <a:t/>
            </a:r>
          </a:p>
          <a:p xmlns:a="http://schemas.openxmlformats.org/drawingml/2006/main">
            <a:r>
              <a:t>Silhouette ≥ 0.40  ·  noise ≤ 30%  ·  ≥ 2 clusters</a:t>
            </a:r>
          </a:p>
          <a:p xmlns:a="http://schemas.openxmlformats.org/drawingml/2006/main">
            <a:r>
              <a:t/>
            </a:r>
          </a:p>
          <a:p xmlns:a="http://schemas.openxmlformats.org/drawingml/2006/main">
            <a:r>
              <a:t>H2</a:t>
            </a:r>
          </a:p>
          <a:p xmlns:a="http://schemas.openxmlformats.org/drawingml/2006/main">
            <a:r>
              <a:t/>
            </a:r>
          </a:p>
          <a:p xmlns:a="http://schemas.openxmlformats.org/drawingml/2006/main">
            <a:r>
              <a:t>Robust to imputation choice?</a:t>
            </a:r>
          </a:p>
          <a:p xmlns:a="http://schemas.openxmlformats.org/drawingml/2006/main">
            <a:r>
              <a:t/>
            </a:r>
          </a:p>
          <a:p xmlns:a="http://schemas.openxmlformats.org/drawingml/2006/main">
            <a:r>
              <a:t>Assessments retain similar assignments across imputations under a fixed reference rule</a:t>
            </a:r>
          </a:p>
          <a:p xmlns:a="http://schemas.openxmlformats.org/drawingml/2006/main">
            <a:r>
              <a:t/>
            </a:r>
          </a:p>
          <a:p xmlns:a="http://schemas.openxmlformats.org/drawingml/2006/main">
            <a:r>
              <a:t>Median pairwise ARI &gt; 0.50  (fixed reference)</a:t>
            </a:r>
          </a:p>
          <a:p xmlns:a="http://schemas.openxmlformats.org/drawingml/2006/main">
            <a:r>
              <a:t/>
            </a:r>
          </a:p>
          <a:p xmlns:a="http://schemas.openxmlformats.org/drawingml/2006/main">
            <a:r>
              <a:t>H3</a:t>
            </a:r>
          </a:p>
          <a:p xmlns:a="http://schemas.openxmlformats.org/drawingml/2006/main">
            <a:r>
              <a:t/>
            </a:r>
          </a:p>
          <a:p xmlns:a="http://schemas.openxmlformats.org/drawingml/2006/main">
            <a:r>
              <a:t>Are tiers associated with clinical units?</a:t>
            </a:r>
          </a:p>
          <a:p xmlns:a="http://schemas.openxmlformats.org/drawingml/2006/main">
            <a:r>
              <a:t/>
            </a:r>
          </a:p>
          <a:p xmlns:a="http://schemas.openxmlformats.org/drawingml/2006/main">
            <a:r>
              <a:t>Severity tier relates to clinical unit, even after accounting for diagnosis</a:t>
            </a:r>
          </a:p>
          <a:p xmlns:a="http://schemas.openxmlformats.org/drawingml/2006/main">
            <a:r>
              <a:t/>
            </a:r>
          </a:p>
          <a:p xmlns:a="http://schemas.openxmlformats.org/drawingml/2006/main">
            <a:r>
              <a:t>χ² test  ·  Cramér's V &gt; 0.10  ·  CMH adjust for diagnosis</a:t>
            </a:r>
          </a:p>
          <a:p xmlns:a="http://schemas.openxmlformats.org/drawingml/2006/main">
            <a:r>
              <a:t/>
            </a:r>
          </a:p>
          <a:p xmlns:a="http://schemas.openxmlformats.org/drawingml/2006/main">
            <a:r>
              <a:t>H4</a:t>
            </a:r>
          </a:p>
          <a:p xmlns:a="http://schemas.openxmlformats.org/drawingml/2006/main">
            <a:r>
              <a:t/>
            </a:r>
          </a:p>
          <a:p xmlns:a="http://schemas.openxmlformats.org/drawingml/2006/main">
            <a:r>
              <a:t>Does domain aggregation help?</a:t>
            </a:r>
          </a:p>
          <a:p xmlns:a="http://schemas.openxmlformats.org/drawingml/2006/main">
            <a:r>
              <a:t/>
            </a:r>
          </a:p>
          <a:p xmlns:a="http://schemas.openxmlformats.org/drawingml/2006/main">
            <a:r>
              <a:t>Domain aggregation improves conditioning while preserving similar separation</a:t>
            </a:r>
          </a:p>
          <a:p xmlns:a="http://schemas.openxmlformats.org/drawingml/2006/main">
            <a:r>
              <a:t/>
            </a:r>
          </a:p>
          <a:p xmlns:a="http://schemas.openxmlformats.org/drawingml/2006/main">
            <a:r>
              <a:t>Higher silhouette  ·  lower VIF &amp; condition number</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a:t>
            </a:r>
          </a:p>
          <a:p xmlns:a="http://schemas.openxmlformats.org/drawingml/2006/main">
            <a:r>
              <a:t/>
            </a:r>
          </a:p>
          <a:p xmlns:a="http://schemas.openxmlformats.org/drawingml/2006/main">
            <a:r>
              <a:t>A large but incomplete cohort</a:t>
            </a:r>
          </a:p>
          <a:p xmlns:a="http://schemas.openxmlformats.org/drawingml/2006/main">
            <a:r>
              <a:t/>
            </a:r>
          </a:p>
          <a:p xmlns:a="http://schemas.openxmlformats.org/drawingml/2006/main">
            <a:r>
              <a:t>17,406</a:t>
            </a:r>
          </a:p>
          <a:p xmlns:a="http://schemas.openxmlformats.org/drawingml/2006/main">
            <a:r>
              <a:t/>
            </a:r>
          </a:p>
          <a:p xmlns:a="http://schemas.openxmlformats.org/drawingml/2006/main">
            <a:r>
              <a:t>assessments</a:t>
            </a:r>
          </a:p>
          <a:p xmlns:a="http://schemas.openxmlformats.org/drawingml/2006/main">
            <a:r>
              <a:t/>
            </a:r>
          </a:p>
          <a:p xmlns:a="http://schemas.openxmlformats.org/drawingml/2006/main">
            <a:r>
              <a:t>7,285</a:t>
            </a:r>
          </a:p>
          <a:p xmlns:a="http://schemas.openxmlformats.org/drawingml/2006/main">
            <a:r>
              <a:t/>
            </a:r>
          </a:p>
          <a:p xmlns:a="http://schemas.openxmlformats.org/drawingml/2006/main">
            <a:r>
              <a:t>patients</a:t>
            </a:r>
          </a:p>
          <a:p xmlns:a="http://schemas.openxmlformats.org/drawingml/2006/main">
            <a:r>
              <a:t/>
            </a:r>
          </a:p>
          <a:p xmlns:a="http://schemas.openxmlformats.org/drawingml/2006/main">
            <a:r>
              <a:t>14</a:t>
            </a:r>
          </a:p>
          <a:p xmlns:a="http://schemas.openxmlformats.org/drawingml/2006/main">
            <a:r>
              <a:t/>
            </a:r>
          </a:p>
          <a:p xmlns:a="http://schemas.openxmlformats.org/drawingml/2006/main">
            <a:r>
              <a:t>variables</a:t>
            </a:r>
          </a:p>
          <a:p xmlns:a="http://schemas.openxmlformats.org/drawingml/2006/main">
            <a:r>
              <a:t/>
            </a:r>
          </a:p>
          <a:p xmlns:a="http://schemas.openxmlformats.org/drawingml/2006/main">
            <a:r>
              <a:t>6</a:t>
            </a:r>
          </a:p>
          <a:p xmlns:a="http://schemas.openxmlformats.org/drawingml/2006/main">
            <a:r>
              <a:t/>
            </a:r>
          </a:p>
          <a:p xmlns:a="http://schemas.openxmlformats.org/drawingml/2006/main">
            <a:r>
              <a:t>cognitive domains</a:t>
            </a:r>
          </a:p>
          <a:p xmlns:a="http://schemas.openxmlformats.org/drawingml/2006/main">
            <a:r>
              <a:t/>
            </a:r>
          </a:p>
          <a:p xmlns:a="http://schemas.openxmlformats.org/drawingml/2006/main">
            <a:r>
              <a:t>53.1%</a:t>
            </a:r>
          </a:p>
          <a:p xmlns:a="http://schemas.openxmlformats.org/drawingml/2006/main">
            <a:r>
              <a:t/>
            </a:r>
          </a:p>
          <a:p xmlns:a="http://schemas.openxmlformats.org/drawingml/2006/main">
            <a:r>
              <a:t>of rows are complete across all 14 variables</a:t>
            </a:r>
          </a:p>
          <a:p xmlns:a="http://schemas.openxmlformats.org/drawingml/2006/main">
            <a:r>
              <a:t/>
            </a:r>
          </a:p>
          <a:p xmlns:a="http://schemas.openxmlformats.org/drawingml/2006/main">
            <a:r>
              <a:t>Complete-case analysis discards 46.9% of assessments.</a:t>
            </a:r>
          </a:p>
          <a:p xmlns:a="http://schemas.openxmlformats.org/drawingml/2006/main">
            <a:r>
              <a:t>Missingness follows structured patterns; its mechanism remains uncertain.</a:t>
            </a:r>
          </a:p>
          <a:p xmlns:a="http://schemas.openxmlformats.org/drawingml/2006/main">
            <a:r>
              <a:t>Imputation retains partially observed assessments.</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RATIONALE</a:t>
            </a:r>
          </a:p>
          <a:p xmlns:a="http://schemas.openxmlformats.org/drawingml/2006/main">
            <a:r>
              <a:t/>
            </a:r>
          </a:p>
          <a:p xmlns:a="http://schemas.openxmlformats.org/drawingml/2006/main">
            <a:r>
              <a:t>Why imputation is necessary</a:t>
            </a:r>
          </a:p>
          <a:p xmlns:a="http://schemas.openxmlformats.org/drawingml/2006/main">
            <a:r>
              <a:t/>
            </a:r>
          </a:p>
          <a:p xmlns:a="http://schemas.openxmlformats.org/drawingml/2006/main">
            <a:r>
              <a:t>Missingness reflects the clinical testing process</a:t>
            </a:r>
          </a:p>
          <a:p xmlns:a="http://schemas.openxmlformats.org/drawingml/2006/main">
            <a:r>
              <a:t/>
            </a:r>
          </a:p>
          <a:p xmlns:a="http://schemas.openxmlformats.org/drawingml/2006/main">
            <a:r>
              <a:t>Fatigue or reduced motivation</a:t>
            </a:r>
          </a:p>
          <a:p xmlns:a="http://schemas.openxmlformats.org/drawingml/2006/main">
            <a:r>
              <a:t>Cognitive overload or task aversion</a:t>
            </a:r>
          </a:p>
          <a:p xmlns:a="http://schemas.openxmlformats.org/drawingml/2006/main">
            <a:r>
              <a:t>Disorientation or motor limitations</a:t>
            </a:r>
          </a:p>
          <a:p xmlns:a="http://schemas.openxmlformats.org/drawingml/2006/main">
            <a:r>
              <a:t>Limited tolerance for long batteries</a:t>
            </a:r>
          </a:p>
          <a:p xmlns:a="http://schemas.openxmlformats.org/drawingml/2006/main">
            <a:r>
              <a:t>Clinician selects a more suitable test</a:t>
            </a:r>
          </a:p>
          <a:p xmlns:a="http://schemas.openxmlformats.org/drawingml/2006/main">
            <a:r>
              <a:t/>
            </a:r>
          </a:p>
          <a:p xmlns:a="http://schemas.openxmlformats.org/drawingml/2006/main">
            <a:r>
              <a:t>Complete-case selection changes the cohort. Whether excluded assessments are more impaired cannot be established from missing scores alone.</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a:t>
            </a:r>
          </a:p>
          <a:p xmlns:a="http://schemas.openxmlformats.org/drawingml/2006/main">
            <a:r>
              <a:t/>
            </a:r>
          </a:p>
          <a:p xmlns:a="http://schemas.openxmlformats.org/drawingml/2006/main">
            <a:r>
              <a:t>Analysis pipeline</a:t>
            </a:r>
          </a:p>
          <a:p xmlns:a="http://schemas.openxmlformats.org/drawingml/2006/main">
            <a:r>
              <a:t/>
            </a:r>
          </a:p>
          <a:p xmlns:a="http://schemas.openxmlformats.org/drawingml/2006/main">
            <a:r>
              <a:t>Impute</a:t>
            </a:r>
          </a:p>
          <a:p xmlns:a="http://schemas.openxmlformats.org/drawingml/2006/main">
            <a:r>
              <a:t/>
            </a:r>
          </a:p>
          <a:p xmlns:a="http://schemas.openxmlformats.org/drawingml/2006/main">
            <a:r>
              <a:t>10 strategies</a:t>
            </a:r>
          </a:p>
          <a:p xmlns:a="http://schemas.openxmlformats.org/drawingml/2006/main">
            <a:r>
              <a:t>simple → deep learning</a:t>
            </a:r>
          </a:p>
          <a:p xmlns:a="http://schemas.openxmlformats.org/drawingml/2006/main">
            <a:r>
              <a:t/>
            </a:r>
          </a:p>
          <a:p xmlns:a="http://schemas.openxmlformats.org/drawingml/2006/main">
            <a:r>
              <a:t>→</a:t>
            </a:r>
          </a:p>
          <a:p xmlns:a="http://schemas.openxmlformats.org/drawingml/2006/main">
            <a:r>
              <a:t/>
            </a:r>
          </a:p>
          <a:p xmlns:a="http://schemas.openxmlformats.org/drawingml/2006/main">
            <a:r>
              <a:t>Scale</a:t>
            </a:r>
          </a:p>
          <a:p xmlns:a="http://schemas.openxmlformats.org/drawingml/2006/main">
            <a:r>
              <a:t/>
            </a:r>
          </a:p>
          <a:p xmlns:a="http://schemas.openxmlformats.org/drawingml/2006/main">
            <a:r>
              <a:t>orient scores —</a:t>
            </a:r>
          </a:p>
          <a:p xmlns:a="http://schemas.openxmlformats.org/drawingml/2006/main">
            <a:r>
              <a:t>higher = better</a:t>
            </a:r>
          </a:p>
          <a:p xmlns:a="http://schemas.openxmlformats.org/drawingml/2006/main">
            <a:r>
              <a:t/>
            </a:r>
          </a:p>
          <a:p xmlns:a="http://schemas.openxmlformats.org/drawingml/2006/main">
            <a:r>
              <a:t>→</a:t>
            </a:r>
          </a:p>
          <a:p xmlns:a="http://schemas.openxmlformats.org/drawingml/2006/main">
            <a:r>
              <a:t/>
            </a:r>
          </a:p>
          <a:p xmlns:a="http://schemas.openxmlformats.org/drawingml/2006/main">
            <a:r>
              <a:t>Aggregate</a:t>
            </a:r>
          </a:p>
          <a:p xmlns:a="http://schemas.openxmlformats.org/drawingml/2006/main">
            <a:r>
              <a:t/>
            </a:r>
          </a:p>
          <a:p xmlns:a="http://schemas.openxmlformats.org/drawingml/2006/main">
            <a:r>
              <a:t>14 variables →</a:t>
            </a:r>
          </a:p>
          <a:p xmlns:a="http://schemas.openxmlformats.org/drawingml/2006/main">
            <a:r>
              <a:t>6 domains</a:t>
            </a:r>
          </a:p>
          <a:p xmlns:a="http://schemas.openxmlformats.org/drawingml/2006/main">
            <a:r>
              <a:t/>
            </a:r>
          </a:p>
          <a:p xmlns:a="http://schemas.openxmlformats.org/drawingml/2006/main">
            <a:r>
              <a:t>→</a:t>
            </a:r>
          </a:p>
          <a:p xmlns:a="http://schemas.openxmlformats.org/drawingml/2006/main">
            <a:r>
              <a:t/>
            </a:r>
          </a:p>
          <a:p xmlns:a="http://schemas.openxmlformats.org/drawingml/2006/main">
            <a:r>
              <a:t>UMAP</a:t>
            </a:r>
          </a:p>
          <a:p xmlns:a="http://schemas.openxmlformats.org/drawingml/2006/main">
            <a:r>
              <a:t/>
            </a:r>
          </a:p>
          <a:p xmlns:a="http://schemas.openxmlformats.org/drawingml/2006/main">
            <a:r>
              <a:t>manifold</a:t>
            </a:r>
          </a:p>
          <a:p xmlns:a="http://schemas.openxmlformats.org/drawingml/2006/main">
            <a:r>
              <a:t>embedding</a:t>
            </a:r>
          </a:p>
          <a:p xmlns:a="http://schemas.openxmlformats.org/drawingml/2006/main">
            <a:r>
              <a:t/>
            </a:r>
          </a:p>
          <a:p xmlns:a="http://schemas.openxmlformats.org/drawingml/2006/main">
            <a:r>
              <a:t>→</a:t>
            </a:r>
          </a:p>
          <a:p xmlns:a="http://schemas.openxmlformats.org/drawingml/2006/main">
            <a:r>
              <a:t/>
            </a:r>
          </a:p>
          <a:p xmlns:a="http://schemas.openxmlformats.org/drawingml/2006/main">
            <a:r>
              <a:t>HDBSCAN</a:t>
            </a:r>
          </a:p>
          <a:p xmlns:a="http://schemas.openxmlformats.org/drawingml/2006/main">
            <a:r>
              <a:t/>
            </a:r>
          </a:p>
          <a:p xmlns:a="http://schemas.openxmlformats.org/drawingml/2006/main">
            <a:r>
              <a:t>density clustering</a:t>
            </a:r>
          </a:p>
          <a:p xmlns:a="http://schemas.openxmlformats.org/drawingml/2006/main">
            <a:r>
              <a:t>+ sensitivity</a:t>
            </a:r>
          </a:p>
          <a:p xmlns:a="http://schemas.openxmlformats.org/drawingml/2006/main">
            <a:r>
              <a:t/>
            </a:r>
          </a:p>
          <a:p xmlns:a="http://schemas.openxmlformats.org/drawingml/2006/main">
            <a:r>
              <a:t>Fixed-reference design (H2)</a:t>
            </a:r>
          </a:p>
          <a:p xmlns:a="http://schemas.openxmlformats.org/drawingml/2006/main">
            <a:r>
              <a:t/>
            </a:r>
          </a:p>
          <a:p xmlns:a="http://schemas.openxmlformats.org/drawingml/2006/main">
            <a:r>
              <a:t>A scaler, UMAP embedding and three-group k-means rule are fitted once on MICE domain scores. Other imputations use those same transformations and assignment rule.</a:t>
            </a:r>
          </a:p>
          <a:p xmlns:a="http://schemas.openxmlformats.org/drawingml/2006/main">
            <a:r>
              <a:t/>
            </a:r>
          </a:p>
          <a:p xmlns:a="http://schemas.openxmlformats.org/drawingml/2006/main">
            <a:r>
              <a:t>✓  Tests assignment agreement across imputations while the reference geometry is fixed.</a:t>
            </a:r>
          </a:p>
          <a:p xmlns:a="http://schemas.openxmlformats.org/drawingml/2006/main">
            <a:r>
              <a:t/>
            </a:r>
          </a:p>
          <a:p xmlns:a="http://schemas.openxmlformats.org/drawingml/2006/main">
            <a:r>
              <a:t>✗  Not tested   that re-fitting the whole pipeline per dataset would rediscover the same cluster hierarchy.</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method: UMAP, for dimensionality reduction. Intuitively it builds a fuzzy k-nearest-neighbour graph that captures neighbourhood structure, balances local and global geometry, and gives the clustering step a clean low-dimensional space. Formally — the equations on the right — the directed membership of edge i-to-j decays exponentially with distance, normalised by a local scale sigma chosen so each point's memberships sum to log-base-two of k, and shifted by rho, the nearest-neighbour distance. Those directed memberships are symmetrised by a probabilistic t-conorm to give p-i-j. In the low-dimensional space a Student-t-like kernel defines q-i-j, and UMAP minimises the fuzzy-set cross-entropy between p and q by stochastic gradient descent. The caveat I keep on the slide: separation in UMAP space can look better than it is, so I back it with sensitivity analyses.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DENSITY CLUSTERING</a:t>
            </a:r>
          </a:p>
          <a:p xmlns:a="http://schemas.openxmlformats.org/drawingml/2006/main">
            <a:r>
              <a:t/>
            </a:r>
          </a:p>
          <a:p xmlns:a="http://schemas.openxmlformats.org/drawingml/2006/main">
            <a:r>
              <a:t>HDBSCAN</a:t>
            </a:r>
          </a:p>
          <a:p xmlns:a="http://schemas.openxmlformats.org/drawingml/2006/main">
            <a:r>
              <a:t/>
            </a:r>
          </a:p>
          <a:p xmlns:a="http://schemas.openxmlformats.org/drawingml/2006/main">
            <a:r>
              <a:t>Hierarchical Density-Based Spatial Clustering of Applications with Noise · Campello, Moulavi &amp; Sander, 2013</a:t>
            </a:r>
          </a:p>
          <a:p xmlns:a="http://schemas.openxmlformats.org/drawingml/2006/main">
            <a:r>
              <a:t/>
            </a:r>
          </a:p>
          <a:p xmlns:a="http://schemas.openxmlformats.org/drawingml/2006/main">
            <a:r>
              <a:t>Needs no predefined number of clusters.</a:t>
            </a:r>
          </a:p>
          <a:p xmlns:a="http://schemas.openxmlformats.org/drawingml/2006/main">
            <a:r>
              <a:t>Finds regions dense across density levels.</a:t>
            </a:r>
          </a:p>
          <a:p xmlns:a="http://schemas.openxmlformats.org/drawingml/2006/main">
            <a:r>
              <a:t>Labels uncertain points as noise, not forced.</a:t>
            </a:r>
          </a:p>
          <a:p xmlns:a="http://schemas.openxmlformats.org/drawingml/2006/main">
            <a:r>
              <a:t/>
            </a:r>
          </a:p>
          <a:p xmlns:a="http://schemas.openxmlformats.org/drawingml/2006/main">
            <a:r>
              <a:t>Minimum cluster size, density thresholds and selection settings affect the recovered partition.</a:t>
            </a:r>
          </a:p>
          <a:p xmlns:a="http://schemas.openxmlformats.org/drawingml/2006/main">
            <a:r>
              <a:t/>
            </a:r>
          </a:p>
          <a:p xmlns:a="http://schemas.openxmlformats.org/drawingml/2006/main">
            <a:r>
              <a:t>FORMAL DEFINITION</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IMPUTATION</a:t>
            </a:r>
          </a:p>
          <a:p xmlns:a="http://schemas.openxmlformats.org/drawingml/2006/main">
            <a:r>
              <a:t/>
            </a:r>
          </a:p>
          <a:p xmlns:a="http://schemas.openxmlformats.org/drawingml/2006/main">
            <a:r>
              <a:t>Ten imputation strategies</a:t>
            </a:r>
          </a:p>
          <a:p xmlns:a="http://schemas.openxmlformats.org/drawingml/2006/main">
            <a:r>
              <a:t/>
            </a:r>
          </a:p>
          <a:p xmlns:a="http://schemas.openxmlformats.org/drawingml/2006/main">
            <a:r>
              <a:t>Simple → model-based</a:t>
            </a:r>
          </a:p>
          <a:p xmlns:a="http://schemas.openxmlformats.org/drawingml/2006/main">
            <a:r>
              <a:t/>
            </a:r>
          </a:p>
          <a:p xmlns:a="http://schemas.openxmlformats.org/drawingml/2006/main">
            <a:r>
              <a:t>Donor / matrix / deep learning</a:t>
            </a:r>
          </a:p>
          <a:p xmlns:a="http://schemas.openxmlformats.org/drawingml/2006/main">
            <a:r>
              <a:t/>
            </a:r>
          </a:p>
          <a:p xmlns:a="http://schemas.openxmlformats.org/drawingml/2006/main">
            <a:r>
              <a:t>1.  Mean imputation</a:t>
            </a:r>
          </a:p>
          <a:p xmlns:a="http://schemas.openxmlformats.org/drawingml/2006/main">
            <a:r>
              <a:t>2.  Expectation–maximization</a:t>
            </a:r>
          </a:p>
          <a:p xmlns:a="http://schemas.openxmlformats.org/drawingml/2006/main">
            <a:r>
              <a:t>3.  MICE (reference)</a:t>
            </a:r>
          </a:p>
          <a:p xmlns:a="http://schemas.openxmlformats.org/drawingml/2006/main">
            <a:r>
              <a:t>4.  K-nearest neighbours</a:t>
            </a:r>
          </a:p>
          <a:p xmlns:a="http://schemas.openxmlformats.org/drawingml/2006/main">
            <a:r>
              <a:t>5.  MissForest</a:t>
            </a:r>
          </a:p>
          <a:p xmlns:a="http://schemas.openxmlformats.org/drawingml/2006/main">
            <a:r>
              <a:t/>
            </a:r>
          </a:p>
          <a:p xmlns:a="http://schemas.openxmlformats.org/drawingml/2006/main">
            <a:r>
              <a:t>6.  Predictive mean matching</a:t>
            </a:r>
          </a:p>
          <a:p xmlns:a="http://schemas.openxmlformats.org/drawingml/2006/main">
            <a:r>
              <a:t>7.  SoftImpute</a:t>
            </a:r>
          </a:p>
          <a:p xmlns:a="http://schemas.openxmlformats.org/drawingml/2006/main">
            <a:r>
              <a:t>8.  Non-negative matrix factorization</a:t>
            </a:r>
          </a:p>
          <a:p xmlns:a="http://schemas.openxmlformats.org/drawingml/2006/main">
            <a:r>
              <a:t>9.  Denoising autoencoder</a:t>
            </a:r>
          </a:p>
          <a:p xmlns:a="http://schemas.openxmlformats.org/drawingml/2006/main">
            <a:r>
              <a:t>10.  Variational autoencoder</a:t>
            </a:r>
          </a:p>
          <a:p xmlns:a="http://schemas.openxmlformats.org/drawingml/2006/main">
            <a:r>
              <a:t/>
            </a:r>
          </a:p>
          <a:p xmlns:a="http://schemas.openxmlformats.org/drawingml/2006/main">
            <a:r>
              <a:t>Agreement under a fixed rule tests imputation sensitivity. Independent refitting and missingness assumptions require separate checks.</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 · H1</a:t>
            </a:r>
          </a:p>
          <a:p xmlns:a="http://schemas.openxmlformats.org/drawingml/2006/main">
            <a:r>
              <a:t/>
            </a:r>
          </a:p>
          <a:p xmlns:a="http://schemas.openxmlformats.org/drawingml/2006/main">
            <a:r>
              <a:t>Three cognitive severity tiers emerge</a:t>
            </a:r>
          </a:p>
          <a:p xmlns:a="http://schemas.openxmlformats.org/drawingml/2006/main">
            <a:r>
              <a:t/>
            </a:r>
          </a:p>
          <a:p xmlns:a="http://schemas.openxmlformats.org/drawingml/2006/main">
            <a:r>
              <a:t>Above-Average</a:t>
            </a:r>
          </a:p>
          <a:p xmlns:a="http://schemas.openxmlformats.org/drawingml/2006/main">
            <a:r>
              <a:t/>
            </a:r>
          </a:p>
          <a:p xmlns:a="http://schemas.openxmlformats.org/drawingml/2006/main">
            <a:r>
              <a:t>above cohort mean</a:t>
            </a:r>
          </a:p>
          <a:p xmlns:a="http://schemas.openxmlformats.org/drawingml/2006/main">
            <a:r>
              <a:t/>
            </a:r>
          </a:p>
          <a:p xmlns:a="http://schemas.openxmlformats.org/drawingml/2006/main">
            <a:r>
              <a:t>6,725</a:t>
            </a:r>
          </a:p>
          <a:p xmlns:a="http://schemas.openxmlformats.org/drawingml/2006/main">
            <a:r>
              <a:t/>
            </a:r>
          </a:p>
          <a:p xmlns:a="http://schemas.openxmlformats.org/drawingml/2006/main">
            <a:r>
              <a:t>Near-Normal</a:t>
            </a:r>
          </a:p>
          <a:p xmlns:a="http://schemas.openxmlformats.org/drawingml/2006/main">
            <a:r>
              <a:t/>
            </a:r>
          </a:p>
          <a:p xmlns:a="http://schemas.openxmlformats.org/drawingml/2006/main">
            <a:r>
              <a:t>close to the average</a:t>
            </a:r>
          </a:p>
          <a:p xmlns:a="http://schemas.openxmlformats.org/drawingml/2006/main">
            <a:r>
              <a:t/>
            </a:r>
          </a:p>
          <a:p xmlns:a="http://schemas.openxmlformats.org/drawingml/2006/main">
            <a:r>
              <a:t>6,328</a:t>
            </a:r>
          </a:p>
          <a:p xmlns:a="http://schemas.openxmlformats.org/drawingml/2006/main">
            <a:r>
              <a:t/>
            </a:r>
          </a:p>
          <a:p xmlns:a="http://schemas.openxmlformats.org/drawingml/2006/main">
            <a:r>
              <a:t>Global Impairment</a:t>
            </a:r>
          </a:p>
          <a:p xmlns:a="http://schemas.openxmlformats.org/drawingml/2006/main">
            <a:r>
              <a:t/>
            </a:r>
          </a:p>
          <a:p xmlns:a="http://schemas.openxmlformats.org/drawingml/2006/main">
            <a:r>
              <a:t>below cohort mean</a:t>
            </a:r>
          </a:p>
          <a:p xmlns:a="http://schemas.openxmlformats.org/drawingml/2006/main">
            <a:r>
              <a:t/>
            </a:r>
          </a:p>
          <a:p xmlns:a="http://schemas.openxmlformats.org/drawingml/2006/main">
            <a:r>
              <a:t>4,353</a:t>
            </a:r>
          </a:p>
          <a:p xmlns:a="http://schemas.openxmlformats.org/drawingml/2006/main">
            <a:r>
              <a:t/>
            </a:r>
          </a:p>
          <a:p xmlns:a="http://schemas.openxmlformats.org/drawingml/2006/main">
            <a:r>
              <a:t>All 10 methods meet the selected embedding thresholds. MICE silhouette ≈ 0.53 after reassignment; k = 3. Discrete phenotypes remain unconfirmed.</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conceptual heart of the thesis. If these were genuine subtypes, the tiers would have different shapes — strong here, weak there. They don't. The radar profiles on the left are roughly concentric: the tiers differ in overall size, not in shape, and every domain moves in the same direction together. The PCA on the right confirms it — the first principal component alone explains nearly 56 percent of the variance, and every domain loads positively on it. That is the signature of a single dominant axis: overall cognitive severity. So the dominant signal is global severity, not a symptom-specific dissociation. The three tiers discretize a continuum; they are not a catalogue of phenotypes.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 · H2</a:t>
            </a:r>
          </a:p>
          <a:p xmlns:a="http://schemas.openxmlformats.org/drawingml/2006/main">
            <a:r>
              <a:t/>
            </a:r>
          </a:p>
          <a:p xmlns:a="http://schemas.openxmlformats.org/drawingml/2006/main">
            <a:r>
              <a:t>Robust across imputation methods</a:t>
            </a:r>
          </a:p>
          <a:p xmlns:a="http://schemas.openxmlformats.org/drawingml/2006/main">
            <a:r>
              <a:t/>
            </a:r>
          </a:p>
          <a:p xmlns:a="http://schemas.openxmlformats.org/drawingml/2006/main">
            <a:r>
              <a:t>Pairwise ARI across all ten imputation methods</a:t>
            </a:r>
          </a:p>
          <a:p xmlns:a="http://schemas.openxmlformats.org/drawingml/2006/main">
            <a:r>
              <a:t/>
            </a:r>
          </a:p>
          <a:p xmlns:a="http://schemas.openxmlformats.org/drawingml/2006/main">
            <a:r>
              <a:t>0.71</a:t>
            </a:r>
          </a:p>
          <a:p xmlns:a="http://schemas.openxmlformats.org/drawingml/2006/main">
            <a:r>
              <a:t/>
            </a:r>
          </a:p>
          <a:p xmlns:a="http://schemas.openxmlformats.org/drawingml/2006/main">
            <a:r>
              <a:t>mean ARI · assessment-bootstrap 95% interval 0.702–0.717</a:t>
            </a:r>
          </a:p>
          <a:p xmlns:a="http://schemas.openxmlformats.org/drawingml/2006/main">
            <a:r>
              <a:t/>
            </a:r>
          </a:p>
          <a:p xmlns:a="http://schemas.openxmlformats.org/drawingml/2006/main">
            <a:r>
              <a:t>44 / 45</a:t>
            </a:r>
          </a:p>
          <a:p xmlns:a="http://schemas.openxmlformats.org/drawingml/2006/main">
            <a:r>
              <a:t/>
            </a:r>
          </a:p>
          <a:p xmlns:a="http://schemas.openxmlformats.org/drawingml/2006/main">
            <a:r>
              <a:t>method pairs survive Holm correction</a:t>
            </a:r>
          </a:p>
          <a:p xmlns:a="http://schemas.openxmlformats.org/drawingml/2006/main">
            <a:r>
              <a:t/>
            </a:r>
          </a:p>
          <a:p xmlns:a="http://schemas.openxmlformats.org/drawingml/2006/main">
            <a:r>
              <a:t>&gt; 86%</a:t>
            </a:r>
          </a:p>
          <a:p xmlns:a="http://schemas.openxmlformats.org/drawingml/2006/main">
            <a:r>
              <a:t/>
            </a:r>
          </a:p>
          <a:p xmlns:a="http://schemas.openxmlformats.org/drawingml/2006/main">
            <a:r>
              <a:t>assessments with at least 80% assignment agreement</a:t>
            </a:r>
          </a:p>
          <a:p xmlns:a="http://schemas.openxmlformats.org/drawingml/2006/main">
            <a:r>
              <a:t/>
            </a:r>
          </a:p>
          <a:p xmlns:a="http://schemas.openxmlformats.org/drawingml/2006/main">
            <a:r>
              <a:t>Scope: point assignments are robust under a fixed scaler, embedding and partition — not full invariance of independently re-fit pipelines.</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 · H2</a:t>
            </a:r>
          </a:p>
          <a:p xmlns:a="http://schemas.openxmlformats.org/drawingml/2006/main">
            <a:r>
              <a:t/>
            </a:r>
          </a:p>
          <a:p xmlns:a="http://schemas.openxmlformats.org/drawingml/2006/main">
            <a:r>
              <a:t>Complete-case analysis changes the answer</a:t>
            </a:r>
          </a:p>
          <a:p xmlns:a="http://schemas.openxmlformats.org/drawingml/2006/main">
            <a:r>
              <a:t/>
            </a:r>
          </a:p>
          <a:p xmlns:a="http://schemas.openxmlformats.org/drawingml/2006/main">
            <a:r>
              <a:t>Complete-case selection changes</a:t>
            </a:r>
          </a:p>
          <a:p xmlns:a="http://schemas.openxmlformats.org/drawingml/2006/main">
            <a:r>
              <a:t/>
            </a:r>
          </a:p>
          <a:p xmlns:a="http://schemas.openxmlformats.org/drawingml/2006/main">
            <a:r>
              <a:t>the cohort and partition.</a:t>
            </a:r>
          </a:p>
          <a:p xmlns:a="http://schemas.openxmlformats.org/drawingml/2006/main">
            <a:r>
              <a:t/>
            </a:r>
          </a:p>
          <a:p xmlns:a="http://schemas.openxmlformats.org/drawingml/2006/main">
            <a:r>
              <a:t>The supplementary baseline used raw-test aggregation. These statistics do not validate the standardized patient-level pipeline.</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 · H3</a:t>
            </a:r>
          </a:p>
          <a:p xmlns:a="http://schemas.openxmlformats.org/drawingml/2006/main">
            <a:r>
              <a:t/>
            </a:r>
          </a:p>
          <a:p xmlns:a="http://schemas.openxmlformats.org/drawingml/2006/main">
            <a:r>
              <a:t>Tiers track clinical unit assignment</a:t>
            </a:r>
          </a:p>
          <a:p xmlns:a="http://schemas.openxmlformats.org/drawingml/2006/main">
            <a:r>
              <a:t/>
            </a:r>
          </a:p>
          <a:p xmlns:a="http://schemas.openxmlformats.org/drawingml/2006/main">
            <a:r>
              <a:t>χ² = 911   p &lt; 10⁻¹⁵⁶</a:t>
            </a:r>
          </a:p>
          <a:p xmlns:a="http://schemas.openxmlformats.org/drawingml/2006/main">
            <a:r>
              <a:t/>
            </a:r>
          </a:p>
          <a:p xmlns:a="http://schemas.openxmlformats.org/drawingml/2006/main">
            <a:r>
              <a:t>0.16</a:t>
            </a:r>
          </a:p>
          <a:p xmlns:a="http://schemas.openxmlformats.org/drawingml/2006/main">
            <a:r>
              <a:t/>
            </a:r>
          </a:p>
          <a:p xmlns:a="http://schemas.openxmlformats.org/drawingml/2006/main">
            <a:r>
              <a:t>Cramér's V  ·  criterion &gt; 0.10</a:t>
            </a:r>
          </a:p>
          <a:p xmlns:a="http://schemas.openxmlformats.org/drawingml/2006/main">
            <a:r>
              <a:t/>
            </a:r>
          </a:p>
          <a:p xmlns:a="http://schemas.openxmlformats.org/drawingml/2006/main">
            <a:r>
              <a:t>Small association with clinical-unit assignment.</a:t>
            </a:r>
          </a:p>
          <a:p xmlns:a="http://schemas.openxmlformats.org/drawingml/2006/main">
            <a:r>
              <a:t>Patient-grouped log-loss gain: 0.0013; interval includes zero.</a:t>
            </a:r>
          </a:p>
          <a:p xmlns:a="http://schemas.openxmlformats.org/drawingml/2006/main">
            <a:r>
              <a:t>Added predictive value beyond diagnosis is unconfirmed.</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 · H4</a:t>
            </a:r>
          </a:p>
          <a:p xmlns:a="http://schemas.openxmlformats.org/drawingml/2006/main">
            <a:r>
              <a:t/>
            </a:r>
          </a:p>
          <a:p xmlns:a="http://schemas.openxmlformats.org/drawingml/2006/main">
            <a:r>
              <a:t>Domain aggregation improves conditioning</a:t>
            </a:r>
          </a:p>
          <a:p xmlns:a="http://schemas.openxmlformats.org/drawingml/2006/main">
            <a:r>
              <a:t/>
            </a:r>
          </a:p>
          <a:p xmlns:a="http://schemas.openxmlformats.org/drawingml/2006/main">
            <a:r>
              <a:t>Silhouette</a:t>
            </a:r>
          </a:p>
          <a:p xmlns:a="http://schemas.openxmlformats.org/drawingml/2006/main">
            <a:r>
              <a:t/>
            </a:r>
          </a:p>
          <a:p xmlns:a="http://schemas.openxmlformats.org/drawingml/2006/main">
            <a:r>
              <a:t>0.473   →  0.481</a:t>
            </a:r>
          </a:p>
          <a:p xmlns:a="http://schemas.openxmlformats.org/drawingml/2006/main">
            <a:r>
              <a:t/>
            </a:r>
          </a:p>
          <a:p xmlns:a="http://schemas.openxmlformats.org/drawingml/2006/main">
            <a:r>
              <a:t>variables → domains</a:t>
            </a:r>
          </a:p>
          <a:p xmlns:a="http://schemas.openxmlformats.org/drawingml/2006/main">
            <a:r>
              <a:t/>
            </a:r>
          </a:p>
          <a:p xmlns:a="http://schemas.openxmlformats.org/drawingml/2006/main">
            <a:r>
              <a:t>Mean VIF</a:t>
            </a:r>
          </a:p>
          <a:p xmlns:a="http://schemas.openxmlformats.org/drawingml/2006/main">
            <a:r>
              <a:t/>
            </a:r>
          </a:p>
          <a:p xmlns:a="http://schemas.openxmlformats.org/drawingml/2006/main">
            <a:r>
              <a:t>2.77   →  1.88</a:t>
            </a:r>
          </a:p>
          <a:p xmlns:a="http://schemas.openxmlformats.org/drawingml/2006/main">
            <a:r>
              <a:t/>
            </a:r>
          </a:p>
          <a:p xmlns:a="http://schemas.openxmlformats.org/drawingml/2006/main">
            <a:r>
              <a:t>variables → domains</a:t>
            </a:r>
          </a:p>
          <a:p xmlns:a="http://schemas.openxmlformats.org/drawingml/2006/main">
            <a:r>
              <a:t/>
            </a:r>
          </a:p>
          <a:p xmlns:a="http://schemas.openxmlformats.org/drawingml/2006/main">
            <a:r>
              <a:t>Condition number</a:t>
            </a:r>
          </a:p>
          <a:p xmlns:a="http://schemas.openxmlformats.org/drawingml/2006/main">
            <a:r>
              <a:t/>
            </a:r>
          </a:p>
          <a:p xmlns:a="http://schemas.openxmlformats.org/drawingml/2006/main">
            <a:r>
              <a:t>61.7  →  11.8</a:t>
            </a:r>
          </a:p>
          <a:p xmlns:a="http://schemas.openxmlformats.org/drawingml/2006/main">
            <a:r>
              <a:t/>
            </a:r>
          </a:p>
          <a:p xmlns:a="http://schemas.openxmlformats.org/drawingml/2006/main">
            <a:r>
              <a:t>variables → domains</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me pull the interpretation together, because the distinction is the whole point. A subtype account says patients differ qualitatively — different profiles, different kinds. A gradient account says they differ mostly along one shared axis of severity, and the tiers are practical bands cut from that axis. Everything points to the gradient: concentric profiles, over half the variance on PC1, all-positive loadings, tiers behaving like ordered bands. I'm not claiming domain-specific dissociations never exist — they can. I'm claiming that in this dataset, with an imputation-robust domain-level pipeline, overall severity dominates. And a warning is embedded here: poor scaling, redundant or non-cognitive features, or complete-case selection can all manufacture patterns that look like subtypes but aren't.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IMPLICATIONS</a:t>
            </a:r>
          </a:p>
          <a:p xmlns:a="http://schemas.openxmlformats.org/drawingml/2006/main">
            <a:r>
              <a:t/>
            </a:r>
          </a:p>
          <a:p xmlns:a="http://schemas.openxmlformats.org/drawingml/2006/main">
            <a:r>
              <a:t>Clinical and analytic utility</a:t>
            </a:r>
          </a:p>
          <a:p xmlns:a="http://schemas.openxmlformats.org/drawingml/2006/main">
            <a:r>
              <a:t/>
            </a:r>
          </a:p>
          <a:p xmlns:a="http://schemas.openxmlformats.org/drawingml/2006/main">
            <a:r>
              <a:t>Clinical users</a:t>
            </a:r>
          </a:p>
          <a:p xmlns:a="http://schemas.openxmlformats.org/drawingml/2006/main">
            <a:r>
              <a:t/>
            </a:r>
          </a:p>
          <a:p xmlns:a="http://schemas.openxmlformats.org/drawingml/2006/main">
            <a:r>
              <a:t>Descriptive cognitive-score bands.</a:t>
            </a:r>
          </a:p>
          <a:p xmlns:a="http://schemas.openxmlformats.org/drawingml/2006/main">
            <a:r>
              <a:t>Agreement scores express model consensus.</a:t>
            </a:r>
          </a:p>
          <a:p xmlns:a="http://schemas.openxmlformats.org/drawingml/2006/main">
            <a:r>
              <a:t>Clinical utility still requires independent validation.</a:t>
            </a:r>
          </a:p>
          <a:p xmlns:a="http://schemas.openxmlformats.org/drawingml/2006/main">
            <a:r>
              <a:t/>
            </a:r>
          </a:p>
          <a:p xmlns:a="http://schemas.openxmlformats.org/drawingml/2006/main">
            <a:r>
              <a:t>Analytic users</a:t>
            </a:r>
          </a:p>
          <a:p xmlns:a="http://schemas.openxmlformats.org/drawingml/2006/main">
            <a:r>
              <a:t/>
            </a:r>
          </a:p>
          <a:p xmlns:a="http://schemas.openxmlformats.org/drawingml/2006/main">
            <a:r>
              <a:t>Reproducible missingness-aware pipeline.</a:t>
            </a:r>
          </a:p>
          <a:p xmlns:a="http://schemas.openxmlformats.org/drawingml/2006/main">
            <a:r>
              <a:t>Explicit, testable imputation decisions.</a:t>
            </a:r>
          </a:p>
          <a:p xmlns:a="http://schemas.openxmlformats.org/drawingml/2006/main">
            <a:r>
              <a:t>Adaptable for linking cognition to outcomes.</a:t>
            </a:r>
          </a:p>
          <a:p xmlns:a="http://schemas.openxmlformats.org/drawingml/2006/main">
            <a:r>
              <a:t/>
            </a:r>
          </a:p>
          <a:p xmlns:a="http://schemas.openxmlformats.org/drawingml/2006/main">
            <a:r>
              <a:t>Long-term contribution: make missing-data decisions explicit, then test their influence — rather than hiding them.</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TRANSLATION</a:t>
            </a:r>
          </a:p>
          <a:p xmlns:a="http://schemas.openxmlformats.org/drawingml/2006/main">
            <a:r>
              <a:t/>
            </a:r>
          </a:p>
          <a:p xmlns:a="http://schemas.openxmlformats.org/drawingml/2006/main">
            <a:r>
              <a:t>CogDash — exploring the research findings</a:t>
            </a:r>
          </a:p>
          <a:p xmlns:a="http://schemas.openxmlformats.org/drawingml/2006/main">
            <a:r>
              <a:t/>
            </a:r>
          </a:p>
          <a:p xmlns:a="http://schemas.openxmlformats.org/drawingml/2006/main">
            <a:r>
              <a:t>Assessment-level and patient-level findings in eleven pages.</a:t>
            </a:r>
          </a:p>
          <a:p xmlns:a="http://schemas.openxmlformats.org/drawingml/2006/main">
            <a:r>
              <a:t>Saved-model profile comparison reports distances, not clinical probabilities.</a:t>
            </a:r>
          </a:p>
          <a:p xmlns:a="http://schemas.openxmlformats.org/drawingml/2006/main">
            <a:r>
              <a:t>Research use; diagnostic and treatment utility remain unconfirmed.</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CAVEATS</a:t>
            </a:r>
          </a:p>
          <a:p xmlns:a="http://schemas.openxmlformats.org/drawingml/2006/main">
            <a:r>
              <a:t/>
            </a:r>
          </a:p>
          <a:p xmlns:a="http://schemas.openxmlformats.org/drawingml/2006/main">
            <a:r>
              <a:t>Limitations</a:t>
            </a:r>
          </a:p>
          <a:p xmlns:a="http://schemas.openxmlformats.org/drawingml/2006/main">
            <a:r>
              <a:t/>
            </a:r>
          </a:p>
          <a:p xmlns:a="http://schemas.openxmlformats.org/drawingml/2006/main">
            <a:r>
              <a:t>Single site</a:t>
            </a:r>
          </a:p>
          <a:p xmlns:a="http://schemas.openxmlformats.org/drawingml/2006/main">
            <a:r>
              <a:t/>
            </a:r>
          </a:p>
          <a:p xmlns:a="http://schemas.openxmlformats.org/drawingml/2006/main">
            <a:r>
              <a:t>One rehabilitation centre — external replication is required.</a:t>
            </a:r>
          </a:p>
          <a:p xmlns:a="http://schemas.openxmlformats.org/drawingml/2006/main">
            <a:r>
              <a:t/>
            </a:r>
          </a:p>
          <a:p xmlns:a="http://schemas.openxmlformats.org/drawingml/2006/main">
            <a:r>
              <a:t>Longitudinal selection</a:t>
            </a:r>
          </a:p>
          <a:p xmlns:a="http://schemas.openxmlformats.org/drawingml/2006/main">
            <a:r>
              <a:t/>
            </a:r>
          </a:p>
          <a:p xmlns:a="http://schemas.openxmlformats.org/drawingml/2006/main">
            <a:r>
              <a:t>One trajectory class meets the 5% size rule; nonlinear change and informative dropout remain unresolved.</a:t>
            </a:r>
          </a:p>
          <a:p xmlns:a="http://schemas.openxmlformats.org/drawingml/2006/main">
            <a:r>
              <a:t/>
            </a:r>
          </a:p>
          <a:p xmlns:a="http://schemas.openxmlformats.org/drawingml/2006/main">
            <a:r>
              <a:t>Missing-data assumptions</a:t>
            </a:r>
          </a:p>
          <a:p xmlns:a="http://schemas.openxmlformats.org/drawingml/2006/main">
            <a:r>
              <a:t/>
            </a:r>
          </a:p>
          <a:p xmlns:a="http://schemas.openxmlformats.org/drawingml/2006/main">
            <a:r>
              <a:t>MAR is a working assumption; MNAR cannot be excluded.</a:t>
            </a:r>
          </a:p>
          <a:p xmlns:a="http://schemas.openxmlformats.org/drawingml/2006/main">
            <a:r>
              <a:t/>
            </a:r>
          </a:p>
          <a:p xmlns:a="http://schemas.openxmlformats.org/drawingml/2006/main">
            <a:r>
              <a:t>No functional outcomes</a:t>
            </a:r>
          </a:p>
          <a:p xmlns:a="http://schemas.openxmlformats.org/drawingml/2006/main">
            <a:r>
              <a:t/>
            </a:r>
          </a:p>
          <a:p xmlns:a="http://schemas.openxmlformats.org/drawingml/2006/main">
            <a:r>
              <a:t>Return-to-work, length-of-stay and independence were unavailable.</a:t>
            </a:r>
          </a:p>
          <a:p xmlns:a="http://schemas.openxmlformats.org/drawingml/2006/main">
            <a:r>
              <a:t/>
            </a:r>
          </a:p>
          <a:p xmlns:a="http://schemas.openxmlformats.org/drawingml/2006/main">
            <a:r>
              <a:t>Embedding-based validation</a:t>
            </a:r>
          </a:p>
          <a:p xmlns:a="http://schemas.openxmlformats.org/drawingml/2006/main">
            <a:r>
              <a:t/>
            </a:r>
          </a:p>
          <a:p xmlns:a="http://schemas.openxmlformats.org/drawingml/2006/main">
            <a:r>
              <a:t>UMAP-space silhouette may overstate separation.</a:t>
            </a:r>
          </a:p>
          <a:p xmlns:a="http://schemas.openxmlformats.org/drawingml/2006/main">
            <a:r>
              <a:t/>
            </a:r>
          </a:p>
          <a:p xmlns:a="http://schemas.openxmlformats.org/drawingml/2006/main">
            <a:r>
              <a:t>Pipeline sensitivity</a:t>
            </a:r>
          </a:p>
          <a:p xmlns:a="http://schemas.openxmlformats.org/drawingml/2006/main">
            <a:r>
              <a:t/>
            </a:r>
          </a:p>
          <a:p xmlns:a="http://schemas.openxmlformats.org/drawingml/2006/main">
            <a:r>
              <a:t>Scaling changes patient-level membership substantially (ARI 0.243).</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SUMMARY</a:t>
            </a:r>
          </a:p>
          <a:p xmlns:a="http://schemas.openxmlformats.org/drawingml/2006/main">
            <a:r>
              <a:t/>
            </a:r>
          </a:p>
          <a:p xmlns:a="http://schemas.openxmlformats.org/drawingml/2006/main">
            <a:r>
              <a:t>Three conclusions</a:t>
            </a:r>
          </a:p>
          <a:p xmlns:a="http://schemas.openxmlformats.org/drawingml/2006/main">
            <a:r>
              <a:t/>
            </a:r>
          </a:p>
          <a:p xmlns:a="http://schemas.openxmlformats.org/drawingml/2006/main">
            <a:r>
              <a:t>1</a:t>
            </a:r>
          </a:p>
          <a:p xmlns:a="http://schemas.openxmlformats.org/drawingml/2006/main">
            <a:r>
              <a:t/>
            </a:r>
          </a:p>
          <a:p xmlns:a="http://schemas.openxmlformats.org/drawingml/2006/main">
            <a:r>
              <a:t>Empirical</a:t>
            </a:r>
          </a:p>
          <a:p xmlns:a="http://schemas.openxmlformats.org/drawingml/2006/main">
            <a:r>
              <a:t/>
            </a:r>
          </a:p>
          <a:p xmlns:a="http://schemas.openxmlformats.org/drawingml/2006/main">
            <a:r>
              <a:t>Repeatable score groups exist under specified choices. Distinct clinical phenotypes remain unconfirmed.</a:t>
            </a:r>
          </a:p>
          <a:p xmlns:a="http://schemas.openxmlformats.org/drawingml/2006/main">
            <a:r>
              <a:t/>
            </a:r>
          </a:p>
          <a:p xmlns:a="http://schemas.openxmlformats.org/drawingml/2006/main">
            <a:r>
              <a:t>2</a:t>
            </a:r>
          </a:p>
          <a:p xmlns:a="http://schemas.openxmlformats.org/drawingml/2006/main">
            <a:r>
              <a:t/>
            </a:r>
          </a:p>
          <a:p xmlns:a="http://schemas.openxmlformats.org/drawingml/2006/main">
            <a:r>
              <a:t>Methodological</a:t>
            </a:r>
          </a:p>
          <a:p xmlns:a="http://schemas.openxmlformats.org/drawingml/2006/main">
            <a:r>
              <a:t/>
            </a:r>
          </a:p>
          <a:p xmlns:a="http://schemas.openxmlformats.org/drawingml/2006/main">
            <a:r>
              <a:t>Scaling, imputation and test availability materially affect group membership.</a:t>
            </a:r>
          </a:p>
          <a:p xmlns:a="http://schemas.openxmlformats.org/drawingml/2006/main">
            <a:r>
              <a:t/>
            </a:r>
          </a:p>
          <a:p xmlns:a="http://schemas.openxmlformats.org/drawingml/2006/main">
            <a:r>
              <a:t>3</a:t>
            </a:r>
          </a:p>
          <a:p xmlns:a="http://schemas.openxmlformats.org/drawingml/2006/main">
            <a:r>
              <a:t/>
            </a:r>
          </a:p>
          <a:p xmlns:a="http://schemas.openxmlformats.org/drawingml/2006/main">
            <a:r>
              <a:t>Practical</a:t>
            </a:r>
          </a:p>
          <a:p xmlns:a="http://schemas.openxmlformats.org/drawingml/2006/main">
            <a:r>
              <a:t/>
            </a:r>
          </a:p>
          <a:p xmlns:a="http://schemas.openxmlformats.org/drawingml/2006/main">
            <a:r>
              <a:t>Domain aggregation improves conditioning. Clinical utility requires independent outcomes and external replication.</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a:t>
            </a:r>
          </a:p>
          <a:p xmlns:a="http://schemas.openxmlformats.org/drawingml/2006/main">
            <a:r>
              <a:t/>
            </a:r>
          </a:p>
          <a:p xmlns:a="http://schemas.openxmlformats.org/drawingml/2006/main">
            <a:r>
              <a:t>Questions &amp; discussion</a:t>
            </a:r>
          </a:p>
          <a:p xmlns:a="http://schemas.openxmlformats.org/drawingml/2006/main">
            <a:r>
              <a:t/>
            </a:r>
          </a:p>
          <a:p xmlns:a="http://schemas.openxmlformats.org/drawingml/2006/main">
            <a:r>
              <a:t>Reproducible cognitive score groupings, with sensitivity to scaling and missingness. Clinical phenotypes remain unconfirmed.</a:t>
            </a:r>
          </a:p>
          <a:p xmlns:a="http://schemas.openxmlformats.org/drawingml/2006/main">
            <a:r>
              <a:t/>
            </a:r>
          </a:p>
          <a:p xmlns:a="http://schemas.openxmlformats.org/drawingml/2006/main">
            <a:r>
              <a:t>Zoltan Kunos   ·   Supervisor: Dr. Alejandro García-Rudolph</a:t>
            </a:r>
          </a:p>
          <a:p xmlns:a="http://schemas.openxmlformats.org/drawingml/2006/main">
            <a:r>
              <a:t>MSc Fundamental Principles of Data Science · Universitat de Barcelona</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slides follow, prepared for detailed examiner questions on the imputation set, the fixed-reference design, HDBSCAN, silhouette caveats, MNAR sensitivity, the clinical interpretation boundary, and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PATIENT-LEVEL EXTENSION</a:t>
            </a:r>
          </a:p>
          <a:p xmlns:a="http://schemas.openxmlformats.org/drawingml/2006/main">
            <a:r>
              <a:t/>
            </a:r>
          </a:p>
          <a:p xmlns:a="http://schemas.openxmlformats.org/drawingml/2006/main">
            <a:r>
              <a:t>Independent refitting and sensitivity</a:t>
            </a:r>
          </a:p>
          <a:p xmlns:a="http://schemas.openxmlformats.org/drawingml/2006/main">
            <a:r>
              <a:t/>
            </a:r>
          </a:p>
          <a:p xmlns:a="http://schemas.openxmlformats.org/drawingml/2006/main">
            <a:r>
              <a:t>1</a:t>
            </a:r>
          </a:p>
          <a:p xmlns:a="http://schemas.openxmlformats.org/drawingml/2006/main">
            <a:r>
              <a:t/>
            </a:r>
          </a:p>
          <a:p xmlns:a="http://schemas.openxmlformats.org/drawingml/2006/main">
            <a:r>
              <a:t>5,828 discovery patients · 1,457 validation patients</a:t>
            </a:r>
          </a:p>
          <a:p xmlns:a="http://schemas.openxmlformats.org/drawingml/2006/main">
            <a:r>
              <a:t/>
            </a:r>
          </a:p>
          <a:p xmlns:a="http://schemas.openxmlformats.org/drawingml/2006/main">
            <a:r>
              <a:t>2</a:t>
            </a:r>
          </a:p>
          <a:p xmlns:a="http://schemas.openxmlformats.org/drawingml/2006/main">
            <a:r>
              <a:t/>
            </a:r>
          </a:p>
          <a:p xmlns:a="http://schemas.openxmlformats.org/drawingml/2006/main">
            <a:r>
              <a:t>20 independent imputations: ARI 0.959 (2 groups), 0.935 (3 groups)</a:t>
            </a:r>
          </a:p>
          <a:p xmlns:a="http://schemas.openxmlformats.org/drawingml/2006/main">
            <a:r>
              <a:t/>
            </a:r>
          </a:p>
          <a:p xmlns:a="http://schemas.openxmlformats.org/drawingml/2006/main">
            <a:r>
              <a:t>3</a:t>
            </a:r>
          </a:p>
          <a:p xmlns:a="http://schemas.openxmlformats.org/drawingml/2006/main">
            <a:r>
              <a:t/>
            </a:r>
          </a:p>
          <a:p xmlns:a="http://schemas.openxmlformats.org/drawingml/2006/main">
            <a:r>
              <a:t>Robust versus equal-domain scaling: ARI 0.243</a:t>
            </a:r>
          </a:p>
          <a:p xmlns:a="http://schemas.openxmlformats.org/drawingml/2006/main">
            <a:r>
              <a:t/>
            </a:r>
          </a:p>
          <a:p xmlns:a="http://schemas.openxmlformats.org/drawingml/2006/main">
            <a:r>
              <a:t>4</a:t>
            </a:r>
          </a:p>
          <a:p xmlns:a="http://schemas.openxmlformats.org/drawingml/2006/main">
            <a:r>
              <a:t/>
            </a:r>
          </a:p>
          <a:p xmlns:a="http://schemas.openxmlformats.org/drawingml/2006/main">
            <a:r>
              <a:t>Student t mixtures select 8 components at the search boundary</a:t>
            </a:r>
          </a:p>
          <a:p xmlns:a="http://schemas.openxmlformats.org/drawingml/2006/main">
            <a:r>
              <a:t/>
            </a:r>
          </a:p>
          <a:p xmlns:a="http://schemas.openxmlformats.org/drawingml/2006/main">
            <a:r>
              <a:t>5</a:t>
            </a:r>
          </a:p>
          <a:p xmlns:a="http://schemas.openxmlformats.org/drawingml/2006/main">
            <a:r>
              <a:t/>
            </a:r>
          </a:p>
          <a:p xmlns:a="http://schemas.openxmlformats.org/drawingml/2006/main">
            <a:r>
              <a:t>2,013 longitudinal patients: one class meets the 5% size rule</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thesis Appendix A: the exact hyperparameter settings for all ten imputation methods. Where published defaults exist I used them; the rest were chosen by cross-validation or grid search — for example SoftImpute's regularisation and NMF's rank. The two deep methods, the denoising and variational autoencoders, share a 15-128-64-32 architecture with the configuration shown. I keep this slide for reproducibility questions or queries about any specific method's setup.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B</a:t>
            </a:r>
          </a:p>
          <a:p xmlns:a="http://schemas.openxmlformats.org/drawingml/2006/main">
            <a:r>
              <a:t/>
            </a:r>
          </a:p>
          <a:p xmlns:a="http://schemas.openxmlformats.org/drawingml/2006/main">
            <a:r>
              <a:t>H2 fixed-reference design</a:t>
            </a:r>
          </a:p>
          <a:p xmlns:a="http://schemas.openxmlformats.org/drawingml/2006/main">
            <a:r>
              <a:t/>
            </a:r>
          </a:p>
          <a:p xmlns:a="http://schemas.openxmlformats.org/drawingml/2006/main">
            <a:r>
              <a:t>Fit the reference scaler on MICE-imputed domain scores.</a:t>
            </a:r>
          </a:p>
          <a:p xmlns:a="http://schemas.openxmlformats.org/drawingml/2006/main">
            <a:r>
              <a:t>Fit one UMAP embedding from the MICE reference.</a:t>
            </a:r>
          </a:p>
          <a:p xmlns:a="http://schemas.openxmlformats.org/drawingml/2006/main">
            <a:r>
              <a:t>Fit a three-group k-means assignment rule.</a:t>
            </a:r>
          </a:p>
          <a:p xmlns:a="http://schemas.openxmlformats.org/drawingml/2006/main">
            <a:r>
              <a:t>Apply the frozen transformations to other imputations.</a:t>
            </a:r>
          </a:p>
          <a:p xmlns:a="http://schemas.openxmlformats.org/drawingml/2006/main">
            <a:r>
              <a:t>Compare assignments using pairwise ARI and NMI.</a:t>
            </a:r>
          </a:p>
          <a:p xmlns:a="http://schemas.openxmlformats.org/drawingml/2006/main">
            <a:r>
              <a:t/>
            </a:r>
          </a:p>
          <a:p xmlns:a="http://schemas.openxmlformats.org/drawingml/2006/main">
            <a:r>
              <a:t>Tests</a:t>
            </a:r>
          </a:p>
          <a:p xmlns:a="http://schemas.openxmlformats.org/drawingml/2006/main">
            <a:r>
              <a:t/>
            </a:r>
          </a:p>
          <a:p xmlns:a="http://schemas.openxmlformats.org/drawingml/2006/main">
            <a:r>
              <a:t>Robustness of point assignments to imputed values.</a:t>
            </a:r>
          </a:p>
          <a:p xmlns:a="http://schemas.openxmlformats.org/drawingml/2006/main">
            <a:r>
              <a:t/>
            </a:r>
          </a:p>
          <a:p xmlns:a="http://schemas.openxmlformats.org/drawingml/2006/main">
            <a:r>
              <a:t>Does not test</a:t>
            </a:r>
          </a:p>
          <a:p xmlns:a="http://schemas.openxmlformats.org/drawingml/2006/main">
            <a:r>
              <a:t/>
            </a:r>
          </a:p>
          <a:p xmlns:a="http://schemas.openxmlformats.org/drawingml/2006/main">
            <a:r>
              <a:t>Full invariance of independently discovered structures.</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HDBSCAN estimates local density via core distance, builds mutual-reachability distances, constructs a minimum spanning tree, extracts a hierarchy of density-connected components, selects persistent clusters by stability, and labels points outside persistent regions as noise. Unlike DBSCAN it does not reduce to a single fixed-epsilon solution — it integrates across density levels, which is why it can recover clusters of varying density without a preset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D</a:t>
            </a:r>
          </a:p>
          <a:p xmlns:a="http://schemas.openxmlformats.org/drawingml/2006/main">
            <a:r>
              <a:t/>
            </a:r>
          </a:p>
          <a:p xmlns:a="http://schemas.openxmlformats.org/drawingml/2006/main">
            <a:r>
              <a:t>Silhouette caveats</a:t>
            </a:r>
          </a:p>
          <a:p xmlns:a="http://schemas.openxmlformats.org/drawingml/2006/main">
            <a:r>
              <a:t/>
            </a:r>
          </a:p>
          <a:p xmlns:a="http://schemas.openxmlformats.org/drawingml/2006/main">
            <a:r>
              <a:t>UMAP emphasizes neighbourhood structure.</a:t>
            </a:r>
          </a:p>
          <a:p xmlns:a="http://schemas.openxmlformats.org/drawingml/2006/main">
            <a:r>
              <a:t>Embedding silhouette can overstate measured-domain separation.</a:t>
            </a:r>
          </a:p>
          <a:p xmlns:a="http://schemas.openxmlformats.org/drawingml/2006/main">
            <a:r>
              <a:t>Hyperparameter and seed selection make the chosen score optimistic.</a:t>
            </a:r>
          </a:p>
          <a:p xmlns:a="http://schemas.openxmlformats.org/drawingml/2006/main">
            <a:r>
              <a:t>Historical assessment subsampling gives mean ARI 0.273.</a:t>
            </a:r>
          </a:p>
          <a:p xmlns:a="http://schemas.openxmlformats.org/drawingml/2006/main">
            <a:r>
              <a:t/>
            </a:r>
          </a:p>
          <a:p xmlns:a="http://schemas.openxmlformats.org/drawingml/2006/main">
            <a:r>
              <a:t>Interpret silhouette as an internal pipeline-quality metric — not proof of natural categories.</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E</a:t>
            </a:r>
          </a:p>
          <a:p xmlns:a="http://schemas.openxmlformats.org/drawingml/2006/main">
            <a:r>
              <a:t/>
            </a:r>
          </a:p>
          <a:p xmlns:a="http://schemas.openxmlformats.org/drawingml/2006/main">
            <a:r>
              <a:t>Missing-not-at-random sensitivity</a:t>
            </a:r>
          </a:p>
          <a:p xmlns:a="http://schemas.openxmlformats.org/drawingml/2006/main">
            <a:r>
              <a:t/>
            </a:r>
          </a:p>
          <a:p xmlns:a="http://schemas.openxmlformats.org/drawingml/2006/main">
            <a:r>
              <a:t>MAR is a working assumption.</a:t>
            </a:r>
          </a:p>
          <a:p xmlns:a="http://schemas.openxmlformats.org/drawingml/2006/main">
            <a:r>
              <a:t>Observed data alone cannot rule out MNAR mechanisms.</a:t>
            </a:r>
          </a:p>
          <a:p xmlns:a="http://schemas.openxmlformats.org/drawingml/2006/main">
            <a:r>
              <a:t>Agreement across imputations does not establish MNAR robustness.</a:t>
            </a:r>
          </a:p>
          <a:p xmlns:a="http://schemas.openxmlformats.org/drawingml/2006/main">
            <a:r>
              <a:t>Clinically justified delta-shift sensitivity remains future work.</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F</a:t>
            </a:r>
          </a:p>
          <a:p xmlns:a="http://schemas.openxmlformats.org/drawingml/2006/main">
            <a:r>
              <a:t/>
            </a:r>
          </a:p>
          <a:p xmlns:a="http://schemas.openxmlformats.org/drawingml/2006/main">
            <a:r>
              <a:t>Clinical interpretation boundary</a:t>
            </a:r>
          </a:p>
          <a:p xmlns:a="http://schemas.openxmlformats.org/drawingml/2006/main">
            <a:r>
              <a:t/>
            </a:r>
          </a:p>
          <a:p xmlns:a="http://schemas.openxmlformats.org/drawingml/2006/main">
            <a:r>
              <a:t>Research summaries provide</a:t>
            </a:r>
          </a:p>
          <a:p xmlns:a="http://schemas.openxmlformats.org/drawingml/2006/main">
            <a:r>
              <a:t/>
            </a:r>
          </a:p>
          <a:p xmlns:a="http://schemas.openxmlformats.org/drawingml/2006/main">
            <a:r>
              <a:t>cohort-relative score bands;</a:t>
            </a:r>
          </a:p>
          <a:p xmlns:a="http://schemas.openxmlformats.org/drawingml/2006/main">
            <a:r>
              <a:t>assignment agreement across methods;</a:t>
            </a:r>
          </a:p>
          <a:p xmlns:a="http://schemas.openxmlformats.org/drawingml/2006/main">
            <a:r>
              <a:t>exploratory profile comparison;</a:t>
            </a:r>
          </a:p>
          <a:p xmlns:a="http://schemas.openxmlformats.org/drawingml/2006/main">
            <a:r>
              <a:t>candidates for outcome validation.</a:t>
            </a:r>
          </a:p>
          <a:p xmlns:a="http://schemas.openxmlformats.org/drawingml/2006/main">
            <a:r>
              <a:t/>
            </a:r>
          </a:p>
          <a:p xmlns:a="http://schemas.openxmlformats.org/drawingml/2006/main">
            <a:r>
              <a:t>The severity tier does NOT</a:t>
            </a:r>
          </a:p>
          <a:p xmlns:a="http://schemas.openxmlformats.org/drawingml/2006/main">
            <a:r>
              <a:t/>
            </a:r>
          </a:p>
          <a:p xmlns:a="http://schemas.openxmlformats.org/drawingml/2006/main">
            <a:r>
              <a:t>diagnose a patient;</a:t>
            </a:r>
          </a:p>
          <a:p xmlns:a="http://schemas.openxmlformats.org/drawingml/2006/main">
            <a:r>
              <a:t>prescribe treatment;</a:t>
            </a:r>
          </a:p>
          <a:p xmlns:a="http://schemas.openxmlformats.org/drawingml/2006/main">
            <a:r>
              <a:t>determine clinical placement;</a:t>
            </a:r>
          </a:p>
          <a:p xmlns:a="http://schemas.openxmlformats.org/drawingml/2006/main">
            <a:r>
              <a:t>replace professional judgement.</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G</a:t>
            </a:r>
          </a:p>
          <a:p xmlns:a="http://schemas.openxmlformats.org/drawingml/2006/main">
            <a:r>
              <a:t/>
            </a:r>
          </a:p>
          <a:p xmlns:a="http://schemas.openxmlformats.org/drawingml/2006/main">
            <a:r>
              <a:t>Future work</a:t>
            </a:r>
          </a:p>
          <a:p xmlns:a="http://schemas.openxmlformats.org/drawingml/2006/main">
            <a:r>
              <a:t/>
            </a:r>
          </a:p>
          <a:p xmlns:a="http://schemas.openxmlformats.org/drawingml/2006/main">
            <a:r>
              <a:t>External replication across rehabilitation centres.</a:t>
            </a:r>
          </a:p>
          <a:p xmlns:a="http://schemas.openxmlformats.org/drawingml/2006/main">
            <a:r>
              <a:t>Nonlinear trajectories and informative follow-up or dropout.</a:t>
            </a:r>
          </a:p>
          <a:p xmlns:a="http://schemas.openxmlformats.org/drawingml/2006/main">
            <a:r>
              <a:t>Validation against independent functional outcomes.</a:t>
            </a:r>
          </a:p>
          <a:p xmlns:a="http://schemas.openxmlformats.org/drawingml/2006/main">
            <a:r>
              <a:t>Broader incomplete-data models and MNAR sensitivity.</a:t>
            </a:r>
          </a:p>
          <a:p xmlns:a="http://schemas.openxmlformats.org/drawingml/2006/main">
            <a:r>
              <a:t>Prospective evaluation of CogDash before clinical use.</a:t>
            </a:r>
          </a:p>
          <a:p xmlns:a="http://schemas.openxmlformats.org/drawingml/2006/main">
            <a:r>
              <a:t>Continuous scores versus added value from group membership.</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H</a:t>
            </a:r>
          </a:p>
          <a:p xmlns:a="http://schemas.openxmlformats.org/drawingml/2006/main">
            <a:r>
              <a:t/>
            </a:r>
          </a:p>
          <a:p xmlns:a="http://schemas.openxmlformats.org/drawingml/2006/main">
            <a:r>
              <a:t>How to read the metrics</a:t>
            </a:r>
          </a:p>
          <a:p xmlns:a="http://schemas.openxmlformats.org/drawingml/2006/main">
            <a:r>
              <a:t/>
            </a:r>
          </a:p>
          <a:p xmlns:a="http://schemas.openxmlformats.org/drawingml/2006/main">
            <a:r>
              <a:t>Clustering quality &amp; robustness</a:t>
            </a:r>
          </a:p>
          <a:p xmlns:a="http://schemas.openxmlformats.org/drawingml/2006/main">
            <a:r>
              <a:t/>
            </a:r>
          </a:p>
          <a:p xmlns:a="http://schemas.openxmlformats.org/drawingml/2006/main">
            <a:r>
              <a:t>Silhouette</a:t>
            </a:r>
          </a:p>
          <a:p xmlns:a="http://schemas.openxmlformats.org/drawingml/2006/main">
            <a:r>
              <a:t/>
            </a:r>
          </a:p>
          <a:p xmlns:a="http://schemas.openxmlformats.org/drawingml/2006/main">
            <a:r>
              <a:t>Cohesion vs. separation — how well a point fits its own tier vs. the nearest other.</a:t>
            </a:r>
          </a:p>
          <a:p xmlns:a="http://schemas.openxmlformats.org/drawingml/2006/main">
            <a:r>
              <a:t/>
            </a:r>
          </a:p>
          <a:p xmlns:a="http://schemas.openxmlformats.org/drawingml/2006/main">
            <a:r>
              <a:t>−1 to 1 · criterion ≥ 0.40 · selected embedding ≈ 0.53</a:t>
            </a:r>
          </a:p>
          <a:p xmlns:a="http://schemas.openxmlformats.org/drawingml/2006/main">
            <a:r>
              <a:t/>
            </a:r>
          </a:p>
          <a:p xmlns:a="http://schemas.openxmlformats.org/drawingml/2006/main">
            <a:r>
              <a:t>Adjusted Rand Index (ARI)</a:t>
            </a:r>
          </a:p>
          <a:p xmlns:a="http://schemas.openxmlformats.org/drawingml/2006/main">
            <a:r>
              <a:t/>
            </a:r>
          </a:p>
          <a:p xmlns:a="http://schemas.openxmlformats.org/drawingml/2006/main">
            <a:r>
              <a:t>Agreement between two partitions, corrected for chance.</a:t>
            </a:r>
          </a:p>
          <a:p xmlns:a="http://schemas.openxmlformats.org/drawingml/2006/main">
            <a:r>
              <a:t/>
            </a:r>
          </a:p>
          <a:p xmlns:a="http://schemas.openxmlformats.org/drawingml/2006/main">
            <a:r>
              <a:t>0 = chance, 1 = identical · median criterion &gt; 0.50</a:t>
            </a:r>
          </a:p>
          <a:p xmlns:a="http://schemas.openxmlformats.org/drawingml/2006/main">
            <a:r>
              <a:t/>
            </a:r>
          </a:p>
          <a:p xmlns:a="http://schemas.openxmlformats.org/drawingml/2006/main">
            <a:r>
              <a:t>Normalised Mutual Information</a:t>
            </a:r>
          </a:p>
          <a:p xmlns:a="http://schemas.openxmlformats.org/drawingml/2006/main">
            <a:r>
              <a:t/>
            </a:r>
          </a:p>
          <a:p xmlns:a="http://schemas.openxmlformats.org/drawingml/2006/main">
            <a:r>
              <a:t>Shared information between two partitions, scaled 0–1.</a:t>
            </a:r>
          </a:p>
          <a:p xmlns:a="http://schemas.openxmlformats.org/drawingml/2006/main">
            <a:r>
              <a:t/>
            </a:r>
          </a:p>
          <a:p xmlns:a="http://schemas.openxmlformats.org/drawingml/2006/main">
            <a:r>
              <a:t>0 = independent, 1 = identical · corroborates ARI</a:t>
            </a:r>
          </a:p>
          <a:p xmlns:a="http://schemas.openxmlformats.org/drawingml/2006/main">
            <a:r>
              <a:t/>
            </a:r>
          </a:p>
          <a:p xmlns:a="http://schemas.openxmlformats.org/drawingml/2006/main">
            <a:r>
              <a:t>Consensus agreement</a:t>
            </a:r>
          </a:p>
          <a:p xmlns:a="http://schemas.openxmlformats.org/drawingml/2006/main">
            <a:r>
              <a:t/>
            </a:r>
          </a:p>
          <a:p xmlns:a="http://schemas.openxmlformats.org/drawingml/2006/main">
            <a:r>
              <a:t>For each assessment, the fraction of methods assigning its modal label.</a:t>
            </a:r>
          </a:p>
          <a:p xmlns:a="http://schemas.openxmlformats.org/drawingml/2006/main">
            <a:r>
              <a:t/>
            </a:r>
          </a:p>
          <a:p xmlns:a="http://schemas.openxmlformats.org/drawingml/2006/main">
            <a:r>
              <a:t>86.2% of assessments have agreement ≥ 80%</a:t>
            </a:r>
          </a:p>
          <a:p xmlns:a="http://schemas.openxmlformats.org/drawingml/2006/main">
            <a:r>
              <a:t/>
            </a:r>
          </a:p>
          <a:p xmlns:a="http://schemas.openxmlformats.org/drawingml/2006/main">
            <a:r>
              <a:t>Association &amp; conditioning</a:t>
            </a:r>
          </a:p>
          <a:p xmlns:a="http://schemas.openxmlformats.org/drawingml/2006/main">
            <a:r>
              <a:t/>
            </a:r>
          </a:p>
          <a:p xmlns:a="http://schemas.openxmlformats.org/drawingml/2006/main">
            <a:r>
              <a:t>χ² statistic</a:t>
            </a:r>
          </a:p>
          <a:p xmlns:a="http://schemas.openxmlformats.org/drawingml/2006/main">
            <a:r>
              <a:t/>
            </a:r>
          </a:p>
          <a:p xmlns:a="http://schemas.openxmlformats.org/drawingml/2006/main">
            <a:r>
              <a:t>Evidence that tier and clinical unit are associated — significance, not effect size; grows with N.</a:t>
            </a:r>
          </a:p>
          <a:p xmlns:a="http://schemas.openxmlformats.org/drawingml/2006/main">
            <a:r>
              <a:t/>
            </a:r>
          </a:p>
          <a:p xmlns:a="http://schemas.openxmlformats.org/drawingml/2006/main">
            <a:r>
              <a:t>χ² = 911 · p &lt; 10⁻¹⁵⁶</a:t>
            </a:r>
          </a:p>
          <a:p xmlns:a="http://schemas.openxmlformats.org/drawingml/2006/main">
            <a:r>
              <a:t/>
            </a:r>
          </a:p>
          <a:p xmlns:a="http://schemas.openxmlformats.org/drawingml/2006/main">
            <a:r>
              <a:t>Cramér's V</a:t>
            </a:r>
          </a:p>
          <a:p xmlns:a="http://schemas.openxmlformats.org/drawingml/2006/main">
            <a:r>
              <a:t/>
            </a:r>
          </a:p>
          <a:p xmlns:a="http://schemas.openxmlformats.org/drawingml/2006/main">
            <a:r>
              <a:t>Effect size of that association, scaled 0–1.</a:t>
            </a:r>
          </a:p>
          <a:p xmlns:a="http://schemas.openxmlformats.org/drawingml/2006/main">
            <a:r>
              <a:t/>
            </a:r>
          </a:p>
          <a:p xmlns:a="http://schemas.openxmlformats.org/drawingml/2006/main">
            <a:r>
              <a:t>Interpret with table dimensions · observed 0.162</a:t>
            </a:r>
          </a:p>
          <a:p xmlns:a="http://schemas.openxmlformats.org/drawingml/2006/main">
            <a:r>
              <a:t/>
            </a:r>
          </a:p>
          <a:p xmlns:a="http://schemas.openxmlformats.org/drawingml/2006/main">
            <a:r>
              <a:t>VIF (variance inflation factor)</a:t>
            </a:r>
          </a:p>
          <a:p xmlns:a="http://schemas.openxmlformats.org/drawingml/2006/main">
            <a:r>
              <a:t/>
            </a:r>
          </a:p>
          <a:p xmlns:a="http://schemas.openxmlformats.org/drawingml/2006/main">
            <a:r>
              <a:t>Per-feature redundancy from collinearity.</a:t>
            </a:r>
          </a:p>
          <a:p xmlns:a="http://schemas.openxmlformats.org/drawingml/2006/main">
            <a:r>
              <a:t/>
            </a:r>
          </a:p>
          <a:p xmlns:a="http://schemas.openxmlformats.org/drawingml/2006/main">
            <a:r>
              <a:t>1 = none; &gt; 5–10 concerning · 2.77 → 1.88</a:t>
            </a:r>
          </a:p>
          <a:p xmlns:a="http://schemas.openxmlformats.org/drawingml/2006/main">
            <a:r>
              <a:t/>
            </a:r>
          </a:p>
          <a:p xmlns:a="http://schemas.openxmlformats.org/drawingml/2006/main">
            <a:r>
              <a:t>Condition number</a:t>
            </a:r>
          </a:p>
          <a:p xmlns:a="http://schemas.openxmlformats.org/drawingml/2006/main">
            <a:r>
              <a:t/>
            </a:r>
          </a:p>
          <a:p xmlns:a="http://schemas.openxmlformats.org/drawingml/2006/main">
            <a:r>
              <a:t>Global conditioning of the feature set (λmax / λmin of the correlation matrix).</a:t>
            </a:r>
          </a:p>
          <a:p xmlns:a="http://schemas.openxmlformats.org/drawingml/2006/main">
            <a:r>
              <a:t/>
            </a:r>
          </a:p>
          <a:p xmlns:a="http://schemas.openxmlformats.org/drawingml/2006/main">
            <a:r>
              <a:t>Smaller is better conditioned · 61.7 → 11.8</a:t>
            </a:r>
          </a:p>
          <a:p xmlns:a="http://schemas.openxmlformats.org/drawingml/2006/main">
            <a:r>
              <a:t/>
            </a:r>
          </a:p>
          <a:p xmlns:a="http://schemas.openxmlformats.org/drawingml/2006/main">
            <a:r>
              <a:t>Source: report/main_short.pdf, Chapters 3–6 and Appendix A; saved analysis outputs in results/. Patient-level extension: report/research/clustering_results_2026.md (15 October 2026). Statistics refer to their stated assessment-level or patient-level design; clinical utility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5ac3beb3fd40c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2133d3a4974fe3" /><Relationship Type="http://schemas.openxmlformats.org/officeDocument/2006/relationships/slideLayout" Target="/ppt/slideLayouts/slideLayout1.xml" Id="Ra086fbaac44d4e0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86fbaac44d4e0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692b7c772b4e15" /><Relationship Type="http://schemas.openxmlformats.org/officeDocument/2006/relationships/notesSlide" Target="/ppt/notesSlides/notesSlide1.xml" Id="R8b91ec33257545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b3f5f6f19247c1" /><Relationship Type="http://schemas.openxmlformats.org/officeDocument/2006/relationships/notesSlide" Target="/ppt/notesSlides/notesSlide2.xml" Id="Rb8e72cae467140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cce07c394b42e9" /><Relationship Type="http://schemas.openxmlformats.org/officeDocument/2006/relationships/notesSlide" Target="/ppt/notesSlides/notesSlide3.xml" Id="R2a78ebad72904d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fe62fba25c49b9" /><Relationship Type="http://schemas.openxmlformats.org/officeDocument/2006/relationships/notesSlide" Target="/ppt/notesSlides/notesSlide4.xml" Id="R530c0b4dcee84b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90e939a44e4ea0" /><Relationship Type="http://schemas.openxmlformats.org/officeDocument/2006/relationships/image" Target="/ppt/media/image.png" Id="Rac34301310354030" /><Relationship Type="http://schemas.openxmlformats.org/officeDocument/2006/relationships/notesSlide" Target="/ppt/notesSlides/notesSlide5.xml" Id="R91e6036981c548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7c0646ea0048ff" /><Relationship Type="http://schemas.openxmlformats.org/officeDocument/2006/relationships/image" Target="/ppt/media/image2.png" Id="R07e53c1d82ec4afb" /><Relationship Type="http://schemas.openxmlformats.org/officeDocument/2006/relationships/notesSlide" Target="/ppt/notesSlides/notesSlide6.xml" Id="Rc98934ed80f940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9b8e176ec14a4e" /><Relationship Type="http://schemas.openxmlformats.org/officeDocument/2006/relationships/notesSlide" Target="/ppt/notesSlides/notesSlide7.xml" Id="Ra3f9f36c364441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7759bed7d344570" /><Relationship Type="http://schemas.openxmlformats.org/officeDocument/2006/relationships/image" Target="/ppt/media/image3.png" Id="Rb063441503634eee" /><Relationship Type="http://schemas.openxmlformats.org/officeDocument/2006/relationships/notesSlide" Target="/ppt/notesSlides/notesSlide8.xml" Id="R13795d028bac4d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4169a4be86433f" /><Relationship Type="http://schemas.openxmlformats.org/officeDocument/2006/relationships/image" Target="/ppt/media/image4.png" Id="Rc790140b67d3480b" /><Relationship Type="http://schemas.openxmlformats.org/officeDocument/2006/relationships/notesSlide" Target="/ppt/notesSlides/notesSlide9.xml" Id="R6e89c68009044e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fb213f6e6849d3" /><Relationship Type="http://schemas.openxmlformats.org/officeDocument/2006/relationships/notesSlide" Target="/ppt/notesSlides/notesSlide10.xml" Id="Rf637fa624c8248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d3dada5873f404a" /><Relationship Type="http://schemas.openxmlformats.org/officeDocument/2006/relationships/image" Target="/ppt/media/image5.png" Id="R9ce3ba1526bf4171" /><Relationship Type="http://schemas.openxmlformats.org/officeDocument/2006/relationships/notesSlide" Target="/ppt/notesSlides/notesSlide11.xml" Id="Ra3df8ad985824d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9c8787ad307421c" /><Relationship Type="http://schemas.openxmlformats.org/officeDocument/2006/relationships/image" Target="/ppt/media/image6.png" Id="R0c630c4e243745de" /><Relationship Type="http://schemas.openxmlformats.org/officeDocument/2006/relationships/notesSlide" Target="/ppt/notesSlides/notesSlide12.xml" Id="Rc3a7fe1bfdf742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0b57019123433a" /><Relationship Type="http://schemas.openxmlformats.org/officeDocument/2006/relationships/image" Target="/ppt/media/image7.png" Id="Rcbcbb18dcfa84586" /><Relationship Type="http://schemas.openxmlformats.org/officeDocument/2006/relationships/notesSlide" Target="/ppt/notesSlides/notesSlide13.xml" Id="R81df709deb364cb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6b699944aae403c" /><Relationship Type="http://schemas.openxmlformats.org/officeDocument/2006/relationships/notesSlide" Target="/ppt/notesSlides/notesSlide14.xml" Id="Re09c45773ae546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19054c652844586" /><Relationship Type="http://schemas.openxmlformats.org/officeDocument/2006/relationships/image" Target="/ppt/media/image8.png" Id="R3d23757003e94490" /><Relationship Type="http://schemas.openxmlformats.org/officeDocument/2006/relationships/notesSlide" Target="/ppt/notesSlides/notesSlide15.xml" Id="R73e0b9073f684e9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59cd95489624750" /><Relationship Type="http://schemas.openxmlformats.org/officeDocument/2006/relationships/image" Target="/ppt/media/image9.png" Id="R3e7bb30ce5fe4fde" /><Relationship Type="http://schemas.openxmlformats.org/officeDocument/2006/relationships/notesSlide" Target="/ppt/notesSlides/notesSlide16.xml" Id="Rdf654344b97f4a2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cc26411f5d44e4b" /><Relationship Type="http://schemas.openxmlformats.org/officeDocument/2006/relationships/notesSlide" Target="/ppt/notesSlides/notesSlide17.xml" Id="R79240f07e5394ef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06cc929f3354725" /><Relationship Type="http://schemas.openxmlformats.org/officeDocument/2006/relationships/notesSlide" Target="/ppt/notesSlides/notesSlide18.xml" Id="R3bf8c5025a3c4a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8829d0ad7614089" /><Relationship Type="http://schemas.openxmlformats.org/officeDocument/2006/relationships/image" Target="/ppt/media/image.jpeg" Id="R76e6bf07df4a4143" /><Relationship Type="http://schemas.openxmlformats.org/officeDocument/2006/relationships/image" Target="/ppt/media/image2.jpeg" Id="Rf7d28cf30e4246ea" /><Relationship Type="http://schemas.openxmlformats.org/officeDocument/2006/relationships/notesSlide" Target="/ppt/notesSlides/notesSlide19.xml" Id="R186e3705b918417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b8d53f216f64437" /><Relationship Type="http://schemas.openxmlformats.org/officeDocument/2006/relationships/notesSlide" Target="/ppt/notesSlides/notesSlide20.xml" Id="Re4f1db6762be4b2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7523c4c9cec4e67" /><Relationship Type="http://schemas.openxmlformats.org/officeDocument/2006/relationships/notesSlide" Target="/ppt/notesSlides/notesSlide21.xml" Id="Rcbd287a54e8945e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c81b2b93e3346a0" /><Relationship Type="http://schemas.openxmlformats.org/officeDocument/2006/relationships/notesSlide" Target="/ppt/notesSlides/notesSlide22.xml" Id="R66137825db1d478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b48872fca6e4669" /><Relationship Type="http://schemas.openxmlformats.org/officeDocument/2006/relationships/notesSlide" Target="/ppt/notesSlides/notesSlide23.xml" Id="R9422a32eb7c842f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4bcab3174ab4635" /><Relationship Type="http://schemas.openxmlformats.org/officeDocument/2006/relationships/notesSlide" Target="/ppt/notesSlides/notesSlide24.xml" Id="R4f3ed83a92ce43a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4def40270534a07" /><Relationship Type="http://schemas.openxmlformats.org/officeDocument/2006/relationships/notesSlide" Target="/ppt/notesSlides/notesSlide25.xml" Id="Rd4fa358d1fe84a0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8ba680b31a14f09" /><Relationship Type="http://schemas.openxmlformats.org/officeDocument/2006/relationships/notesSlide" Target="/ppt/notesSlides/notesSlide26.xml" Id="R62175055c23a430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218fe5f6aba4f23" /><Relationship Type="http://schemas.openxmlformats.org/officeDocument/2006/relationships/notesSlide" Target="/ppt/notesSlides/notesSlide27.xml" Id="Rfa6a227bafd3455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aa628ba2dbc4058" /><Relationship Type="http://schemas.openxmlformats.org/officeDocument/2006/relationships/notesSlide" Target="/ppt/notesSlides/notesSlide28.xml" Id="Rcbdb9246bdca448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494f8ce3bfd4499" /><Relationship Type="http://schemas.openxmlformats.org/officeDocument/2006/relationships/notesSlide" Target="/ppt/notesSlides/notesSlide29.xml" Id="Rfc6718cd923f4dd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2d898eb15264fec" /><Relationship Type="http://schemas.openxmlformats.org/officeDocument/2006/relationships/notesSlide" Target="/ppt/notesSlides/notesSlide30.xml" Id="Ra285165c30da466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3ea1e0be7de4583" /><Relationship Type="http://schemas.openxmlformats.org/officeDocument/2006/relationships/notesSlide" Target="/ppt/notesSlides/notesSlide31.xml" Id="Rfb516b62e5dc42d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c33b12fa85c4acb" /><Relationship Type="http://schemas.openxmlformats.org/officeDocument/2006/relationships/notesSlide" Target="/ppt/notesSlides/notesSlide32.xml" Id="R24c499ebd29c415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F7EA2EA-28D8-4AB2-94C9-79FB2D73AB60}"/>
              </a:ext>
            </a:extLst>
          </p:cNvPr>
          <p:cNvSpPr>
            <a:spLocks xmlns:a="http://schemas.openxmlformats.org/drawingml/2006/main" noGrp="1"/>
          </p:cNvSpPr>
          <p:nvPr/>
        </p:nvSpPr>
        <p:spPr>
          <a:xfrm xmlns:a="http://schemas.openxmlformats.org/drawingml/2006/main">
            <a:off x="0" y="0"/>
            <a:ext cx="256032" cy="6858000"/>
          </a:xfrm>
          <a:prstGeom xmlns:a="http://schemas.openxmlformats.org/drawingml/2006/main" prst="rect">
            <a:avLst/>
          </a:prstGeom>
          <a:solidFill xmlns:a="http://schemas.openxmlformats.org/drawingml/2006/main">
            <a:srgbClr val="11707A"/>
          </a:solidFill>
        </p:spPr>
      </p:sp>
      <p:sp>
        <p:nvSpPr>
          <p:cNvPr id="3" name="Text 1">
            <a:extLst xmlns:a="http://schemas.openxmlformats.org/drawingml/2006/main">
              <a:ext uri="{FF2B5EF4-FFF2-40B4-BE49-F238E27FC236}">
                <a16:creationId xmlns:a16="http://schemas.microsoft.com/office/drawing/2014/main" id="{C14339EC-4A66-49D0-9A91-EE01B637FDB0}"/>
              </a:ext>
            </a:extLst>
          </p:cNvPr>
          <p:cNvSpPr>
            <a:spLocks xmlns:a="http://schemas.openxmlformats.org/drawingml/2006/main" noGrp="1"/>
          </p:cNvSpPr>
          <p:nvPr/>
        </p:nvSpPr>
        <p:spPr>
          <a:xfrm xmlns:a="http://schemas.openxmlformats.org/drawingml/2006/main">
            <a:off x="914400" y="137160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300">
                <a:solidFill>
                  <a:srgbClr val="11707A"/>
                </a:solidFill>
                <a:latin typeface="Arial"/>
                <a:ea typeface="Arial"/>
                <a:cs typeface="Arial"/>
              </a:rPr>
              <a:t>MSC THESIS DEFENSE</a:t>
            </a:r>
            <a:endParaRPr sz="1300"/>
          </a:p>
        </p:txBody>
      </p:sp>
      <p:sp>
        <p:nvSpPr>
          <p:cNvPr id="4" name="Text 2">
            <a:extLst xmlns:a="http://schemas.openxmlformats.org/drawingml/2006/main">
              <a:ext uri="{FF2B5EF4-FFF2-40B4-BE49-F238E27FC236}">
                <a16:creationId xmlns:a16="http://schemas.microsoft.com/office/drawing/2014/main" id="{8698AB91-54E4-435C-9B86-B412443A1659}"/>
              </a:ext>
            </a:extLst>
          </p:cNvPr>
          <p:cNvSpPr>
            <a:spLocks xmlns:a="http://schemas.openxmlformats.org/drawingml/2006/main" noGrp="1"/>
          </p:cNvSpPr>
          <p:nvPr/>
        </p:nvSpPr>
        <p:spPr>
          <a:xfrm xmlns:a="http://schemas.openxmlformats.org/drawingml/2006/main">
            <a:off x="914400" y="1783080"/>
            <a:ext cx="10424160"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04000"/>
              </a:lnSpc>
              <a:buNone/>
            </a:pPr>
            <a:r>
              <a:rPr sz="4000" b="1">
                <a:solidFill>
                  <a:srgbClr val="1B2A30"/>
                </a:solidFill>
                <a:latin typeface="Arial"/>
                <a:ea typeface="Arial"/>
                <a:cs typeface="Arial"/>
              </a:rPr>
              <a:t>Data-Driven Cognitive Phenotyping</a:t>
            </a:r>
            <a:endParaRPr sz="4000"/>
          </a:p>
          <a:p xmlns:a="http://schemas.openxmlformats.org/drawingml/2006/main">
            <a:pPr marL="0" indent="0">
              <a:lnSpc>
                <a:spcPct val="104000"/>
              </a:lnSpc>
              <a:buNone/>
            </a:pPr>
            <a:r>
              <a:rPr sz="4000" b="1">
                <a:solidFill>
                  <a:srgbClr val="1B2A30"/>
                </a:solidFill>
                <a:latin typeface="Arial"/>
                <a:ea typeface="Arial"/>
                <a:cs typeface="Arial"/>
              </a:rPr>
              <a:t>in Acquired Brain Injury</a:t>
            </a:r>
            <a:endParaRPr sz="4000"/>
          </a:p>
        </p:txBody>
      </p:sp>
      <p:sp>
        <p:nvSpPr>
          <p:cNvPr id="5" name="Text 3">
            <a:extLst xmlns:a="http://schemas.openxmlformats.org/drawingml/2006/main">
              <a:ext uri="{FF2B5EF4-FFF2-40B4-BE49-F238E27FC236}">
                <a16:creationId xmlns:a16="http://schemas.microsoft.com/office/drawing/2014/main" id="{FC24A89F-2BDF-4F5B-A8BD-2D99F3F8C935}"/>
              </a:ext>
            </a:extLst>
          </p:cNvPr>
          <p:cNvSpPr>
            <a:spLocks xmlns:a="http://schemas.openxmlformats.org/drawingml/2006/main" noGrp="1"/>
          </p:cNvSpPr>
          <p:nvPr/>
        </p:nvSpPr>
        <p:spPr>
          <a:xfrm xmlns:a="http://schemas.openxmlformats.org/drawingml/2006/main">
            <a:off x="914400" y="3611880"/>
            <a:ext cx="96926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i="1">
                <a:solidFill>
                  <a:srgbClr val="3C4A52"/>
                </a:solidFill>
                <a:latin typeface="Arial"/>
                <a:ea typeface="Arial"/>
                <a:cs typeface="Arial"/>
              </a:rPr>
              <a:t>Do routine neuropsychological data reveal cognitive subtypes?</a:t>
            </a:r>
            <a:endParaRPr sz="1600"/>
          </a:p>
        </p:txBody>
      </p:sp>
      <p:sp>
        <p:nvSpPr>
          <p:cNvPr id="6" name="Shape 4">
            <a:extLst xmlns:a="http://schemas.openxmlformats.org/drawingml/2006/main">
              <a:ext uri="{FF2B5EF4-FFF2-40B4-BE49-F238E27FC236}">
                <a16:creationId xmlns:a16="http://schemas.microsoft.com/office/drawing/2014/main" id="{79C49004-3521-4964-9309-F2AF1A5025C1}"/>
              </a:ext>
            </a:extLst>
          </p:cNvPr>
          <p:cNvSpPr>
            <a:spLocks xmlns:a="http://schemas.openxmlformats.org/drawingml/2006/main" noGrp="1"/>
          </p:cNvSpPr>
          <p:nvPr/>
        </p:nvSpPr>
        <p:spPr>
          <a:xfrm xmlns:a="http://schemas.openxmlformats.org/drawingml/2006/main">
            <a:off x="914400" y="4434840"/>
            <a:ext cx="5029200" cy="0"/>
          </a:xfrm>
          <a:prstGeom xmlns:a="http://schemas.openxmlformats.org/drawingml/2006/main" prst="line">
            <a:avLst/>
          </a:prstGeom>
          <a:noFill xmlns:a="http://schemas.openxmlformats.org/drawingml/2006/main"/>
          <a:ln xmlns:a="http://schemas.openxmlformats.org/drawingml/2006/main" w="19050">
            <a:solidFill>
              <a:srgbClr val="E3E9EC"/>
            </a:solidFill>
            <a:prstDash val="solid"/>
          </a:ln>
        </p:spPr>
      </p:sp>
      <p:sp>
        <p:nvSpPr>
          <p:cNvPr id="7" name="Text 5">
            <a:extLst xmlns:a="http://schemas.openxmlformats.org/drawingml/2006/main">
              <a:ext uri="{FF2B5EF4-FFF2-40B4-BE49-F238E27FC236}">
                <a16:creationId xmlns:a16="http://schemas.microsoft.com/office/drawing/2014/main" id="{585BF0E6-0101-4E7E-AB14-6A65B0562768}"/>
              </a:ext>
            </a:extLst>
          </p:cNvPr>
          <p:cNvSpPr>
            <a:spLocks xmlns:a="http://schemas.openxmlformats.org/drawingml/2006/main" noGrp="1"/>
          </p:cNvSpPr>
          <p:nvPr/>
        </p:nvSpPr>
        <p:spPr>
          <a:xfrm xmlns:a="http://schemas.openxmlformats.org/drawingml/2006/main">
            <a:off x="914400" y="4617720"/>
            <a:ext cx="914400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600" b="1">
                <a:solidFill>
                  <a:srgbClr val="1B2A30"/>
                </a:solidFill>
                <a:latin typeface="Arial"/>
                <a:ea typeface="Arial"/>
                <a:cs typeface="Arial"/>
              </a:rPr>
              <a:t>Zoltan Kunos</a:t>
            </a:r>
            <a:endParaRPr sz="1600"/>
          </a:p>
          <a:p xmlns:a="http://schemas.openxmlformats.org/drawingml/2006/main">
            <a:pPr marL="0" indent="0">
              <a:lnSpc>
                <a:spcPct val="118000"/>
              </a:lnSpc>
              <a:buNone/>
            </a:pPr>
            <a:r>
              <a:rPr sz="1300">
                <a:solidFill>
                  <a:srgbClr val="3C4A52"/>
                </a:solidFill>
                <a:latin typeface="Arial"/>
                <a:ea typeface="Arial"/>
                <a:cs typeface="Arial"/>
              </a:rPr>
              <a:t>MSc Fundamental Principles of Data Science · Universitat de Barcelona</a:t>
            </a:r>
            <a:endParaRPr sz="1600"/>
          </a:p>
          <a:p xmlns:a="http://schemas.openxmlformats.org/drawingml/2006/main">
            <a:pPr marL="0" indent="0">
              <a:lnSpc>
                <a:spcPct val="118000"/>
              </a:lnSpc>
              <a:buNone/>
            </a:pPr>
            <a:endParaRPr sz="1600"/>
          </a:p>
          <a:p xmlns:a="http://schemas.openxmlformats.org/drawingml/2006/main">
            <a:pPr marL="0" indent="0">
              <a:lnSpc>
                <a:spcPct val="118000"/>
              </a:lnSpc>
              <a:buNone/>
            </a:pPr>
            <a:r>
              <a:rPr sz="1300">
                <a:solidFill>
                  <a:srgbClr val="3C4A52"/>
                </a:solidFill>
                <a:latin typeface="Arial"/>
                <a:ea typeface="Arial"/>
                <a:cs typeface="Arial"/>
              </a:rPr>
              <a:t>Supervisor: Dr. Alejandro García-Rudolph</a:t>
            </a:r>
            <a:endParaRPr sz="1600"/>
          </a:p>
        </p:txBody>
      </p:sp>
      <p:sp>
        <p:nvSpPr>
          <p:cNvPr id="8" name="Text 6">
            <a:extLst xmlns:a="http://schemas.openxmlformats.org/drawingml/2006/main">
              <a:ext uri="{FF2B5EF4-FFF2-40B4-BE49-F238E27FC236}">
                <a16:creationId xmlns:a16="http://schemas.microsoft.com/office/drawing/2014/main" id="{C66B36D2-0295-4543-8DD4-6DCD09FFFDDB}"/>
              </a:ext>
            </a:extLst>
          </p:cNvPr>
          <p:cNvSpPr>
            <a:spLocks xmlns:a="http://schemas.openxmlformats.org/drawingml/2006/main" noGrp="1"/>
          </p:cNvSpPr>
          <p:nvPr/>
        </p:nvSpPr>
        <p:spPr>
          <a:xfrm xmlns:a="http://schemas.openxmlformats.org/drawingml/2006/main">
            <a:off x="8808415" y="598932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100">
                <a:solidFill>
                  <a:srgbClr val="7C8A94"/>
                </a:solidFill>
                <a:latin typeface="Arial"/>
                <a:ea typeface="Arial"/>
                <a:cs typeface="Arial"/>
              </a:rPr>
              <a:t>16 October 2026</a:t>
            </a:r>
            <a:endParaRPr sz="1100"/>
          </a:p>
        </p:txBody>
      </p:sp>
    </p:spTree>
    <p:extLst>
      <p:ext uri="{BB962C8B-B14F-4D97-AF65-F5344CB8AC3E}">
        <p14:creationId xmlns:p14="http://schemas.microsoft.com/office/powerpoint/2010/main" val="11984453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3305BB-23EC-4AD5-B731-79DA3081E1AE}"/>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WHY THIS MATTERS</a:t>
            </a:r>
            <a:endParaRPr sz="1150"/>
          </a:p>
        </p:txBody>
      </p:sp>
      <p:sp>
        <p:nvSpPr>
          <p:cNvPr id="3" name="Text 1">
            <a:extLst xmlns:a="http://schemas.openxmlformats.org/drawingml/2006/main">
              <a:ext uri="{FF2B5EF4-FFF2-40B4-BE49-F238E27FC236}">
                <a16:creationId xmlns:a16="http://schemas.microsoft.com/office/drawing/2014/main" id="{785280F4-F30A-4FE0-9D5A-5D42B598D62B}"/>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The clinical problem: heterogeneity</a:t>
            </a:r>
            <a:endParaRPr sz="2600"/>
          </a:p>
        </p:txBody>
      </p:sp>
      <p:sp>
        <p:nvSpPr>
          <p:cNvPr id="4" name="Shape 2">
            <a:extLst xmlns:a="http://schemas.openxmlformats.org/drawingml/2006/main">
              <a:ext uri="{FF2B5EF4-FFF2-40B4-BE49-F238E27FC236}">
                <a16:creationId xmlns:a16="http://schemas.microsoft.com/office/drawing/2014/main" id="{E42723ED-804B-4EBF-98D4-BB893F19DA9A}"/>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07B85E06-A752-4EE6-9029-95032A89C905}"/>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F99588D1-9F37-44BC-BA1D-3AAA23664A90}"/>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B4E3BFCC-E2D4-4B74-9E7F-FA8D85E3A495}"/>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2</a:t>
            </a:r>
            <a:endParaRPr sz="900"/>
          </a:p>
        </p:txBody>
      </p:sp>
      <p:sp>
        <p:nvSpPr>
          <p:cNvPr id="8" name="Text 6">
            <a:extLst xmlns:a="http://schemas.openxmlformats.org/drawingml/2006/main">
              <a:ext uri="{FF2B5EF4-FFF2-40B4-BE49-F238E27FC236}">
                <a16:creationId xmlns:a16="http://schemas.microsoft.com/office/drawing/2014/main" id="{CA7382E0-DEE8-484F-8D34-B2ECB264302F}"/>
              </a:ext>
            </a:extLst>
          </p:cNvPr>
          <p:cNvSpPr>
            <a:spLocks xmlns:a="http://schemas.openxmlformats.org/drawingml/2006/main" noGrp="1"/>
          </p:cNvSpPr>
          <p:nvPr/>
        </p:nvSpPr>
        <p:spPr>
          <a:xfrm xmlns:a="http://schemas.openxmlformats.org/drawingml/2006/main">
            <a:off x="640080" y="1691640"/>
            <a:ext cx="6400800"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300"/>
              </a:spcAft>
              <a:buSzPct val="100000"/>
              <a:buChar char="•"/>
            </a:pPr>
            <a:r>
              <a:rPr sz="1600">
                <a:solidFill>
                  <a:srgbClr val="3C4A52"/>
                </a:solidFill>
                <a:latin typeface="Arial"/>
                <a:ea typeface="Arial"/>
                <a:cs typeface="Arial"/>
              </a:rPr>
              <a:t>ABI can disrupt attention, memory, language, executive function, orientation and visuospatial cognition.</a:t>
            </a:r>
            <a:endParaRPr sz="1600"/>
          </a:p>
          <a:p xmlns:a="http://schemas.openxmlformats.org/drawingml/2006/main">
            <a:pPr marL="203200" indent="-203200">
              <a:lnSpc>
                <a:spcPct val="122000"/>
              </a:lnSpc>
              <a:spcAft>
                <a:spcPts val="1300"/>
              </a:spcAft>
              <a:buSzPct val="100000"/>
              <a:buChar char="•"/>
            </a:pPr>
            <a:r>
              <a:rPr sz="1600">
                <a:solidFill>
                  <a:srgbClr val="3C4A52"/>
                </a:solidFill>
                <a:latin typeface="Arial"/>
                <a:ea typeface="Arial"/>
                <a:cs typeface="Arial"/>
              </a:rPr>
              <a:t>Impairment does not follow the same pattern in every patient.</a:t>
            </a:r>
            <a:endParaRPr sz="1600"/>
          </a:p>
          <a:p xmlns:a="http://schemas.openxmlformats.org/drawingml/2006/main">
            <a:pPr marL="203200" indent="-203200">
              <a:lnSpc>
                <a:spcPct val="122000"/>
              </a:lnSpc>
              <a:spcAft>
                <a:spcPts val="1300"/>
              </a:spcAft>
              <a:buSzPct val="100000"/>
              <a:buChar char="•"/>
            </a:pPr>
            <a:r>
              <a:rPr sz="1600">
                <a:solidFill>
                  <a:srgbClr val="3C4A52"/>
                </a:solidFill>
                <a:latin typeface="Arial"/>
                <a:ea typeface="Arial"/>
                <a:cs typeface="Arial"/>
              </a:rPr>
              <a:t>Diagnosis and injury severity are useful categories — but they do not capture cognitive heterogeneity.</a:t>
            </a:r>
            <a:endParaRPr sz="1600"/>
          </a:p>
          <a:p xmlns:a="http://schemas.openxmlformats.org/drawingml/2006/main">
            <a:pPr marL="203200" indent="-203200">
              <a:lnSpc>
                <a:spcPct val="122000"/>
              </a:lnSpc>
              <a:spcAft>
                <a:spcPts val="1300"/>
              </a:spcAft>
              <a:buSzPct val="100000"/>
              <a:buChar char="•"/>
            </a:pPr>
            <a:r>
              <a:rPr sz="1600">
                <a:solidFill>
                  <a:srgbClr val="3C4A52"/>
                </a:solidFill>
                <a:latin typeface="Arial"/>
                <a:ea typeface="Arial"/>
                <a:cs typeface="Arial"/>
              </a:rPr>
              <a:t>Incomplete assessments are common, especially among more impaired patients.</a:t>
            </a:r>
            <a:endParaRPr sz="1600"/>
          </a:p>
        </p:txBody>
      </p:sp>
      <p:sp>
        <p:nvSpPr>
          <p:cNvPr id="9" name="Shape 7">
            <a:extLst xmlns:a="http://schemas.openxmlformats.org/drawingml/2006/main">
              <a:ext uri="{FF2B5EF4-FFF2-40B4-BE49-F238E27FC236}">
                <a16:creationId xmlns:a16="http://schemas.microsoft.com/office/drawing/2014/main" id="{EE079F56-F0E1-4C5F-A0A1-E54E18D3C8AB}"/>
              </a:ext>
            </a:extLst>
          </p:cNvPr>
          <p:cNvSpPr>
            <a:spLocks xmlns:a="http://schemas.openxmlformats.org/drawingml/2006/main" noGrp="1"/>
          </p:cNvSpPr>
          <p:nvPr/>
        </p:nvSpPr>
        <p:spPr>
          <a:xfrm xmlns:a="http://schemas.openxmlformats.org/drawingml/2006/main">
            <a:off x="7406640" y="1691640"/>
            <a:ext cx="4144975" cy="4297680"/>
          </a:xfrm>
          <a:prstGeom xmlns:a="http://schemas.openxmlformats.org/drawingml/2006/main" prst="roundRect">
            <a:avLst>
              <a:gd name="adj" fmla="val 1765"/>
            </a:avLst>
          </a:prstGeom>
          <a:solidFill xmlns:a="http://schemas.openxmlformats.org/drawingml/2006/main">
            <a:srgbClr val="F5F8F9"/>
          </a:solidFill>
          <a:ln xmlns:a="http://schemas.openxmlformats.org/drawingml/2006/main" w="12700">
            <a:solidFill>
              <a:srgbClr val="E3E9EC"/>
            </a:solidFill>
            <a:prstDash val="solid"/>
          </a:ln>
        </p:spPr>
      </p:sp>
      <p:sp>
        <p:nvSpPr>
          <p:cNvPr id="10" name="Text 8">
            <a:extLst xmlns:a="http://schemas.openxmlformats.org/drawingml/2006/main">
              <a:ext uri="{FF2B5EF4-FFF2-40B4-BE49-F238E27FC236}">
                <a16:creationId xmlns:a16="http://schemas.microsoft.com/office/drawing/2014/main" id="{9C5BD511-AF0D-4CE4-97F9-0A3E30394E8F}"/>
              </a:ext>
            </a:extLst>
          </p:cNvPr>
          <p:cNvSpPr>
            <a:spLocks xmlns:a="http://schemas.openxmlformats.org/drawingml/2006/main" noGrp="1"/>
          </p:cNvSpPr>
          <p:nvPr/>
        </p:nvSpPr>
        <p:spPr>
          <a:xfrm xmlns:a="http://schemas.openxmlformats.org/drawingml/2006/main">
            <a:off x="7680960" y="1965960"/>
            <a:ext cx="38404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1707A"/>
                </a:solidFill>
                <a:latin typeface="Arial"/>
                <a:ea typeface="Arial"/>
                <a:cs typeface="Arial"/>
              </a:rPr>
              <a:t>Research question</a:t>
            </a:r>
            <a:endParaRPr sz="1500"/>
          </a:p>
        </p:txBody>
      </p:sp>
      <p:sp>
        <p:nvSpPr>
          <p:cNvPr id="11" name="Text 9">
            <a:extLst xmlns:a="http://schemas.openxmlformats.org/drawingml/2006/main">
              <a:ext uri="{FF2B5EF4-FFF2-40B4-BE49-F238E27FC236}">
                <a16:creationId xmlns:a16="http://schemas.microsoft.com/office/drawing/2014/main" id="{D59FA623-24E9-4E60-90C4-1EC7EC92D456}"/>
              </a:ext>
            </a:extLst>
          </p:cNvPr>
          <p:cNvSpPr>
            <a:spLocks xmlns:a="http://schemas.openxmlformats.org/drawingml/2006/main" noGrp="1"/>
          </p:cNvSpPr>
          <p:nvPr/>
        </p:nvSpPr>
        <p:spPr>
          <a:xfrm xmlns:a="http://schemas.openxmlformats.org/drawingml/2006/main">
            <a:off x="7680960" y="2377440"/>
            <a:ext cx="39319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30000"/>
              </a:lnSpc>
              <a:buNone/>
            </a:pPr>
            <a:r>
              <a:rPr sz="1600" i="1">
                <a:solidFill>
                  <a:srgbClr val="1B2A30"/>
                </a:solidFill>
                <a:latin typeface="Arial"/>
                <a:ea typeface="Arial"/>
                <a:cs typeface="Arial"/>
              </a:rPr>
              <a:t>Can data-driven clustering recover clinically meaningful cognitive organisation when missing data are handled explicitly — rather than ignored?</a:t>
            </a:r>
            <a:endParaRPr sz="1600"/>
          </a:p>
        </p:txBody>
      </p:sp>
    </p:spTree>
    <p:extLst>
      <p:ext uri="{BB962C8B-B14F-4D97-AF65-F5344CB8AC3E}">
        <p14:creationId xmlns:p14="http://schemas.microsoft.com/office/powerpoint/2010/main" val="21463045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23CF69-9DC1-42CD-8E10-F2510F2D4CC1}"/>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POSITIONING</a:t>
            </a:r>
            <a:endParaRPr sz="1150"/>
          </a:p>
        </p:txBody>
      </p:sp>
      <p:sp>
        <p:nvSpPr>
          <p:cNvPr id="3" name="Text 1">
            <a:extLst xmlns:a="http://schemas.openxmlformats.org/drawingml/2006/main">
              <a:ext uri="{FF2B5EF4-FFF2-40B4-BE49-F238E27FC236}">
                <a16:creationId xmlns:a16="http://schemas.microsoft.com/office/drawing/2014/main" id="{9D0B4167-02E1-4159-8752-C5B79962AA71}"/>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Research gap and contribution</a:t>
            </a:r>
            <a:endParaRPr sz="2600"/>
          </a:p>
        </p:txBody>
      </p:sp>
      <p:sp>
        <p:nvSpPr>
          <p:cNvPr id="4" name="Shape 2">
            <a:extLst xmlns:a="http://schemas.openxmlformats.org/drawingml/2006/main">
              <a:ext uri="{FF2B5EF4-FFF2-40B4-BE49-F238E27FC236}">
                <a16:creationId xmlns:a16="http://schemas.microsoft.com/office/drawing/2014/main" id="{B4C6D79B-393B-40FB-A9D3-CBA7FBCF12FC}"/>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735A1A32-0DEE-42CA-83EF-7CE498A78945}"/>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E33C9213-25B7-4D74-8222-6E557D68F9B7}"/>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3322F1DF-0417-46C7-94E9-30280E5C198F}"/>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3</a:t>
            </a:r>
            <a:endParaRPr sz="900"/>
          </a:p>
        </p:txBody>
      </p:sp>
      <p:graphicFrame>
        <p:nvGraphicFramePr>
          <p:cNvPr id="8" name="Table 0">
            <a:extLst xmlns:a="http://schemas.openxmlformats.org/drawingml/2006/main">
              <a:ext uri="{FF2B5EF4-FFF2-40B4-BE49-F238E27FC236}">
                <a16:creationId xmlns:a16="http://schemas.microsoft.com/office/drawing/2014/main" id="{91DECBA8-0A5C-4151-ABD7-215CCA12D88A}"/>
              </a:ext>
            </a:extLst>
          </p:cNvPr>
          <p:cNvGraphicFramePr/>
          <p:nvPr/>
        </p:nvGraphicFramePr>
        <p:xfrm>
          <a:off xmlns:a="http://schemas.openxmlformats.org/drawingml/2006/main" x="640080" y="1783080"/>
          <a:ext xmlns:a="http://schemas.openxmlformats.org/drawingml/2006/main" cx="10908792" cy="4297680"/>
        </p:xfrm>
        <a:graphic xmlns:a="http://schemas.openxmlformats.org/drawingml/2006/main">
          <a:graphicData uri="http://schemas.openxmlformats.org/drawingml/2006/table">
            <a:tbl>
              <a:tblPr/>
              <a:tblGrid>
                <a:gridCol w="5440680"/>
                <a:gridCol w="5468112"/>
              </a:tblGrid>
              <a:tr h="548640">
                <a:tc>
                  <a:txBody>
                    <a:bodyPr/>
                    <a:lstStyle/>
                    <a:p>
                      <a:pPr marL="0" indent="0" algn="l">
                        <a:buNone/>
                      </a:pPr>
                      <a:r>
                        <a:rPr sz="1450" b="1">
                          <a:solidFill>
                            <a:srgbClr val="FFFFFF"/>
                          </a:solidFill>
                          <a:latin typeface="Arial"/>
                          <a:ea typeface="Arial"/>
                          <a:cs typeface="Arial"/>
                        </a:rPr>
                        <a:t>Common limitation in prior work</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C25B57"/>
                    </a:solidFill>
                  </a:tcPr>
                </a:tc>
                <a:tc>
                  <a:txBody>
                    <a:bodyPr/>
                    <a:lstStyle/>
                    <a:p>
                      <a:pPr marL="0" indent="0" algn="l">
                        <a:buNone/>
                      </a:pPr>
                      <a:r>
                        <a:rPr sz="1450" b="1">
                          <a:solidFill>
                            <a:srgbClr val="FFFFFF"/>
                          </a:solidFill>
                          <a:latin typeface="Arial"/>
                          <a:ea typeface="Arial"/>
                          <a:cs typeface="Arial"/>
                        </a:rPr>
                        <a:t>This dissertation</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11707A"/>
                    </a:solidFill>
                  </a:tcPr>
                </a:tc>
              </a:tr>
              <a:tr h="749808">
                <a:tc>
                  <a:txBody>
                    <a:bodyPr/>
                    <a:lstStyle/>
                    <a:p>
                      <a:pPr marL="0" indent="0" algn="l">
                        <a:buNone/>
                      </a:pPr>
                      <a:r>
                        <a:rPr sz="1450">
                          <a:solidFill>
                            <a:srgbClr val="3C4A52"/>
                          </a:solidFill>
                          <a:latin typeface="Arial"/>
                          <a:ea typeface="Arial"/>
                          <a:cs typeface="Arial"/>
                        </a:rPr>
                        <a:t>Samples often below 200 participants</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450">
                          <a:solidFill>
                            <a:srgbClr val="3C4A52"/>
                          </a:solidFill>
                          <a:latin typeface="Arial"/>
                          <a:ea typeface="Arial"/>
                          <a:cs typeface="Arial"/>
                        </a:rPr>
                        <a:t>17,406 assessments · 7,285 patients</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749808">
                <a:tc>
                  <a:txBody>
                    <a:bodyPr/>
                    <a:lstStyle/>
                    <a:p>
                      <a:pPr marL="0" indent="0" algn="l">
                        <a:buNone/>
                      </a:pPr>
                      <a:r>
                        <a:rPr sz="1450">
                          <a:solidFill>
                            <a:srgbClr val="3C4A52"/>
                          </a:solidFill>
                          <a:latin typeface="Arial"/>
                          <a:ea typeface="Arial"/>
                          <a:cs typeface="Arial"/>
                        </a:rPr>
                        <a:t>Complete-case analysis</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450">
                          <a:solidFill>
                            <a:srgbClr val="3C4A52"/>
                          </a:solidFill>
                          <a:latin typeface="Arial"/>
                          <a:ea typeface="Arial"/>
                          <a:cs typeface="Arial"/>
                        </a:rPr>
                        <a:t>Ten imputation strategies compared</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749808">
                <a:tc>
                  <a:txBody>
                    <a:bodyPr/>
                    <a:lstStyle/>
                    <a:p>
                      <a:pPr marL="0" indent="0" algn="l">
                        <a:buNone/>
                      </a:pPr>
                      <a:r>
                        <a:rPr sz="1450">
                          <a:solidFill>
                            <a:srgbClr val="3C4A52"/>
                          </a:solidFill>
                          <a:latin typeface="Arial"/>
                          <a:ea typeface="Arial"/>
                          <a:cs typeface="Arial"/>
                        </a:rPr>
                        <a:t>Limited algorithmic sensitivity testing</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450">
                          <a:solidFill>
                            <a:srgbClr val="3C4A52"/>
                          </a:solidFill>
                          <a:latin typeface="Arial"/>
                          <a:ea typeface="Arial"/>
                          <a:cs typeface="Arial"/>
                        </a:rPr>
                        <a:t>Hyperparameter, seed and missingness checks</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749808">
                <a:tc>
                  <a:txBody>
                    <a:bodyPr/>
                    <a:lstStyle/>
                    <a:p>
                      <a:pPr marL="0" indent="0" algn="l">
                        <a:buNone/>
                      </a:pPr>
                      <a:r>
                        <a:rPr sz="1450">
                          <a:solidFill>
                            <a:srgbClr val="3C4A52"/>
                          </a:solidFill>
                          <a:latin typeface="Arial"/>
                          <a:ea typeface="Arial"/>
                          <a:cs typeface="Arial"/>
                        </a:rPr>
                        <a:t>Predetermined number of clusters</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450">
                          <a:solidFill>
                            <a:srgbClr val="3C4A52"/>
                          </a:solidFill>
                          <a:latin typeface="Arial"/>
                          <a:ea typeface="Arial"/>
                          <a:cs typeface="Arial"/>
                        </a:rPr>
                        <a:t>Density-based clustering (HDBSCAN)</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749808">
                <a:tc>
                  <a:txBody>
                    <a:bodyPr/>
                    <a:lstStyle/>
                    <a:p>
                      <a:pPr marL="0" indent="0" algn="l">
                        <a:buNone/>
                      </a:pPr>
                      <a:r>
                        <a:rPr sz="1450">
                          <a:solidFill>
                            <a:srgbClr val="3C4A52"/>
                          </a:solidFill>
                          <a:latin typeface="Arial"/>
                          <a:ea typeface="Arial"/>
                          <a:cs typeface="Arial"/>
                        </a:rPr>
                        <a:t>Limited clinical validation</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450">
                          <a:solidFill>
                            <a:srgbClr val="3C4A52"/>
                          </a:solidFill>
                          <a:latin typeface="Arial"/>
                          <a:ea typeface="Arial"/>
                          <a:cs typeface="Arial"/>
                        </a:rPr>
                        <a:t>Association with clinical-unit assignment</a:t>
                      </a:r>
                      <a:endParaRPr sz="1450">
                        <a:latin typeface="Arial"/>
                        <a:ea typeface="Arial"/>
                        <a:cs typeface="Arial"/>
                      </a:endParaRPr>
                    </a:p>
                  </a:txBody>
                  <a:tcPr marL="101600" marR="101600" marT="50800" marB="508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bl>
          </a:graphicData>
        </a:graphic>
      </p:graphicFrame>
    </p:spTree>
    <p:extLst>
      <p:ext uri="{BB962C8B-B14F-4D97-AF65-F5344CB8AC3E}">
        <p14:creationId xmlns:p14="http://schemas.microsoft.com/office/powerpoint/2010/main" val="7102804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BAE8A9C-8319-4979-996F-37EADFF9F8A0}"/>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HYPOTHESES</a:t>
            </a:r>
            <a:endParaRPr sz="1150"/>
          </a:p>
        </p:txBody>
      </p:sp>
      <p:sp>
        <p:nvSpPr>
          <p:cNvPr id="3" name="Text 1">
            <a:extLst xmlns:a="http://schemas.openxmlformats.org/drawingml/2006/main">
              <a:ext uri="{FF2B5EF4-FFF2-40B4-BE49-F238E27FC236}">
                <a16:creationId xmlns:a16="http://schemas.microsoft.com/office/drawing/2014/main" id="{CCD9363D-81A0-44F8-8388-0094E90966D2}"/>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Four hypotheses, objective criteria</a:t>
            </a:r>
            <a:endParaRPr sz="2600"/>
          </a:p>
        </p:txBody>
      </p:sp>
      <p:sp>
        <p:nvSpPr>
          <p:cNvPr id="4" name="Shape 2">
            <a:extLst xmlns:a="http://schemas.openxmlformats.org/drawingml/2006/main">
              <a:ext uri="{FF2B5EF4-FFF2-40B4-BE49-F238E27FC236}">
                <a16:creationId xmlns:a16="http://schemas.microsoft.com/office/drawing/2014/main" id="{89B0FFB2-7FC6-41B2-B32F-97F10227FA3B}"/>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5E33539E-6B6F-43C3-8806-D283E0C1D64D}"/>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E7EDDB7F-D3AA-4BB6-AB1D-AE32C38D6FB2}"/>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AF635015-269D-4E80-B665-D0265D38B312}"/>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4</a:t>
            </a:r>
            <a:endParaRPr sz="900"/>
          </a:p>
        </p:txBody>
      </p:sp>
      <p:sp>
        <p:nvSpPr>
          <p:cNvPr id="8" name="Shape 6">
            <a:extLst xmlns:a="http://schemas.openxmlformats.org/drawingml/2006/main">
              <a:ext uri="{FF2B5EF4-FFF2-40B4-BE49-F238E27FC236}">
                <a16:creationId xmlns:a16="http://schemas.microsoft.com/office/drawing/2014/main" id="{C1D85213-83EB-4071-BD27-BB2A380E5D7D}"/>
              </a:ext>
            </a:extLst>
          </p:cNvPr>
          <p:cNvSpPr>
            <a:spLocks xmlns:a="http://schemas.openxmlformats.org/drawingml/2006/main" noGrp="1"/>
          </p:cNvSpPr>
          <p:nvPr/>
        </p:nvSpPr>
        <p:spPr>
          <a:xfrm xmlns:a="http://schemas.openxmlformats.org/drawingml/2006/main">
            <a:off x="640080" y="1572768"/>
            <a:ext cx="10911535" cy="1097280"/>
          </a:xfrm>
          <a:prstGeom xmlns:a="http://schemas.openxmlformats.org/drawingml/2006/main" prst="roundRect">
            <a:avLst>
              <a:gd name="adj" fmla="val 6667"/>
            </a:avLst>
          </a:prstGeom>
          <a:solidFill xmlns:a="http://schemas.openxmlformats.org/drawingml/2006/main">
            <a:srgbClr val="F5F8F9"/>
          </a:solidFill>
          <a:ln xmlns:a="http://schemas.openxmlformats.org/drawingml/2006/main" w="12700">
            <a:solidFill>
              <a:srgbClr val="E3E9EC"/>
            </a:solidFill>
            <a:prstDash val="solid"/>
          </a:ln>
        </p:spPr>
      </p:sp>
      <p:sp>
        <p:nvSpPr>
          <p:cNvPr id="9" name="Shape 7">
            <a:extLst xmlns:a="http://schemas.openxmlformats.org/drawingml/2006/main">
              <a:ext uri="{FF2B5EF4-FFF2-40B4-BE49-F238E27FC236}">
                <a16:creationId xmlns:a16="http://schemas.microsoft.com/office/drawing/2014/main" id="{2301F7A5-FF86-4B6F-AD2B-5EE3AB830811}"/>
              </a:ext>
            </a:extLst>
          </p:cNvPr>
          <p:cNvSpPr>
            <a:spLocks xmlns:a="http://schemas.openxmlformats.org/drawingml/2006/main" noGrp="1"/>
          </p:cNvSpPr>
          <p:nvPr/>
        </p:nvSpPr>
        <p:spPr>
          <a:xfrm xmlns:a="http://schemas.openxmlformats.org/drawingml/2006/main">
            <a:off x="804672" y="1792224"/>
            <a:ext cx="868680" cy="658368"/>
          </a:xfrm>
          <a:prstGeom xmlns:a="http://schemas.openxmlformats.org/drawingml/2006/main" prst="roundRect">
            <a:avLst>
              <a:gd name="adj" fmla="val 8333"/>
            </a:avLst>
          </a:prstGeom>
          <a:solidFill xmlns:a="http://schemas.openxmlformats.org/drawingml/2006/main">
            <a:srgbClr val="11707A"/>
          </a:solidFill>
        </p:spPr>
      </p:sp>
      <p:sp>
        <p:nvSpPr>
          <p:cNvPr id="10" name="Text 8">
            <a:extLst xmlns:a="http://schemas.openxmlformats.org/drawingml/2006/main">
              <a:ext uri="{FF2B5EF4-FFF2-40B4-BE49-F238E27FC236}">
                <a16:creationId xmlns:a16="http://schemas.microsoft.com/office/drawing/2014/main" id="{87B0E97A-D247-4A31-B067-D2214C363866}"/>
              </a:ext>
            </a:extLst>
          </p:cNvPr>
          <p:cNvSpPr>
            <a:spLocks xmlns:a="http://schemas.openxmlformats.org/drawingml/2006/main" noGrp="1"/>
          </p:cNvSpPr>
          <p:nvPr/>
        </p:nvSpPr>
        <p:spPr>
          <a:xfrm xmlns:a="http://schemas.openxmlformats.org/drawingml/2006/main">
            <a:off x="804672" y="1792224"/>
            <a:ext cx="86868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000" b="1">
                <a:solidFill>
                  <a:srgbClr val="FFFFFF"/>
                </a:solidFill>
                <a:latin typeface="Arial"/>
                <a:ea typeface="Arial"/>
                <a:cs typeface="Arial"/>
              </a:rPr>
              <a:t>H1</a:t>
            </a:r>
            <a:endParaRPr sz="2000"/>
          </a:p>
        </p:txBody>
      </p:sp>
      <p:sp>
        <p:nvSpPr>
          <p:cNvPr id="11" name="Text 9">
            <a:extLst xmlns:a="http://schemas.openxmlformats.org/drawingml/2006/main">
              <a:ext uri="{FF2B5EF4-FFF2-40B4-BE49-F238E27FC236}">
                <a16:creationId xmlns:a16="http://schemas.microsoft.com/office/drawing/2014/main" id="{EE114178-2E18-4E54-BEF6-570C008C0187}"/>
              </a:ext>
            </a:extLst>
          </p:cNvPr>
          <p:cNvSpPr>
            <a:spLocks xmlns:a="http://schemas.openxmlformats.org/drawingml/2006/main" noGrp="1"/>
          </p:cNvSpPr>
          <p:nvPr/>
        </p:nvSpPr>
        <p:spPr>
          <a:xfrm xmlns:a="http://schemas.openxmlformats.org/drawingml/2006/main">
            <a:off x="1920240" y="1691640"/>
            <a:ext cx="4572000" cy="8595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B2A30"/>
                </a:solidFill>
                <a:latin typeface="Arial"/>
                <a:ea typeface="Arial"/>
                <a:cs typeface="Arial"/>
              </a:rPr>
              <a:t>Are stable clusters recoverable?</a:t>
            </a:r>
            <a:endParaRPr sz="1500"/>
          </a:p>
        </p:txBody>
      </p:sp>
      <p:sp>
        <p:nvSpPr>
          <p:cNvPr id="12" name="Text 10">
            <a:extLst xmlns:a="http://schemas.openxmlformats.org/drawingml/2006/main">
              <a:ext uri="{FF2B5EF4-FFF2-40B4-BE49-F238E27FC236}">
                <a16:creationId xmlns:a16="http://schemas.microsoft.com/office/drawing/2014/main" id="{DB970B3F-6F95-42F8-ABDD-B3A62DA70924}"/>
              </a:ext>
            </a:extLst>
          </p:cNvPr>
          <p:cNvSpPr>
            <a:spLocks xmlns:a="http://schemas.openxmlformats.org/drawingml/2006/main" noGrp="1"/>
          </p:cNvSpPr>
          <p:nvPr/>
        </p:nvSpPr>
        <p:spPr>
          <a:xfrm xmlns:a="http://schemas.openxmlformats.org/drawingml/2006/main">
            <a:off x="6675120" y="1737360"/>
            <a:ext cx="4693615"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0000"/>
              </a:lnSpc>
              <a:buNone/>
            </a:pPr>
            <a:r>
              <a:rPr sz="1250">
                <a:solidFill>
                  <a:srgbClr val="3C4A52"/>
                </a:solidFill>
                <a:latin typeface="Arial"/>
                <a:ea typeface="Arial"/>
                <a:cs typeface="Arial"/>
              </a:rPr>
              <a:t>At least eight methods meet selected embedding thresholds; discreteness requires separate evidence</a:t>
            </a:r>
            <a:endParaRPr sz="1250"/>
          </a:p>
        </p:txBody>
      </p:sp>
      <p:sp>
        <p:nvSpPr>
          <p:cNvPr id="13" name="Text 11">
            <a:extLst xmlns:a="http://schemas.openxmlformats.org/drawingml/2006/main">
              <a:ext uri="{FF2B5EF4-FFF2-40B4-BE49-F238E27FC236}">
                <a16:creationId xmlns:a16="http://schemas.microsoft.com/office/drawing/2014/main" id="{2C3799D1-F415-49AD-95D4-508BBB552359}"/>
              </a:ext>
            </a:extLst>
          </p:cNvPr>
          <p:cNvSpPr>
            <a:spLocks xmlns:a="http://schemas.openxmlformats.org/drawingml/2006/main" noGrp="1"/>
          </p:cNvSpPr>
          <p:nvPr/>
        </p:nvSpPr>
        <p:spPr>
          <a:xfrm xmlns:a="http://schemas.openxmlformats.org/drawingml/2006/main">
            <a:off x="6675120" y="2286000"/>
            <a:ext cx="46936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defPPr>
              <a:defRPr>
                <a:solidFill>
                  <a:srgbClr val="425670"/>
                </a:solidFill>
              </a:defRPr>
            </a:defPPr>
          </a:lstStyle>
          <a:p xmlns:a="http://schemas.openxmlformats.org/drawingml/2006/main">
            <a:pPr marL="0" indent="0">
              <a:buNone/>
              <a:defRPr>
                <a:solidFill>
                  <a:srgbClr val="425670"/>
                </a:solidFill>
              </a:defRPr>
            </a:pPr>
            <a:r>
              <a:rPr sz="1000">
                <a:solidFill>
                  <a:srgbClr val="425670"/>
                </a:solidFill>
                <a:latin typeface="Courier New"/>
                <a:ea typeface="Courier New"/>
                <a:cs typeface="Courier New"/>
              </a:rPr>
              <a:t>Silhouette ≥ 0.40  ·  noise ≤ 30%  ·  ≥ 2 clusters</a:t>
            </a:r>
            <a:endParaRPr sz="1000"/>
          </a:p>
        </p:txBody>
      </p:sp>
      <p:sp>
        <p:nvSpPr>
          <p:cNvPr id="14" name="Shape 12">
            <a:extLst xmlns:a="http://schemas.openxmlformats.org/drawingml/2006/main">
              <a:ext uri="{FF2B5EF4-FFF2-40B4-BE49-F238E27FC236}">
                <a16:creationId xmlns:a16="http://schemas.microsoft.com/office/drawing/2014/main" id="{521F7242-EE75-4312-A13C-CCF4684A2FC7}"/>
              </a:ext>
            </a:extLst>
          </p:cNvPr>
          <p:cNvSpPr>
            <a:spLocks xmlns:a="http://schemas.openxmlformats.org/drawingml/2006/main" noGrp="1"/>
          </p:cNvSpPr>
          <p:nvPr/>
        </p:nvSpPr>
        <p:spPr>
          <a:xfrm xmlns:a="http://schemas.openxmlformats.org/drawingml/2006/main">
            <a:off x="640080" y="2779776"/>
            <a:ext cx="10911535" cy="1097280"/>
          </a:xfrm>
          <a:prstGeom xmlns:a="http://schemas.openxmlformats.org/drawingml/2006/main" prst="roundRect">
            <a:avLst>
              <a:gd name="adj" fmla="val 6667"/>
            </a:avLst>
          </a:prstGeom>
          <a:solidFill xmlns:a="http://schemas.openxmlformats.org/drawingml/2006/main">
            <a:srgbClr val="F5F8F9"/>
          </a:solidFill>
          <a:ln xmlns:a="http://schemas.openxmlformats.org/drawingml/2006/main" w="12700">
            <a:solidFill>
              <a:srgbClr val="E3E9EC"/>
            </a:solidFill>
            <a:prstDash val="solid"/>
          </a:ln>
        </p:spPr>
      </p:sp>
      <p:sp>
        <p:nvSpPr>
          <p:cNvPr id="15" name="Shape 13">
            <a:extLst xmlns:a="http://schemas.openxmlformats.org/drawingml/2006/main">
              <a:ext uri="{FF2B5EF4-FFF2-40B4-BE49-F238E27FC236}">
                <a16:creationId xmlns:a16="http://schemas.microsoft.com/office/drawing/2014/main" id="{F80ACB47-4EA8-4D1E-B493-3C4707A1E821}"/>
              </a:ext>
            </a:extLst>
          </p:cNvPr>
          <p:cNvSpPr>
            <a:spLocks xmlns:a="http://schemas.openxmlformats.org/drawingml/2006/main" noGrp="1"/>
          </p:cNvSpPr>
          <p:nvPr/>
        </p:nvSpPr>
        <p:spPr>
          <a:xfrm xmlns:a="http://schemas.openxmlformats.org/drawingml/2006/main">
            <a:off x="804672" y="2999232"/>
            <a:ext cx="868680" cy="658368"/>
          </a:xfrm>
          <a:prstGeom xmlns:a="http://schemas.openxmlformats.org/drawingml/2006/main" prst="roundRect">
            <a:avLst>
              <a:gd name="adj" fmla="val 8333"/>
            </a:avLst>
          </a:prstGeom>
          <a:solidFill xmlns:a="http://schemas.openxmlformats.org/drawingml/2006/main">
            <a:srgbClr val="11707A"/>
          </a:solidFill>
        </p:spPr>
      </p:sp>
      <p:sp>
        <p:nvSpPr>
          <p:cNvPr id="16" name="Text 14">
            <a:extLst xmlns:a="http://schemas.openxmlformats.org/drawingml/2006/main">
              <a:ext uri="{FF2B5EF4-FFF2-40B4-BE49-F238E27FC236}">
                <a16:creationId xmlns:a16="http://schemas.microsoft.com/office/drawing/2014/main" id="{7C43EEB6-CE0C-4376-8AF3-9EAAE6D8693A}"/>
              </a:ext>
            </a:extLst>
          </p:cNvPr>
          <p:cNvSpPr>
            <a:spLocks xmlns:a="http://schemas.openxmlformats.org/drawingml/2006/main" noGrp="1"/>
          </p:cNvSpPr>
          <p:nvPr/>
        </p:nvSpPr>
        <p:spPr>
          <a:xfrm xmlns:a="http://schemas.openxmlformats.org/drawingml/2006/main">
            <a:off x="804672" y="2999232"/>
            <a:ext cx="86868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000" b="1">
                <a:solidFill>
                  <a:srgbClr val="FFFFFF"/>
                </a:solidFill>
                <a:latin typeface="Arial"/>
                <a:ea typeface="Arial"/>
                <a:cs typeface="Arial"/>
              </a:rPr>
              <a:t>H2</a:t>
            </a:r>
            <a:endParaRPr sz="2000"/>
          </a:p>
        </p:txBody>
      </p:sp>
      <p:sp>
        <p:nvSpPr>
          <p:cNvPr id="17" name="Text 15">
            <a:extLst xmlns:a="http://schemas.openxmlformats.org/drawingml/2006/main">
              <a:ext uri="{FF2B5EF4-FFF2-40B4-BE49-F238E27FC236}">
                <a16:creationId xmlns:a16="http://schemas.microsoft.com/office/drawing/2014/main" id="{FEEB32D8-1637-4766-8189-87D13712A9FD}"/>
              </a:ext>
            </a:extLst>
          </p:cNvPr>
          <p:cNvSpPr>
            <a:spLocks xmlns:a="http://schemas.openxmlformats.org/drawingml/2006/main" noGrp="1"/>
          </p:cNvSpPr>
          <p:nvPr/>
        </p:nvSpPr>
        <p:spPr>
          <a:xfrm xmlns:a="http://schemas.openxmlformats.org/drawingml/2006/main">
            <a:off x="1920240" y="2898648"/>
            <a:ext cx="4572000" cy="8595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B2A30"/>
                </a:solidFill>
                <a:latin typeface="Arial"/>
                <a:ea typeface="Arial"/>
                <a:cs typeface="Arial"/>
              </a:rPr>
              <a:t>Robust to imputation choice?</a:t>
            </a:r>
            <a:endParaRPr sz="1500"/>
          </a:p>
        </p:txBody>
      </p:sp>
      <p:sp>
        <p:nvSpPr>
          <p:cNvPr id="18" name="Text 16">
            <a:extLst xmlns:a="http://schemas.openxmlformats.org/drawingml/2006/main">
              <a:ext uri="{FF2B5EF4-FFF2-40B4-BE49-F238E27FC236}">
                <a16:creationId xmlns:a16="http://schemas.microsoft.com/office/drawing/2014/main" id="{E0F12084-B7B0-40EF-B42E-9E18B4F460C3}"/>
              </a:ext>
            </a:extLst>
          </p:cNvPr>
          <p:cNvSpPr>
            <a:spLocks xmlns:a="http://schemas.openxmlformats.org/drawingml/2006/main" noGrp="1"/>
          </p:cNvSpPr>
          <p:nvPr/>
        </p:nvSpPr>
        <p:spPr>
          <a:xfrm xmlns:a="http://schemas.openxmlformats.org/drawingml/2006/main">
            <a:off x="6675120" y="2944368"/>
            <a:ext cx="4693615"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0000"/>
              </a:lnSpc>
              <a:buNone/>
            </a:pPr>
            <a:r>
              <a:rPr sz="1250">
                <a:solidFill>
                  <a:srgbClr val="3C4A52"/>
                </a:solidFill>
                <a:latin typeface="Arial"/>
                <a:ea typeface="Arial"/>
                <a:cs typeface="Arial"/>
              </a:rPr>
              <a:t>Assessments retain similar assignments across imputations under a fixed reference rule</a:t>
            </a:r>
            <a:endParaRPr sz="1250"/>
          </a:p>
        </p:txBody>
      </p:sp>
      <p:sp>
        <p:nvSpPr>
          <p:cNvPr id="19" name="Text 17">
            <a:extLst xmlns:a="http://schemas.openxmlformats.org/drawingml/2006/main">
              <a:ext uri="{FF2B5EF4-FFF2-40B4-BE49-F238E27FC236}">
                <a16:creationId xmlns:a16="http://schemas.microsoft.com/office/drawing/2014/main" id="{43033E94-1A1E-4AAD-9B43-5A0C8A1CF603}"/>
              </a:ext>
            </a:extLst>
          </p:cNvPr>
          <p:cNvSpPr>
            <a:spLocks xmlns:a="http://schemas.openxmlformats.org/drawingml/2006/main" noGrp="1"/>
          </p:cNvSpPr>
          <p:nvPr/>
        </p:nvSpPr>
        <p:spPr>
          <a:xfrm xmlns:a="http://schemas.openxmlformats.org/drawingml/2006/main">
            <a:off x="6675120" y="3493008"/>
            <a:ext cx="46936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defPPr>
              <a:defRPr>
                <a:solidFill>
                  <a:srgbClr val="425670"/>
                </a:solidFill>
              </a:defRPr>
            </a:defPPr>
          </a:lstStyle>
          <a:p xmlns:a="http://schemas.openxmlformats.org/drawingml/2006/main">
            <a:pPr marL="0" indent="0">
              <a:buNone/>
              <a:defRPr>
                <a:solidFill>
                  <a:srgbClr val="425670"/>
                </a:solidFill>
              </a:defRPr>
            </a:pPr>
            <a:r>
              <a:rPr sz="1000">
                <a:solidFill>
                  <a:srgbClr val="425670"/>
                </a:solidFill>
                <a:latin typeface="Courier New"/>
                <a:ea typeface="Courier New"/>
                <a:cs typeface="Courier New"/>
              </a:rPr>
              <a:t>Median pairwise ARI &gt; 0.50  (fixed reference)</a:t>
            </a:r>
            <a:endParaRPr sz="1000"/>
          </a:p>
        </p:txBody>
      </p:sp>
      <p:sp>
        <p:nvSpPr>
          <p:cNvPr id="20" name="Shape 18">
            <a:extLst xmlns:a="http://schemas.openxmlformats.org/drawingml/2006/main">
              <a:ext uri="{FF2B5EF4-FFF2-40B4-BE49-F238E27FC236}">
                <a16:creationId xmlns:a16="http://schemas.microsoft.com/office/drawing/2014/main" id="{DBCD7C64-6713-448E-956C-276AAD6A20F2}"/>
              </a:ext>
            </a:extLst>
          </p:cNvPr>
          <p:cNvSpPr>
            <a:spLocks xmlns:a="http://schemas.openxmlformats.org/drawingml/2006/main" noGrp="1"/>
          </p:cNvSpPr>
          <p:nvPr/>
        </p:nvSpPr>
        <p:spPr>
          <a:xfrm xmlns:a="http://schemas.openxmlformats.org/drawingml/2006/main">
            <a:off x="640080" y="3986784"/>
            <a:ext cx="10911535" cy="1097280"/>
          </a:xfrm>
          <a:prstGeom xmlns:a="http://schemas.openxmlformats.org/drawingml/2006/main" prst="roundRect">
            <a:avLst>
              <a:gd name="adj" fmla="val 6667"/>
            </a:avLst>
          </a:prstGeom>
          <a:solidFill xmlns:a="http://schemas.openxmlformats.org/drawingml/2006/main">
            <a:srgbClr val="F5F8F9"/>
          </a:solidFill>
          <a:ln xmlns:a="http://schemas.openxmlformats.org/drawingml/2006/main" w="12700">
            <a:solidFill>
              <a:srgbClr val="E3E9EC"/>
            </a:solidFill>
            <a:prstDash val="solid"/>
          </a:ln>
        </p:spPr>
      </p:sp>
      <p:sp>
        <p:nvSpPr>
          <p:cNvPr id="21" name="Shape 19">
            <a:extLst xmlns:a="http://schemas.openxmlformats.org/drawingml/2006/main">
              <a:ext uri="{FF2B5EF4-FFF2-40B4-BE49-F238E27FC236}">
                <a16:creationId xmlns:a16="http://schemas.microsoft.com/office/drawing/2014/main" id="{84A83BDD-1FD5-46DB-85D6-7D9B0DA8652D}"/>
              </a:ext>
            </a:extLst>
          </p:cNvPr>
          <p:cNvSpPr>
            <a:spLocks xmlns:a="http://schemas.openxmlformats.org/drawingml/2006/main" noGrp="1"/>
          </p:cNvSpPr>
          <p:nvPr/>
        </p:nvSpPr>
        <p:spPr>
          <a:xfrm xmlns:a="http://schemas.openxmlformats.org/drawingml/2006/main">
            <a:off x="804672" y="4206240"/>
            <a:ext cx="868680" cy="658368"/>
          </a:xfrm>
          <a:prstGeom xmlns:a="http://schemas.openxmlformats.org/drawingml/2006/main" prst="roundRect">
            <a:avLst>
              <a:gd name="adj" fmla="val 8333"/>
            </a:avLst>
          </a:prstGeom>
          <a:solidFill xmlns:a="http://schemas.openxmlformats.org/drawingml/2006/main">
            <a:srgbClr val="11707A"/>
          </a:solidFill>
        </p:spPr>
      </p:sp>
      <p:sp>
        <p:nvSpPr>
          <p:cNvPr id="22" name="Text 20">
            <a:extLst xmlns:a="http://schemas.openxmlformats.org/drawingml/2006/main">
              <a:ext uri="{FF2B5EF4-FFF2-40B4-BE49-F238E27FC236}">
                <a16:creationId xmlns:a16="http://schemas.microsoft.com/office/drawing/2014/main" id="{1B8834F4-BFBD-4B6C-9C5F-47547107BD92}"/>
              </a:ext>
            </a:extLst>
          </p:cNvPr>
          <p:cNvSpPr>
            <a:spLocks xmlns:a="http://schemas.openxmlformats.org/drawingml/2006/main" noGrp="1"/>
          </p:cNvSpPr>
          <p:nvPr/>
        </p:nvSpPr>
        <p:spPr>
          <a:xfrm xmlns:a="http://schemas.openxmlformats.org/drawingml/2006/main">
            <a:off x="804672" y="4206240"/>
            <a:ext cx="86868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000" b="1">
                <a:solidFill>
                  <a:srgbClr val="FFFFFF"/>
                </a:solidFill>
                <a:latin typeface="Arial"/>
                <a:ea typeface="Arial"/>
                <a:cs typeface="Arial"/>
              </a:rPr>
              <a:t>H3</a:t>
            </a:r>
            <a:endParaRPr sz="2000"/>
          </a:p>
        </p:txBody>
      </p:sp>
      <p:sp>
        <p:nvSpPr>
          <p:cNvPr id="23" name="Text 21">
            <a:extLst xmlns:a="http://schemas.openxmlformats.org/drawingml/2006/main">
              <a:ext uri="{FF2B5EF4-FFF2-40B4-BE49-F238E27FC236}">
                <a16:creationId xmlns:a16="http://schemas.microsoft.com/office/drawing/2014/main" id="{C073EA7E-9DD5-4BC0-91EE-CA8A87E005C5}"/>
              </a:ext>
            </a:extLst>
          </p:cNvPr>
          <p:cNvSpPr>
            <a:spLocks xmlns:a="http://schemas.openxmlformats.org/drawingml/2006/main" noGrp="1"/>
          </p:cNvSpPr>
          <p:nvPr/>
        </p:nvSpPr>
        <p:spPr>
          <a:xfrm xmlns:a="http://schemas.openxmlformats.org/drawingml/2006/main">
            <a:off x="1920240" y="4105656"/>
            <a:ext cx="4572000" cy="8595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B2A30"/>
                </a:solidFill>
                <a:latin typeface="Arial"/>
                <a:ea typeface="Arial"/>
                <a:cs typeface="Arial"/>
              </a:rPr>
              <a:t>Are tiers associated with clinical units?</a:t>
            </a:r>
            <a:endParaRPr sz="1500"/>
          </a:p>
        </p:txBody>
      </p:sp>
      <p:sp>
        <p:nvSpPr>
          <p:cNvPr id="24" name="Text 22">
            <a:extLst xmlns:a="http://schemas.openxmlformats.org/drawingml/2006/main">
              <a:ext uri="{FF2B5EF4-FFF2-40B4-BE49-F238E27FC236}">
                <a16:creationId xmlns:a16="http://schemas.microsoft.com/office/drawing/2014/main" id="{F31CD73A-24FA-4A63-8BF0-55594F42F8C8}"/>
              </a:ext>
            </a:extLst>
          </p:cNvPr>
          <p:cNvSpPr>
            <a:spLocks xmlns:a="http://schemas.openxmlformats.org/drawingml/2006/main" noGrp="1"/>
          </p:cNvSpPr>
          <p:nvPr/>
        </p:nvSpPr>
        <p:spPr>
          <a:xfrm xmlns:a="http://schemas.openxmlformats.org/drawingml/2006/main">
            <a:off x="6675120" y="4151376"/>
            <a:ext cx="4693615"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0000"/>
              </a:lnSpc>
              <a:buNone/>
            </a:pPr>
            <a:r>
              <a:rPr sz="1250">
                <a:solidFill>
                  <a:srgbClr val="3C4A52"/>
                </a:solidFill>
                <a:latin typeface="Arial"/>
                <a:ea typeface="Arial"/>
                <a:cs typeface="Arial"/>
              </a:rPr>
              <a:t>Severity tier relates to clinical unit, even after accounting for diagnosis</a:t>
            </a:r>
            <a:endParaRPr sz="1250"/>
          </a:p>
        </p:txBody>
      </p:sp>
      <p:sp>
        <p:nvSpPr>
          <p:cNvPr id="25" name="Text 23">
            <a:extLst xmlns:a="http://schemas.openxmlformats.org/drawingml/2006/main">
              <a:ext uri="{FF2B5EF4-FFF2-40B4-BE49-F238E27FC236}">
                <a16:creationId xmlns:a16="http://schemas.microsoft.com/office/drawing/2014/main" id="{791CDF65-3246-48B3-987F-8068526A62A1}"/>
              </a:ext>
            </a:extLst>
          </p:cNvPr>
          <p:cNvSpPr>
            <a:spLocks xmlns:a="http://schemas.openxmlformats.org/drawingml/2006/main" noGrp="1"/>
          </p:cNvSpPr>
          <p:nvPr/>
        </p:nvSpPr>
        <p:spPr>
          <a:xfrm xmlns:a="http://schemas.openxmlformats.org/drawingml/2006/main">
            <a:off x="6675120" y="4700016"/>
            <a:ext cx="46936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defPPr>
              <a:defRPr>
                <a:solidFill>
                  <a:srgbClr val="425670"/>
                </a:solidFill>
              </a:defRPr>
            </a:defPPr>
          </a:lstStyle>
          <a:p xmlns:a="http://schemas.openxmlformats.org/drawingml/2006/main">
            <a:pPr marL="0" indent="0">
              <a:buNone/>
              <a:defRPr>
                <a:solidFill>
                  <a:srgbClr val="425670"/>
                </a:solidFill>
              </a:defRPr>
            </a:pPr>
            <a:r>
              <a:rPr sz="1000">
                <a:solidFill>
                  <a:srgbClr val="425670"/>
                </a:solidFill>
                <a:latin typeface="Courier New"/>
                <a:ea typeface="Courier New"/>
                <a:cs typeface="Courier New"/>
              </a:rPr>
              <a:t>χ² test  ·  Cramér's V &gt; 0.10  ·  CMH adjust for diagnosis</a:t>
            </a:r>
            <a:endParaRPr sz="1000"/>
          </a:p>
        </p:txBody>
      </p:sp>
      <p:sp>
        <p:nvSpPr>
          <p:cNvPr id="26" name="Shape 24">
            <a:extLst xmlns:a="http://schemas.openxmlformats.org/drawingml/2006/main">
              <a:ext uri="{FF2B5EF4-FFF2-40B4-BE49-F238E27FC236}">
                <a16:creationId xmlns:a16="http://schemas.microsoft.com/office/drawing/2014/main" id="{E4C8288B-5467-4A47-AE90-57FD490CFF57}"/>
              </a:ext>
            </a:extLst>
          </p:cNvPr>
          <p:cNvSpPr>
            <a:spLocks xmlns:a="http://schemas.openxmlformats.org/drawingml/2006/main" noGrp="1"/>
          </p:cNvSpPr>
          <p:nvPr/>
        </p:nvSpPr>
        <p:spPr>
          <a:xfrm xmlns:a="http://schemas.openxmlformats.org/drawingml/2006/main">
            <a:off x="640080" y="5193792"/>
            <a:ext cx="10911535" cy="1097280"/>
          </a:xfrm>
          <a:prstGeom xmlns:a="http://schemas.openxmlformats.org/drawingml/2006/main" prst="roundRect">
            <a:avLst>
              <a:gd name="adj" fmla="val 6667"/>
            </a:avLst>
          </a:prstGeom>
          <a:solidFill xmlns:a="http://schemas.openxmlformats.org/drawingml/2006/main">
            <a:srgbClr val="F5F8F9"/>
          </a:solidFill>
          <a:ln xmlns:a="http://schemas.openxmlformats.org/drawingml/2006/main" w="12700">
            <a:solidFill>
              <a:srgbClr val="E3E9EC"/>
            </a:solidFill>
            <a:prstDash val="solid"/>
          </a:ln>
        </p:spPr>
      </p:sp>
      <p:sp>
        <p:nvSpPr>
          <p:cNvPr id="27" name="Shape 25">
            <a:extLst xmlns:a="http://schemas.openxmlformats.org/drawingml/2006/main">
              <a:ext uri="{FF2B5EF4-FFF2-40B4-BE49-F238E27FC236}">
                <a16:creationId xmlns:a16="http://schemas.microsoft.com/office/drawing/2014/main" id="{79BA4ABB-733B-488B-8625-A6944ACC5FA1}"/>
              </a:ext>
            </a:extLst>
          </p:cNvPr>
          <p:cNvSpPr>
            <a:spLocks xmlns:a="http://schemas.openxmlformats.org/drawingml/2006/main" noGrp="1"/>
          </p:cNvSpPr>
          <p:nvPr/>
        </p:nvSpPr>
        <p:spPr>
          <a:xfrm xmlns:a="http://schemas.openxmlformats.org/drawingml/2006/main">
            <a:off x="804672" y="5413248"/>
            <a:ext cx="868680" cy="658368"/>
          </a:xfrm>
          <a:prstGeom xmlns:a="http://schemas.openxmlformats.org/drawingml/2006/main" prst="roundRect">
            <a:avLst>
              <a:gd name="adj" fmla="val 8333"/>
            </a:avLst>
          </a:prstGeom>
          <a:solidFill xmlns:a="http://schemas.openxmlformats.org/drawingml/2006/main">
            <a:srgbClr val="11707A"/>
          </a:solidFill>
        </p:spPr>
      </p:sp>
      <p:sp>
        <p:nvSpPr>
          <p:cNvPr id="28" name="Text 26">
            <a:extLst xmlns:a="http://schemas.openxmlformats.org/drawingml/2006/main">
              <a:ext uri="{FF2B5EF4-FFF2-40B4-BE49-F238E27FC236}">
                <a16:creationId xmlns:a16="http://schemas.microsoft.com/office/drawing/2014/main" id="{E29BF501-FAC1-43AA-B1DD-5F98738C2161}"/>
              </a:ext>
            </a:extLst>
          </p:cNvPr>
          <p:cNvSpPr>
            <a:spLocks xmlns:a="http://schemas.openxmlformats.org/drawingml/2006/main" noGrp="1"/>
          </p:cNvSpPr>
          <p:nvPr/>
        </p:nvSpPr>
        <p:spPr>
          <a:xfrm xmlns:a="http://schemas.openxmlformats.org/drawingml/2006/main">
            <a:off x="804672" y="5413248"/>
            <a:ext cx="86868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000" b="1">
                <a:solidFill>
                  <a:srgbClr val="FFFFFF"/>
                </a:solidFill>
                <a:latin typeface="Arial"/>
                <a:ea typeface="Arial"/>
                <a:cs typeface="Arial"/>
              </a:rPr>
              <a:t>H4</a:t>
            </a:r>
            <a:endParaRPr sz="2000"/>
          </a:p>
        </p:txBody>
      </p:sp>
      <p:sp>
        <p:nvSpPr>
          <p:cNvPr id="29" name="Text 27">
            <a:extLst xmlns:a="http://schemas.openxmlformats.org/drawingml/2006/main">
              <a:ext uri="{FF2B5EF4-FFF2-40B4-BE49-F238E27FC236}">
                <a16:creationId xmlns:a16="http://schemas.microsoft.com/office/drawing/2014/main" id="{D2546691-6F31-47DB-9803-BB64AFF54C31}"/>
              </a:ext>
            </a:extLst>
          </p:cNvPr>
          <p:cNvSpPr>
            <a:spLocks xmlns:a="http://schemas.openxmlformats.org/drawingml/2006/main" noGrp="1"/>
          </p:cNvSpPr>
          <p:nvPr/>
        </p:nvSpPr>
        <p:spPr>
          <a:xfrm xmlns:a="http://schemas.openxmlformats.org/drawingml/2006/main">
            <a:off x="1920240" y="5312664"/>
            <a:ext cx="4572000" cy="8595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B2A30"/>
                </a:solidFill>
                <a:latin typeface="Arial"/>
                <a:ea typeface="Arial"/>
                <a:cs typeface="Arial"/>
              </a:rPr>
              <a:t>Does domain aggregation help?</a:t>
            </a:r>
            <a:endParaRPr sz="1500"/>
          </a:p>
        </p:txBody>
      </p:sp>
      <p:sp>
        <p:nvSpPr>
          <p:cNvPr id="30" name="Text 28">
            <a:extLst xmlns:a="http://schemas.openxmlformats.org/drawingml/2006/main">
              <a:ext uri="{FF2B5EF4-FFF2-40B4-BE49-F238E27FC236}">
                <a16:creationId xmlns:a16="http://schemas.microsoft.com/office/drawing/2014/main" id="{08554873-903F-44B0-AB77-23037A74046D}"/>
              </a:ext>
            </a:extLst>
          </p:cNvPr>
          <p:cNvSpPr>
            <a:spLocks xmlns:a="http://schemas.openxmlformats.org/drawingml/2006/main" noGrp="1"/>
          </p:cNvSpPr>
          <p:nvPr/>
        </p:nvSpPr>
        <p:spPr>
          <a:xfrm xmlns:a="http://schemas.openxmlformats.org/drawingml/2006/main">
            <a:off x="6675120" y="5358384"/>
            <a:ext cx="4693615"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0000"/>
              </a:lnSpc>
              <a:buNone/>
            </a:pPr>
            <a:r>
              <a:rPr sz="1250">
                <a:solidFill>
                  <a:srgbClr val="3C4A52"/>
                </a:solidFill>
                <a:latin typeface="Arial"/>
                <a:ea typeface="Arial"/>
                <a:cs typeface="Arial"/>
              </a:rPr>
              <a:t>Domain aggregation improves conditioning while preserving similar separation</a:t>
            </a:r>
            <a:endParaRPr sz="1250"/>
          </a:p>
        </p:txBody>
      </p:sp>
      <p:sp>
        <p:nvSpPr>
          <p:cNvPr id="31" name="Text 29">
            <a:extLst xmlns:a="http://schemas.openxmlformats.org/drawingml/2006/main">
              <a:ext uri="{FF2B5EF4-FFF2-40B4-BE49-F238E27FC236}">
                <a16:creationId xmlns:a16="http://schemas.microsoft.com/office/drawing/2014/main" id="{1CAE3160-8E74-494B-8BF9-500D6BC77A02}"/>
              </a:ext>
            </a:extLst>
          </p:cNvPr>
          <p:cNvSpPr>
            <a:spLocks xmlns:a="http://schemas.openxmlformats.org/drawingml/2006/main" noGrp="1"/>
          </p:cNvSpPr>
          <p:nvPr/>
        </p:nvSpPr>
        <p:spPr>
          <a:xfrm xmlns:a="http://schemas.openxmlformats.org/drawingml/2006/main">
            <a:off x="6675120" y="5907024"/>
            <a:ext cx="46936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defPPr>
              <a:defRPr>
                <a:solidFill>
                  <a:srgbClr val="425670"/>
                </a:solidFill>
              </a:defRPr>
            </a:defPPr>
          </a:lstStyle>
          <a:p xmlns:a="http://schemas.openxmlformats.org/drawingml/2006/main">
            <a:pPr marL="0" indent="0">
              <a:buNone/>
              <a:defRPr>
                <a:solidFill>
                  <a:srgbClr val="425670"/>
                </a:solidFill>
              </a:defRPr>
            </a:pPr>
            <a:r>
              <a:rPr sz="1000">
                <a:solidFill>
                  <a:srgbClr val="425670"/>
                </a:solidFill>
                <a:latin typeface="Courier New"/>
                <a:ea typeface="Courier New"/>
                <a:cs typeface="Courier New"/>
              </a:rPr>
              <a:t>Higher silhouette  ·  lower VIF &amp; condition number</a:t>
            </a:r>
            <a:endParaRPr sz="1000"/>
          </a:p>
        </p:txBody>
      </p:sp>
    </p:spTree>
    <p:extLst>
      <p:ext uri="{BB962C8B-B14F-4D97-AF65-F5344CB8AC3E}">
        <p14:creationId xmlns:p14="http://schemas.microsoft.com/office/powerpoint/2010/main" val="16609265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87C619-8DD3-45CF-B13E-1CAF2173627E}"/>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THE DATA</a:t>
            </a:r>
            <a:endParaRPr sz="1150"/>
          </a:p>
        </p:txBody>
      </p:sp>
      <p:sp>
        <p:nvSpPr>
          <p:cNvPr id="3" name="Text 1">
            <a:extLst xmlns:a="http://schemas.openxmlformats.org/drawingml/2006/main">
              <a:ext uri="{FF2B5EF4-FFF2-40B4-BE49-F238E27FC236}">
                <a16:creationId xmlns:a16="http://schemas.microsoft.com/office/drawing/2014/main" id="{0B4AA5A5-33E8-485C-B731-C2C4A6176523}"/>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A large but incomplete cohort</a:t>
            </a:r>
            <a:endParaRPr sz="2600"/>
          </a:p>
        </p:txBody>
      </p:sp>
      <p:sp>
        <p:nvSpPr>
          <p:cNvPr id="4" name="Shape 2">
            <a:extLst xmlns:a="http://schemas.openxmlformats.org/drawingml/2006/main">
              <a:ext uri="{FF2B5EF4-FFF2-40B4-BE49-F238E27FC236}">
                <a16:creationId xmlns:a16="http://schemas.microsoft.com/office/drawing/2014/main" id="{5A570B24-A602-4864-9AB8-EC6CAC4E0EA8}"/>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827E46E9-9FAA-4498-9F26-196D5402E3B9}"/>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B0D0604E-564E-41C2-8EC4-FFAAFDE5DE52}"/>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DDED368C-D78E-4AF8-8721-63886797672A}"/>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5</a:t>
            </a:r>
            <a:endParaRPr sz="900"/>
          </a:p>
        </p:txBody>
      </p:sp>
      <p:sp>
        <p:nvSpPr>
          <p:cNvPr id="8" name="Text 6">
            <a:extLst xmlns:a="http://schemas.openxmlformats.org/drawingml/2006/main">
              <a:ext uri="{FF2B5EF4-FFF2-40B4-BE49-F238E27FC236}">
                <a16:creationId xmlns:a16="http://schemas.microsoft.com/office/drawing/2014/main" id="{13BB28D4-3D1A-48B4-8DD8-99F80F8727D1}"/>
              </a:ext>
            </a:extLst>
          </p:cNvPr>
          <p:cNvSpPr>
            <a:spLocks xmlns:a="http://schemas.openxmlformats.org/drawingml/2006/main" noGrp="1"/>
          </p:cNvSpPr>
          <p:nvPr/>
        </p:nvSpPr>
        <p:spPr>
          <a:xfrm xmlns:a="http://schemas.openxmlformats.org/drawingml/2006/main">
            <a:off x="640080" y="1664208"/>
            <a:ext cx="24535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1707A"/>
                </a:solidFill>
                <a:latin typeface="Arial"/>
                <a:ea typeface="Arial"/>
                <a:cs typeface="Arial"/>
              </a:rPr>
              <a:t>17,406</a:t>
            </a:r>
            <a:endParaRPr sz="3000"/>
          </a:p>
        </p:txBody>
      </p:sp>
      <p:sp>
        <p:nvSpPr>
          <p:cNvPr id="9" name="Text 7">
            <a:extLst xmlns:a="http://schemas.openxmlformats.org/drawingml/2006/main">
              <a:ext uri="{FF2B5EF4-FFF2-40B4-BE49-F238E27FC236}">
                <a16:creationId xmlns:a16="http://schemas.microsoft.com/office/drawing/2014/main" id="{DD85C723-1E4E-4611-8D13-FC642E31B31D}"/>
              </a:ext>
            </a:extLst>
          </p:cNvPr>
          <p:cNvSpPr>
            <a:spLocks xmlns:a="http://schemas.openxmlformats.org/drawingml/2006/main" noGrp="1"/>
          </p:cNvSpPr>
          <p:nvPr/>
        </p:nvSpPr>
        <p:spPr>
          <a:xfrm xmlns:a="http://schemas.openxmlformats.org/drawingml/2006/main">
            <a:off x="640080" y="2231136"/>
            <a:ext cx="245356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7C8A94"/>
                </a:solidFill>
                <a:latin typeface="Arial"/>
                <a:ea typeface="Arial"/>
                <a:cs typeface="Arial"/>
              </a:rPr>
              <a:t>assessments</a:t>
            </a:r>
            <a:endParaRPr sz="1150"/>
          </a:p>
        </p:txBody>
      </p:sp>
      <p:sp>
        <p:nvSpPr>
          <p:cNvPr id="10" name="Text 8">
            <a:extLst xmlns:a="http://schemas.openxmlformats.org/drawingml/2006/main">
              <a:ext uri="{FF2B5EF4-FFF2-40B4-BE49-F238E27FC236}">
                <a16:creationId xmlns:a16="http://schemas.microsoft.com/office/drawing/2014/main" id="{0B73B21A-B5B6-4B02-8D74-4AFE25FE6E53}"/>
              </a:ext>
            </a:extLst>
          </p:cNvPr>
          <p:cNvSpPr>
            <a:spLocks xmlns:a="http://schemas.openxmlformats.org/drawingml/2006/main" noGrp="1"/>
          </p:cNvSpPr>
          <p:nvPr/>
        </p:nvSpPr>
        <p:spPr>
          <a:xfrm xmlns:a="http://schemas.openxmlformats.org/drawingml/2006/main">
            <a:off x="3459404" y="1664208"/>
            <a:ext cx="24535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1707A"/>
                </a:solidFill>
                <a:latin typeface="Arial"/>
                <a:ea typeface="Arial"/>
                <a:cs typeface="Arial"/>
              </a:rPr>
              <a:t>7,285</a:t>
            </a:r>
            <a:endParaRPr sz="3000"/>
          </a:p>
        </p:txBody>
      </p:sp>
      <p:sp>
        <p:nvSpPr>
          <p:cNvPr id="11" name="Text 9">
            <a:extLst xmlns:a="http://schemas.openxmlformats.org/drawingml/2006/main">
              <a:ext uri="{FF2B5EF4-FFF2-40B4-BE49-F238E27FC236}">
                <a16:creationId xmlns:a16="http://schemas.microsoft.com/office/drawing/2014/main" id="{9C49C4C5-770D-4988-9834-8FB602850CA7}"/>
              </a:ext>
            </a:extLst>
          </p:cNvPr>
          <p:cNvSpPr>
            <a:spLocks xmlns:a="http://schemas.openxmlformats.org/drawingml/2006/main" noGrp="1"/>
          </p:cNvSpPr>
          <p:nvPr/>
        </p:nvSpPr>
        <p:spPr>
          <a:xfrm xmlns:a="http://schemas.openxmlformats.org/drawingml/2006/main">
            <a:off x="3459404" y="2231136"/>
            <a:ext cx="245356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7C8A94"/>
                </a:solidFill>
                <a:latin typeface="Arial"/>
                <a:ea typeface="Arial"/>
                <a:cs typeface="Arial"/>
              </a:rPr>
              <a:t>patients</a:t>
            </a:r>
            <a:endParaRPr sz="1150"/>
          </a:p>
        </p:txBody>
      </p:sp>
      <p:sp>
        <p:nvSpPr>
          <p:cNvPr id="12" name="Text 10">
            <a:extLst xmlns:a="http://schemas.openxmlformats.org/drawingml/2006/main">
              <a:ext uri="{FF2B5EF4-FFF2-40B4-BE49-F238E27FC236}">
                <a16:creationId xmlns:a16="http://schemas.microsoft.com/office/drawing/2014/main" id="{06F42023-92D7-4586-BD71-CC68DEFD71F5}"/>
              </a:ext>
            </a:extLst>
          </p:cNvPr>
          <p:cNvSpPr>
            <a:spLocks xmlns:a="http://schemas.openxmlformats.org/drawingml/2006/main" noGrp="1"/>
          </p:cNvSpPr>
          <p:nvPr/>
        </p:nvSpPr>
        <p:spPr>
          <a:xfrm xmlns:a="http://schemas.openxmlformats.org/drawingml/2006/main">
            <a:off x="6278728" y="1664208"/>
            <a:ext cx="24535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1707A"/>
                </a:solidFill>
                <a:latin typeface="Arial"/>
                <a:ea typeface="Arial"/>
                <a:cs typeface="Arial"/>
              </a:rPr>
              <a:t>14</a:t>
            </a:r>
            <a:endParaRPr sz="3000"/>
          </a:p>
        </p:txBody>
      </p:sp>
      <p:sp>
        <p:nvSpPr>
          <p:cNvPr id="13" name="Text 11">
            <a:extLst xmlns:a="http://schemas.openxmlformats.org/drawingml/2006/main">
              <a:ext uri="{FF2B5EF4-FFF2-40B4-BE49-F238E27FC236}">
                <a16:creationId xmlns:a16="http://schemas.microsoft.com/office/drawing/2014/main" id="{4CB0F0A9-C83B-43AE-9280-C2446C91141A}"/>
              </a:ext>
            </a:extLst>
          </p:cNvPr>
          <p:cNvSpPr>
            <a:spLocks xmlns:a="http://schemas.openxmlformats.org/drawingml/2006/main" noGrp="1"/>
          </p:cNvSpPr>
          <p:nvPr/>
        </p:nvSpPr>
        <p:spPr>
          <a:xfrm xmlns:a="http://schemas.openxmlformats.org/drawingml/2006/main">
            <a:off x="6278728" y="2231136"/>
            <a:ext cx="245356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7C8A94"/>
                </a:solidFill>
                <a:latin typeface="Arial"/>
                <a:ea typeface="Arial"/>
                <a:cs typeface="Arial"/>
              </a:rPr>
              <a:t>variables</a:t>
            </a:r>
            <a:endParaRPr sz="1150"/>
          </a:p>
        </p:txBody>
      </p:sp>
      <p:sp>
        <p:nvSpPr>
          <p:cNvPr id="14" name="Text 12">
            <a:extLst xmlns:a="http://schemas.openxmlformats.org/drawingml/2006/main">
              <a:ext uri="{FF2B5EF4-FFF2-40B4-BE49-F238E27FC236}">
                <a16:creationId xmlns:a16="http://schemas.microsoft.com/office/drawing/2014/main" id="{81777765-39E8-44A2-B7BF-D486E50E2A07}"/>
              </a:ext>
            </a:extLst>
          </p:cNvPr>
          <p:cNvSpPr>
            <a:spLocks xmlns:a="http://schemas.openxmlformats.org/drawingml/2006/main" noGrp="1"/>
          </p:cNvSpPr>
          <p:nvPr/>
        </p:nvSpPr>
        <p:spPr>
          <a:xfrm xmlns:a="http://schemas.openxmlformats.org/drawingml/2006/main">
            <a:off x="9098051" y="1664208"/>
            <a:ext cx="24535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1707A"/>
                </a:solidFill>
                <a:latin typeface="Arial"/>
                <a:ea typeface="Arial"/>
                <a:cs typeface="Arial"/>
              </a:rPr>
              <a:t>6</a:t>
            </a:r>
            <a:endParaRPr sz="3000"/>
          </a:p>
        </p:txBody>
      </p:sp>
      <p:sp>
        <p:nvSpPr>
          <p:cNvPr id="15" name="Text 13">
            <a:extLst xmlns:a="http://schemas.openxmlformats.org/drawingml/2006/main">
              <a:ext uri="{FF2B5EF4-FFF2-40B4-BE49-F238E27FC236}">
                <a16:creationId xmlns:a16="http://schemas.microsoft.com/office/drawing/2014/main" id="{2A4D7C44-2B77-431C-BB68-3B9995C4943F}"/>
              </a:ext>
            </a:extLst>
          </p:cNvPr>
          <p:cNvSpPr>
            <a:spLocks xmlns:a="http://schemas.openxmlformats.org/drawingml/2006/main" noGrp="1"/>
          </p:cNvSpPr>
          <p:nvPr/>
        </p:nvSpPr>
        <p:spPr>
          <a:xfrm xmlns:a="http://schemas.openxmlformats.org/drawingml/2006/main">
            <a:off x="9098051" y="2231136"/>
            <a:ext cx="245356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7C8A94"/>
                </a:solidFill>
                <a:latin typeface="Arial"/>
                <a:ea typeface="Arial"/>
                <a:cs typeface="Arial"/>
              </a:rPr>
              <a:t>cognitive domains</a:t>
            </a:r>
            <a:endParaRPr sz="1150"/>
          </a:p>
        </p:txBody>
      </p:sp>
      <p:pic>
        <p:nvPicPr>
          <p:cNvPr id="16" name="Image 0">
            <a:extLst xmlns:a="http://schemas.openxmlformats.org/drawingml/2006/main">
              <a:ext uri="{FF2B5EF4-FFF2-40B4-BE49-F238E27FC236}">
                <a16:creationId xmlns:a16="http://schemas.microsoft.com/office/drawing/2014/main" id="{F35BF702-C689-4DE8-8F77-5513729AA9B3}"/>
              </a:ext>
            </a:extLst>
          </p:cNvPr>
          <p:cNvPicPr>
            <a:picLocks xmlns:a="http://schemas.openxmlformats.org/drawingml/2006/main" noChangeAspect="1"/>
          </p:cNvPicPr>
          <p:nvPr/>
        </p:nvPicPr>
        <p:blipFill>
          <a:blip xmlns:r="http://schemas.openxmlformats.org/officeDocument/2006/relationships" xmlns:a="http://schemas.openxmlformats.org/drawingml/2006/main" r:embed="Rac34301310354030"/>
          <a:stretch xmlns:a="http://schemas.openxmlformats.org/drawingml/2006/main">
            <a:fillRect l="0" t="0" r="0" b="0"/>
          </a:stretch>
        </p:blipFill>
        <p:spPr>
          <a:xfrm xmlns:a="http://schemas.openxmlformats.org/drawingml/2006/main">
            <a:off x="796742" y="2926080"/>
            <a:ext cx="6453236" cy="3200400"/>
          </a:xfrm>
          <a:prstGeom xmlns:a="http://schemas.openxmlformats.org/drawingml/2006/main" prst="rect">
            <a:avLst/>
          </a:prstGeom>
        </p:spPr>
      </p:pic>
      <p:sp>
        <p:nvSpPr>
          <p:cNvPr id="17" name="Shape 14">
            <a:extLst xmlns:a="http://schemas.openxmlformats.org/drawingml/2006/main">
              <a:ext uri="{FF2B5EF4-FFF2-40B4-BE49-F238E27FC236}">
                <a16:creationId xmlns:a16="http://schemas.microsoft.com/office/drawing/2014/main" id="{71ECD4A8-2772-48BD-8389-6A31ECE03644}"/>
              </a:ext>
            </a:extLst>
          </p:cNvPr>
          <p:cNvSpPr>
            <a:spLocks xmlns:a="http://schemas.openxmlformats.org/drawingml/2006/main" noGrp="1"/>
          </p:cNvSpPr>
          <p:nvPr/>
        </p:nvSpPr>
        <p:spPr>
          <a:xfrm xmlns:a="http://schemas.openxmlformats.org/drawingml/2006/main">
            <a:off x="7680960" y="2926080"/>
            <a:ext cx="3870655" cy="3154680"/>
          </a:xfrm>
          <a:prstGeom xmlns:a="http://schemas.openxmlformats.org/drawingml/2006/main" prst="roundRect">
            <a:avLst>
              <a:gd name="adj" fmla="val 2319"/>
            </a:avLst>
          </a:prstGeom>
          <a:solidFill xmlns:a="http://schemas.openxmlformats.org/drawingml/2006/main">
            <a:srgbClr val="F5F8F9"/>
          </a:solidFill>
          <a:ln xmlns:a="http://schemas.openxmlformats.org/drawingml/2006/main" w="12700">
            <a:solidFill>
              <a:srgbClr val="E3E9EC"/>
            </a:solidFill>
            <a:prstDash val="solid"/>
          </a:ln>
        </p:spPr>
      </p:sp>
      <p:sp>
        <p:nvSpPr>
          <p:cNvPr id="18" name="Text 15">
            <a:extLst xmlns:a="http://schemas.openxmlformats.org/drawingml/2006/main">
              <a:ext uri="{FF2B5EF4-FFF2-40B4-BE49-F238E27FC236}">
                <a16:creationId xmlns:a16="http://schemas.microsoft.com/office/drawing/2014/main" id="{17BC3BB9-8B67-4473-9DBD-E3FA72467960}"/>
              </a:ext>
            </a:extLst>
          </p:cNvPr>
          <p:cNvSpPr>
            <a:spLocks xmlns:a="http://schemas.openxmlformats.org/drawingml/2006/main" noGrp="1"/>
          </p:cNvSpPr>
          <p:nvPr/>
        </p:nvSpPr>
        <p:spPr>
          <a:xfrm xmlns:a="http://schemas.openxmlformats.org/drawingml/2006/main">
            <a:off x="7863840" y="3108960"/>
            <a:ext cx="347472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400" b="1">
                <a:solidFill>
                  <a:srgbClr val="C25B57"/>
                </a:solidFill>
                <a:latin typeface="Arial"/>
                <a:ea typeface="Arial"/>
                <a:cs typeface="Arial"/>
              </a:rPr>
              <a:t>53.1%</a:t>
            </a:r>
            <a:endParaRPr sz="3400"/>
          </a:p>
        </p:txBody>
      </p:sp>
      <p:sp>
        <p:nvSpPr>
          <p:cNvPr id="19" name="Text 16">
            <a:extLst xmlns:a="http://schemas.openxmlformats.org/drawingml/2006/main">
              <a:ext uri="{FF2B5EF4-FFF2-40B4-BE49-F238E27FC236}">
                <a16:creationId xmlns:a16="http://schemas.microsoft.com/office/drawing/2014/main" id="{ED30DD42-3DB9-4AB8-896F-39F61CD71AAA}"/>
              </a:ext>
            </a:extLst>
          </p:cNvPr>
          <p:cNvSpPr>
            <a:spLocks xmlns:a="http://schemas.openxmlformats.org/drawingml/2006/main" noGrp="1"/>
          </p:cNvSpPr>
          <p:nvPr/>
        </p:nvSpPr>
        <p:spPr>
          <a:xfrm xmlns:a="http://schemas.openxmlformats.org/drawingml/2006/main">
            <a:off x="7863840" y="3749040"/>
            <a:ext cx="35661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3C4A52"/>
                </a:solidFill>
                <a:latin typeface="Arial"/>
                <a:ea typeface="Arial"/>
                <a:cs typeface="Arial"/>
              </a:rPr>
              <a:t>of rows are complete across all 14 variables</a:t>
            </a:r>
            <a:endParaRPr sz="1300"/>
          </a:p>
        </p:txBody>
      </p:sp>
      <p:sp>
        <p:nvSpPr>
          <p:cNvPr id="20" name="Text 17">
            <a:extLst xmlns:a="http://schemas.openxmlformats.org/drawingml/2006/main">
              <a:ext uri="{FF2B5EF4-FFF2-40B4-BE49-F238E27FC236}">
                <a16:creationId xmlns:a16="http://schemas.microsoft.com/office/drawing/2014/main" id="{E46E50F7-1CAE-4736-8F53-327588708619}"/>
              </a:ext>
            </a:extLst>
          </p:cNvPr>
          <p:cNvSpPr>
            <a:spLocks xmlns:a="http://schemas.openxmlformats.org/drawingml/2006/main" noGrp="1"/>
          </p:cNvSpPr>
          <p:nvPr/>
        </p:nvSpPr>
        <p:spPr>
          <a:xfrm xmlns:a="http://schemas.openxmlformats.org/drawingml/2006/main">
            <a:off x="7863840" y="4389120"/>
            <a:ext cx="3566160" cy="1897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900"/>
              </a:spcAft>
              <a:buSzPct val="100000"/>
              <a:buChar char="•"/>
            </a:pPr>
            <a:r>
              <a:rPr sz="1250">
                <a:solidFill>
                  <a:srgbClr val="3C4A52"/>
                </a:solidFill>
                <a:latin typeface="Arial"/>
                <a:ea typeface="Arial"/>
                <a:cs typeface="Arial"/>
              </a:rPr>
              <a:t>Complete-case analysis discards 46.9% of assessments.</a:t>
            </a:r>
            <a:endParaRPr sz="1250"/>
          </a:p>
          <a:p xmlns:a="http://schemas.openxmlformats.org/drawingml/2006/main">
            <a:pPr marL="203200" indent="-203200">
              <a:lnSpc>
                <a:spcPct val="122000"/>
              </a:lnSpc>
              <a:spcAft>
                <a:spcPts val="900"/>
              </a:spcAft>
              <a:buSzPct val="100000"/>
              <a:buChar char="•"/>
            </a:pPr>
            <a:r>
              <a:rPr sz="1250">
                <a:solidFill>
                  <a:srgbClr val="3C4A52"/>
                </a:solidFill>
                <a:latin typeface="Arial"/>
                <a:ea typeface="Arial"/>
                <a:cs typeface="Arial"/>
              </a:rPr>
              <a:t>Missingness follows structured patterns; its mechanism remains uncertain.</a:t>
            </a:r>
          </a:p>
          <a:p xmlns:a="http://schemas.openxmlformats.org/drawingml/2006/main">
            <a:pPr marL="203200" indent="-203200">
              <a:lnSpc>
                <a:spcPct val="122000"/>
              </a:lnSpc>
              <a:spcAft>
                <a:spcPts val="900"/>
              </a:spcAft>
              <a:buSzPct val="100000"/>
              <a:buChar char="•"/>
            </a:pPr>
            <a:r>
              <a:rPr sz="1250">
                <a:solidFill>
                  <a:srgbClr val="3C4A52"/>
                </a:solidFill>
                <a:latin typeface="Arial"/>
                <a:ea typeface="Arial"/>
                <a:cs typeface="Arial"/>
              </a:rPr>
              <a:t>Imputation retains partially observed assessments.</a:t>
            </a:r>
          </a:p>
        </p:txBody>
      </p:sp>
    </p:spTree>
    <p:extLst>
      <p:ext uri="{BB962C8B-B14F-4D97-AF65-F5344CB8AC3E}">
        <p14:creationId xmlns:p14="http://schemas.microsoft.com/office/powerpoint/2010/main" val="17455150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8EBE353-5F34-4D5B-B48F-199B35063381}"/>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METHOD RATIONALE</a:t>
            </a:r>
            <a:endParaRPr sz="1150"/>
          </a:p>
        </p:txBody>
      </p:sp>
      <p:sp>
        <p:nvSpPr>
          <p:cNvPr id="3" name="Text 1">
            <a:extLst xmlns:a="http://schemas.openxmlformats.org/drawingml/2006/main">
              <a:ext uri="{FF2B5EF4-FFF2-40B4-BE49-F238E27FC236}">
                <a16:creationId xmlns:a16="http://schemas.microsoft.com/office/drawing/2014/main" id="{1951AE4D-1AA5-4E64-B684-DB71149F35A3}"/>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Why imputation is necessary</a:t>
            </a:r>
            <a:endParaRPr sz="2600"/>
          </a:p>
        </p:txBody>
      </p:sp>
      <p:sp>
        <p:nvSpPr>
          <p:cNvPr id="4" name="Shape 2">
            <a:extLst xmlns:a="http://schemas.openxmlformats.org/drawingml/2006/main">
              <a:ext uri="{FF2B5EF4-FFF2-40B4-BE49-F238E27FC236}">
                <a16:creationId xmlns:a16="http://schemas.microsoft.com/office/drawing/2014/main" id="{C7BE8489-F221-4CF2-B3F6-222E4F7B793F}"/>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E771C399-5105-424A-ABB7-076C7174BA27}"/>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20F5F46F-9161-4135-B9C0-117530D39E70}"/>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82C3AD98-F4BB-4878-858F-58D2BD65B04C}"/>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6</a:t>
            </a:r>
            <a:endParaRPr sz="900"/>
          </a:p>
        </p:txBody>
      </p:sp>
      <p:pic>
        <p:nvPicPr>
          <p:cNvPr id="8" name="Image 0">
            <a:extLst xmlns:a="http://schemas.openxmlformats.org/drawingml/2006/main">
              <a:ext uri="{FF2B5EF4-FFF2-40B4-BE49-F238E27FC236}">
                <a16:creationId xmlns:a16="http://schemas.microsoft.com/office/drawing/2014/main" id="{057C5B93-8F78-4373-8452-04C6DE19A522}"/>
              </a:ext>
            </a:extLst>
          </p:cNvPr>
          <p:cNvPicPr>
            <a:picLocks xmlns:a="http://schemas.openxmlformats.org/drawingml/2006/main" noChangeAspect="1"/>
          </p:cNvPicPr>
          <p:nvPr/>
        </p:nvPicPr>
        <p:blipFill>
          <a:blip xmlns:r="http://schemas.openxmlformats.org/officeDocument/2006/relationships" xmlns:a="http://schemas.openxmlformats.org/drawingml/2006/main" r:embed="R07e53c1d82ec4afb"/>
          <a:stretch xmlns:a="http://schemas.openxmlformats.org/drawingml/2006/main">
            <a:fillRect l="0" t="0" r="0" b="0"/>
          </a:stretch>
        </p:blipFill>
        <p:spPr>
          <a:xfrm xmlns:a="http://schemas.openxmlformats.org/drawingml/2006/main">
            <a:off x="640080" y="2039631"/>
            <a:ext cx="6126480" cy="3748001"/>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300A99E2-0B88-4FAA-933C-B9D59F3EEC3B}"/>
              </a:ext>
            </a:extLst>
          </p:cNvPr>
          <p:cNvSpPr>
            <a:spLocks xmlns:a="http://schemas.openxmlformats.org/drawingml/2006/main" noGrp="1"/>
          </p:cNvSpPr>
          <p:nvPr/>
        </p:nvSpPr>
        <p:spPr>
          <a:xfrm xmlns:a="http://schemas.openxmlformats.org/drawingml/2006/main">
            <a:off x="6903720" y="1691640"/>
            <a:ext cx="4647895"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550" b="1">
                <a:solidFill>
                  <a:srgbClr val="1B2A30"/>
                </a:solidFill>
                <a:latin typeface="Arial"/>
                <a:ea typeface="Arial"/>
                <a:cs typeface="Arial"/>
              </a:rPr>
              <a:t>Missingness reflects the clinical testing process</a:t>
            </a:r>
            <a:endParaRPr sz="1550"/>
          </a:p>
        </p:txBody>
      </p:sp>
      <p:sp>
        <p:nvSpPr>
          <p:cNvPr id="10" name="Text 7">
            <a:extLst xmlns:a="http://schemas.openxmlformats.org/drawingml/2006/main">
              <a:ext uri="{FF2B5EF4-FFF2-40B4-BE49-F238E27FC236}">
                <a16:creationId xmlns:a16="http://schemas.microsoft.com/office/drawing/2014/main" id="{C51D971E-4095-4783-BB68-BA350141AF3E}"/>
              </a:ext>
            </a:extLst>
          </p:cNvPr>
          <p:cNvSpPr>
            <a:spLocks xmlns:a="http://schemas.openxmlformats.org/drawingml/2006/main" noGrp="1"/>
          </p:cNvSpPr>
          <p:nvPr/>
        </p:nvSpPr>
        <p:spPr>
          <a:xfrm xmlns:a="http://schemas.openxmlformats.org/drawingml/2006/main">
            <a:off x="6903720" y="2468880"/>
            <a:ext cx="4572000"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900"/>
              </a:spcAft>
              <a:buSzPct val="100000"/>
              <a:buChar char="•"/>
            </a:pPr>
            <a:r>
              <a:rPr sz="1400">
                <a:solidFill>
                  <a:srgbClr val="3C4A52"/>
                </a:solidFill>
                <a:latin typeface="Arial"/>
                <a:ea typeface="Arial"/>
                <a:cs typeface="Arial"/>
              </a:rPr>
              <a:t>Fatigue or reduced motivation</a:t>
            </a:r>
            <a:endParaRPr sz="1400"/>
          </a:p>
          <a:p xmlns:a="http://schemas.openxmlformats.org/drawingml/2006/main">
            <a:pPr marL="203200" indent="-203200">
              <a:lnSpc>
                <a:spcPct val="122000"/>
              </a:lnSpc>
              <a:spcAft>
                <a:spcPts val="900"/>
              </a:spcAft>
              <a:buSzPct val="100000"/>
              <a:buChar char="•"/>
            </a:pPr>
            <a:r>
              <a:rPr sz="1400">
                <a:solidFill>
                  <a:srgbClr val="3C4A52"/>
                </a:solidFill>
                <a:latin typeface="Arial"/>
                <a:ea typeface="Arial"/>
                <a:cs typeface="Arial"/>
              </a:rPr>
              <a:t>Cognitive overload or task aversion</a:t>
            </a:r>
            <a:endParaRPr sz="1400"/>
          </a:p>
          <a:p xmlns:a="http://schemas.openxmlformats.org/drawingml/2006/main">
            <a:pPr marL="203200" indent="-203200">
              <a:lnSpc>
                <a:spcPct val="122000"/>
              </a:lnSpc>
              <a:spcAft>
                <a:spcPts val="900"/>
              </a:spcAft>
              <a:buSzPct val="100000"/>
              <a:buChar char="•"/>
            </a:pPr>
            <a:r>
              <a:rPr sz="1400">
                <a:solidFill>
                  <a:srgbClr val="3C4A52"/>
                </a:solidFill>
                <a:latin typeface="Arial"/>
                <a:ea typeface="Arial"/>
                <a:cs typeface="Arial"/>
              </a:rPr>
              <a:t>Disorientation or motor limitations</a:t>
            </a:r>
            <a:endParaRPr sz="1400"/>
          </a:p>
          <a:p xmlns:a="http://schemas.openxmlformats.org/drawingml/2006/main">
            <a:pPr marL="203200" indent="-203200">
              <a:lnSpc>
                <a:spcPct val="122000"/>
              </a:lnSpc>
              <a:spcAft>
                <a:spcPts val="900"/>
              </a:spcAft>
              <a:buSzPct val="100000"/>
              <a:buChar char="•"/>
            </a:pPr>
            <a:r>
              <a:rPr sz="1400">
                <a:solidFill>
                  <a:srgbClr val="3C4A52"/>
                </a:solidFill>
                <a:latin typeface="Arial"/>
                <a:ea typeface="Arial"/>
                <a:cs typeface="Arial"/>
              </a:rPr>
              <a:t>Limited tolerance for long batteries</a:t>
            </a:r>
            <a:endParaRPr sz="1400"/>
          </a:p>
          <a:p xmlns:a="http://schemas.openxmlformats.org/drawingml/2006/main">
            <a:pPr marL="203200" indent="-203200">
              <a:lnSpc>
                <a:spcPct val="122000"/>
              </a:lnSpc>
              <a:spcAft>
                <a:spcPts val="900"/>
              </a:spcAft>
              <a:buSzPct val="100000"/>
              <a:buChar char="•"/>
            </a:pPr>
            <a:r>
              <a:rPr sz="1400">
                <a:solidFill>
                  <a:srgbClr val="3C4A52"/>
                </a:solidFill>
                <a:latin typeface="Arial"/>
                <a:ea typeface="Arial"/>
                <a:cs typeface="Arial"/>
              </a:rPr>
              <a:t>Clinician selects a more suitable test</a:t>
            </a:r>
            <a:endParaRPr sz="1400"/>
          </a:p>
        </p:txBody>
      </p:sp>
      <p:sp>
        <p:nvSpPr>
          <p:cNvPr id="11" name="Text 8">
            <a:extLst xmlns:a="http://schemas.openxmlformats.org/drawingml/2006/main">
              <a:ext uri="{FF2B5EF4-FFF2-40B4-BE49-F238E27FC236}">
                <a16:creationId xmlns:a16="http://schemas.microsoft.com/office/drawing/2014/main" id="{3DCE2C22-BFA7-4794-8AB0-3171269EB6EF}"/>
              </a:ext>
            </a:extLst>
          </p:cNvPr>
          <p:cNvSpPr>
            <a:spLocks xmlns:a="http://schemas.openxmlformats.org/drawingml/2006/main" noGrp="1"/>
          </p:cNvSpPr>
          <p:nvPr/>
        </p:nvSpPr>
        <p:spPr>
          <a:xfrm xmlns:a="http://schemas.openxmlformats.org/drawingml/2006/main">
            <a:off x="6903720" y="5120640"/>
            <a:ext cx="461772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250" i="1">
                <a:solidFill>
                  <a:srgbClr val="11707A"/>
                </a:solidFill>
                <a:latin typeface="Arial"/>
                <a:ea typeface="Arial"/>
                <a:cs typeface="Arial"/>
              </a:rPr>
              <a:t>Complete-case selection changes the cohort. Whether excluded assessments are more impaired cannot be established from missing scores alone.</a:t>
            </a:r>
            <a:endParaRPr sz="1250"/>
          </a:p>
        </p:txBody>
      </p:sp>
    </p:spTree>
    <p:extLst>
      <p:ext uri="{BB962C8B-B14F-4D97-AF65-F5344CB8AC3E}">
        <p14:creationId xmlns:p14="http://schemas.microsoft.com/office/powerpoint/2010/main" val="7186632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D1228C-0740-4058-96F8-BDE868BB7400}"/>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METHODS</a:t>
            </a:r>
            <a:endParaRPr sz="1150"/>
          </a:p>
        </p:txBody>
      </p:sp>
      <p:sp>
        <p:nvSpPr>
          <p:cNvPr id="3" name="Text 1">
            <a:extLst xmlns:a="http://schemas.openxmlformats.org/drawingml/2006/main">
              <a:ext uri="{FF2B5EF4-FFF2-40B4-BE49-F238E27FC236}">
                <a16:creationId xmlns:a16="http://schemas.microsoft.com/office/drawing/2014/main" id="{E013F47E-D173-4B31-B4C8-279073F82E7B}"/>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Analysis pipeline</a:t>
            </a:r>
            <a:endParaRPr sz="2600"/>
          </a:p>
        </p:txBody>
      </p:sp>
      <p:sp>
        <p:nvSpPr>
          <p:cNvPr id="4" name="Shape 2">
            <a:extLst xmlns:a="http://schemas.openxmlformats.org/drawingml/2006/main">
              <a:ext uri="{FF2B5EF4-FFF2-40B4-BE49-F238E27FC236}">
                <a16:creationId xmlns:a16="http://schemas.microsoft.com/office/drawing/2014/main" id="{83BEEFCA-C635-49A6-BAFB-033D339F14E0}"/>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B91AB8B8-C240-4F65-93F9-42559979944F}"/>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CF9271D0-2FB4-4F73-9E17-2A69D9ACF061}"/>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6DD4DAEF-EE70-4341-BD19-6A8A5CD5A94E}"/>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7</a:t>
            </a:r>
            <a:endParaRPr sz="900"/>
          </a:p>
        </p:txBody>
      </p:sp>
      <p:sp>
        <p:nvSpPr>
          <p:cNvPr id="8" name="Shape 6">
            <a:extLst xmlns:a="http://schemas.openxmlformats.org/drawingml/2006/main">
              <a:ext uri="{FF2B5EF4-FFF2-40B4-BE49-F238E27FC236}">
                <a16:creationId xmlns:a16="http://schemas.microsoft.com/office/drawing/2014/main" id="{497892F6-D1E3-45E1-AFE3-3406DF58E311}"/>
              </a:ext>
            </a:extLst>
          </p:cNvPr>
          <p:cNvSpPr>
            <a:spLocks xmlns:a="http://schemas.openxmlformats.org/drawingml/2006/main" noGrp="1"/>
          </p:cNvSpPr>
          <p:nvPr/>
        </p:nvSpPr>
        <p:spPr>
          <a:xfrm xmlns:a="http://schemas.openxmlformats.org/drawingml/2006/main">
            <a:off x="640080" y="1828800"/>
            <a:ext cx="1853123" cy="13716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2700">
            <a:solidFill>
              <a:srgbClr val="E3E9EC"/>
            </a:solidFill>
            <a:prstDash val="solid"/>
          </a:ln>
        </p:spPr>
      </p:sp>
      <p:sp>
        <p:nvSpPr>
          <p:cNvPr id="9" name="Shape 7">
            <a:extLst xmlns:a="http://schemas.openxmlformats.org/drawingml/2006/main">
              <a:ext uri="{FF2B5EF4-FFF2-40B4-BE49-F238E27FC236}">
                <a16:creationId xmlns:a16="http://schemas.microsoft.com/office/drawing/2014/main" id="{E04600C5-693E-4A55-8007-C283DF5B6BDE}"/>
              </a:ext>
            </a:extLst>
          </p:cNvPr>
          <p:cNvSpPr>
            <a:spLocks xmlns:a="http://schemas.openxmlformats.org/drawingml/2006/main" noGrp="1"/>
          </p:cNvSpPr>
          <p:nvPr/>
        </p:nvSpPr>
        <p:spPr>
          <a:xfrm xmlns:a="http://schemas.openxmlformats.org/drawingml/2006/main">
            <a:off x="640080" y="1828800"/>
            <a:ext cx="1853123" cy="109728"/>
          </a:xfrm>
          <a:prstGeom xmlns:a="http://schemas.openxmlformats.org/drawingml/2006/main" prst="rect">
            <a:avLst/>
          </a:prstGeom>
          <a:solidFill xmlns:a="http://schemas.openxmlformats.org/drawingml/2006/main">
            <a:srgbClr val="11707A"/>
          </a:solidFill>
        </p:spPr>
      </p:sp>
      <p:sp>
        <p:nvSpPr>
          <p:cNvPr id="10" name="Text 8">
            <a:extLst xmlns:a="http://schemas.openxmlformats.org/drawingml/2006/main">
              <a:ext uri="{FF2B5EF4-FFF2-40B4-BE49-F238E27FC236}">
                <a16:creationId xmlns:a16="http://schemas.microsoft.com/office/drawing/2014/main" id="{7D7384E7-806B-47E6-A546-EA869985E58F}"/>
              </a:ext>
            </a:extLst>
          </p:cNvPr>
          <p:cNvSpPr>
            <a:spLocks xmlns:a="http://schemas.openxmlformats.org/drawingml/2006/main" noGrp="1"/>
          </p:cNvSpPr>
          <p:nvPr/>
        </p:nvSpPr>
        <p:spPr>
          <a:xfrm xmlns:a="http://schemas.openxmlformats.org/drawingml/2006/main">
            <a:off x="640080" y="2084832"/>
            <a:ext cx="1853123"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1B2A30"/>
                </a:solidFill>
                <a:latin typeface="Arial"/>
                <a:ea typeface="Arial"/>
                <a:cs typeface="Arial"/>
              </a:rPr>
              <a:t>Impute</a:t>
            </a:r>
            <a:endParaRPr sz="1600"/>
          </a:p>
        </p:txBody>
      </p:sp>
      <p:sp>
        <p:nvSpPr>
          <p:cNvPr id="11" name="Text 9">
            <a:extLst xmlns:a="http://schemas.openxmlformats.org/drawingml/2006/main">
              <a:ext uri="{FF2B5EF4-FFF2-40B4-BE49-F238E27FC236}">
                <a16:creationId xmlns:a16="http://schemas.microsoft.com/office/drawing/2014/main" id="{33289138-2B30-48EC-BA12-54E40604E0C5}"/>
              </a:ext>
            </a:extLst>
          </p:cNvPr>
          <p:cNvSpPr>
            <a:spLocks xmlns:a="http://schemas.openxmlformats.org/drawingml/2006/main" noGrp="1"/>
          </p:cNvSpPr>
          <p:nvPr/>
        </p:nvSpPr>
        <p:spPr>
          <a:xfrm xmlns:a="http://schemas.openxmlformats.org/drawingml/2006/main">
            <a:off x="713232" y="2542032"/>
            <a:ext cx="1706819"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10000"/>
              </a:lnSpc>
              <a:buNone/>
            </a:pPr>
            <a:r>
              <a:rPr sz="1100">
                <a:solidFill>
                  <a:srgbClr val="3C4A52"/>
                </a:solidFill>
                <a:latin typeface="Arial"/>
                <a:ea typeface="Arial"/>
                <a:cs typeface="Arial"/>
              </a:rPr>
              <a:t>10 strategies</a:t>
            </a:r>
            <a:endParaRPr sz="1100"/>
          </a:p>
          <a:p xmlns:a="http://schemas.openxmlformats.org/drawingml/2006/main">
            <a:pPr marL="0" indent="0" algn="ctr">
              <a:lnSpc>
                <a:spcPct val="110000"/>
              </a:lnSpc>
              <a:buNone/>
            </a:pPr>
            <a:r>
              <a:rPr sz="1100">
                <a:solidFill>
                  <a:srgbClr val="3C4A52"/>
                </a:solidFill>
                <a:latin typeface="Arial"/>
                <a:ea typeface="Arial"/>
                <a:cs typeface="Arial"/>
              </a:rPr>
              <a:t>simple → deep learning</a:t>
            </a:r>
            <a:endParaRPr sz="1100"/>
          </a:p>
        </p:txBody>
      </p:sp>
      <p:sp>
        <p:nvSpPr>
          <p:cNvPr id="12" name="Text 10">
            <a:extLst xmlns:a="http://schemas.openxmlformats.org/drawingml/2006/main">
              <a:ext uri="{FF2B5EF4-FFF2-40B4-BE49-F238E27FC236}">
                <a16:creationId xmlns:a16="http://schemas.microsoft.com/office/drawing/2014/main" id="{E5B6231A-59BE-42D3-A2A1-BFCF5601721E}"/>
              </a:ext>
            </a:extLst>
          </p:cNvPr>
          <p:cNvSpPr>
            <a:spLocks xmlns:a="http://schemas.openxmlformats.org/drawingml/2006/main" noGrp="1"/>
          </p:cNvSpPr>
          <p:nvPr/>
        </p:nvSpPr>
        <p:spPr>
          <a:xfrm xmlns:a="http://schemas.openxmlformats.org/drawingml/2006/main">
            <a:off x="2493203" y="1828800"/>
            <a:ext cx="41148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200" b="1">
                <a:solidFill>
                  <a:srgbClr val="11707A"/>
                </a:solidFill>
                <a:latin typeface="Arial"/>
                <a:ea typeface="Arial"/>
                <a:cs typeface="Arial"/>
              </a:rPr>
              <a:t>→</a:t>
            </a:r>
            <a:endParaRPr sz="2200"/>
          </a:p>
        </p:txBody>
      </p:sp>
      <p:sp>
        <p:nvSpPr>
          <p:cNvPr id="13" name="Shape 11">
            <a:extLst xmlns:a="http://schemas.openxmlformats.org/drawingml/2006/main">
              <a:ext uri="{FF2B5EF4-FFF2-40B4-BE49-F238E27FC236}">
                <a16:creationId xmlns:a16="http://schemas.microsoft.com/office/drawing/2014/main" id="{2A5766A6-1E5D-438A-938E-CEA8C35DF39B}"/>
              </a:ext>
            </a:extLst>
          </p:cNvPr>
          <p:cNvSpPr>
            <a:spLocks xmlns:a="http://schemas.openxmlformats.org/drawingml/2006/main" noGrp="1"/>
          </p:cNvSpPr>
          <p:nvPr/>
        </p:nvSpPr>
        <p:spPr>
          <a:xfrm xmlns:a="http://schemas.openxmlformats.org/drawingml/2006/main">
            <a:off x="2904683" y="1828800"/>
            <a:ext cx="1853123" cy="13716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2700">
            <a:solidFill>
              <a:srgbClr val="E3E9EC"/>
            </a:solidFill>
            <a:prstDash val="solid"/>
          </a:ln>
        </p:spPr>
      </p:sp>
      <p:sp>
        <p:nvSpPr>
          <p:cNvPr id="14" name="Shape 12">
            <a:extLst xmlns:a="http://schemas.openxmlformats.org/drawingml/2006/main">
              <a:ext uri="{FF2B5EF4-FFF2-40B4-BE49-F238E27FC236}">
                <a16:creationId xmlns:a16="http://schemas.microsoft.com/office/drawing/2014/main" id="{663EB929-8AA6-4F92-87C8-7B30E29447DC}"/>
              </a:ext>
            </a:extLst>
          </p:cNvPr>
          <p:cNvSpPr>
            <a:spLocks xmlns:a="http://schemas.openxmlformats.org/drawingml/2006/main" noGrp="1"/>
          </p:cNvSpPr>
          <p:nvPr/>
        </p:nvSpPr>
        <p:spPr>
          <a:xfrm xmlns:a="http://schemas.openxmlformats.org/drawingml/2006/main">
            <a:off x="2904683" y="1828800"/>
            <a:ext cx="1853123" cy="109728"/>
          </a:xfrm>
          <a:prstGeom xmlns:a="http://schemas.openxmlformats.org/drawingml/2006/main" prst="rect">
            <a:avLst/>
          </a:prstGeom>
          <a:solidFill xmlns:a="http://schemas.openxmlformats.org/drawingml/2006/main">
            <a:srgbClr val="11707A"/>
          </a:solidFill>
        </p:spPr>
      </p:sp>
      <p:sp>
        <p:nvSpPr>
          <p:cNvPr id="15" name="Text 13">
            <a:extLst xmlns:a="http://schemas.openxmlformats.org/drawingml/2006/main">
              <a:ext uri="{FF2B5EF4-FFF2-40B4-BE49-F238E27FC236}">
                <a16:creationId xmlns:a16="http://schemas.microsoft.com/office/drawing/2014/main" id="{C3376712-E8A2-4AFB-A4C9-E40A60E00D5A}"/>
              </a:ext>
            </a:extLst>
          </p:cNvPr>
          <p:cNvSpPr>
            <a:spLocks xmlns:a="http://schemas.openxmlformats.org/drawingml/2006/main" noGrp="1"/>
          </p:cNvSpPr>
          <p:nvPr/>
        </p:nvSpPr>
        <p:spPr>
          <a:xfrm xmlns:a="http://schemas.openxmlformats.org/drawingml/2006/main">
            <a:off x="2904683" y="2084832"/>
            <a:ext cx="1853123"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1B2A30"/>
                </a:solidFill>
                <a:latin typeface="Arial"/>
                <a:ea typeface="Arial"/>
                <a:cs typeface="Arial"/>
              </a:rPr>
              <a:t>Scale</a:t>
            </a:r>
            <a:endParaRPr sz="1600"/>
          </a:p>
        </p:txBody>
      </p:sp>
      <p:sp>
        <p:nvSpPr>
          <p:cNvPr id="16" name="Text 14">
            <a:extLst xmlns:a="http://schemas.openxmlformats.org/drawingml/2006/main">
              <a:ext uri="{FF2B5EF4-FFF2-40B4-BE49-F238E27FC236}">
                <a16:creationId xmlns:a16="http://schemas.microsoft.com/office/drawing/2014/main" id="{0386A69B-3E7F-4F67-8805-B6FE55516B18}"/>
              </a:ext>
            </a:extLst>
          </p:cNvPr>
          <p:cNvSpPr>
            <a:spLocks xmlns:a="http://schemas.openxmlformats.org/drawingml/2006/main" noGrp="1"/>
          </p:cNvSpPr>
          <p:nvPr/>
        </p:nvSpPr>
        <p:spPr>
          <a:xfrm xmlns:a="http://schemas.openxmlformats.org/drawingml/2006/main">
            <a:off x="2977835" y="2542032"/>
            <a:ext cx="1706819"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10000"/>
              </a:lnSpc>
              <a:buNone/>
            </a:pPr>
            <a:r>
              <a:rPr sz="1100">
                <a:solidFill>
                  <a:srgbClr val="3C4A52"/>
                </a:solidFill>
                <a:latin typeface="Arial"/>
                <a:ea typeface="Arial"/>
                <a:cs typeface="Arial"/>
              </a:rPr>
              <a:t>orient scores —</a:t>
            </a:r>
            <a:endParaRPr sz="1100"/>
          </a:p>
          <a:p xmlns:a="http://schemas.openxmlformats.org/drawingml/2006/main">
            <a:pPr marL="0" indent="0" algn="ctr">
              <a:lnSpc>
                <a:spcPct val="110000"/>
              </a:lnSpc>
              <a:buNone/>
            </a:pPr>
            <a:r>
              <a:rPr sz="1100">
                <a:solidFill>
                  <a:srgbClr val="3C4A52"/>
                </a:solidFill>
                <a:latin typeface="Arial"/>
                <a:ea typeface="Arial"/>
                <a:cs typeface="Arial"/>
              </a:rPr>
              <a:t>higher = better</a:t>
            </a:r>
            <a:endParaRPr sz="1100"/>
          </a:p>
        </p:txBody>
      </p:sp>
      <p:sp>
        <p:nvSpPr>
          <p:cNvPr id="17" name="Text 15">
            <a:extLst xmlns:a="http://schemas.openxmlformats.org/drawingml/2006/main">
              <a:ext uri="{FF2B5EF4-FFF2-40B4-BE49-F238E27FC236}">
                <a16:creationId xmlns:a16="http://schemas.microsoft.com/office/drawing/2014/main" id="{A65C1C6F-871C-492F-952E-AB72899ECEC0}"/>
              </a:ext>
            </a:extLst>
          </p:cNvPr>
          <p:cNvSpPr>
            <a:spLocks xmlns:a="http://schemas.openxmlformats.org/drawingml/2006/main" noGrp="1"/>
          </p:cNvSpPr>
          <p:nvPr/>
        </p:nvSpPr>
        <p:spPr>
          <a:xfrm xmlns:a="http://schemas.openxmlformats.org/drawingml/2006/main">
            <a:off x="4757806" y="1828800"/>
            <a:ext cx="41148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200" b="1">
                <a:solidFill>
                  <a:srgbClr val="11707A"/>
                </a:solidFill>
                <a:latin typeface="Arial"/>
                <a:ea typeface="Arial"/>
                <a:cs typeface="Arial"/>
              </a:rPr>
              <a:t>→</a:t>
            </a:r>
            <a:endParaRPr sz="2200"/>
          </a:p>
        </p:txBody>
      </p:sp>
      <p:sp>
        <p:nvSpPr>
          <p:cNvPr id="18" name="Shape 16">
            <a:extLst xmlns:a="http://schemas.openxmlformats.org/drawingml/2006/main">
              <a:ext uri="{FF2B5EF4-FFF2-40B4-BE49-F238E27FC236}">
                <a16:creationId xmlns:a16="http://schemas.microsoft.com/office/drawing/2014/main" id="{E9D4B5DC-0614-4344-A674-00B2FEC31583}"/>
              </a:ext>
            </a:extLst>
          </p:cNvPr>
          <p:cNvSpPr>
            <a:spLocks xmlns:a="http://schemas.openxmlformats.org/drawingml/2006/main" noGrp="1"/>
          </p:cNvSpPr>
          <p:nvPr/>
        </p:nvSpPr>
        <p:spPr>
          <a:xfrm xmlns:a="http://schemas.openxmlformats.org/drawingml/2006/main">
            <a:off x="5169286" y="1828800"/>
            <a:ext cx="1853123" cy="13716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2700">
            <a:solidFill>
              <a:srgbClr val="E3E9EC"/>
            </a:solidFill>
            <a:prstDash val="solid"/>
          </a:ln>
        </p:spPr>
      </p:sp>
      <p:sp>
        <p:nvSpPr>
          <p:cNvPr id="19" name="Shape 17">
            <a:extLst xmlns:a="http://schemas.openxmlformats.org/drawingml/2006/main">
              <a:ext uri="{FF2B5EF4-FFF2-40B4-BE49-F238E27FC236}">
                <a16:creationId xmlns:a16="http://schemas.microsoft.com/office/drawing/2014/main" id="{BB9D203F-065D-4716-86F3-82FD0167D4E9}"/>
              </a:ext>
            </a:extLst>
          </p:cNvPr>
          <p:cNvSpPr>
            <a:spLocks xmlns:a="http://schemas.openxmlformats.org/drawingml/2006/main" noGrp="1"/>
          </p:cNvSpPr>
          <p:nvPr/>
        </p:nvSpPr>
        <p:spPr>
          <a:xfrm xmlns:a="http://schemas.openxmlformats.org/drawingml/2006/main">
            <a:off x="5169286" y="1828800"/>
            <a:ext cx="1853123" cy="109728"/>
          </a:xfrm>
          <a:prstGeom xmlns:a="http://schemas.openxmlformats.org/drawingml/2006/main" prst="rect">
            <a:avLst/>
          </a:prstGeom>
          <a:solidFill xmlns:a="http://schemas.openxmlformats.org/drawingml/2006/main">
            <a:srgbClr val="11707A"/>
          </a:solidFill>
        </p:spPr>
      </p:sp>
      <p:sp>
        <p:nvSpPr>
          <p:cNvPr id="20" name="Text 18">
            <a:extLst xmlns:a="http://schemas.openxmlformats.org/drawingml/2006/main">
              <a:ext uri="{FF2B5EF4-FFF2-40B4-BE49-F238E27FC236}">
                <a16:creationId xmlns:a16="http://schemas.microsoft.com/office/drawing/2014/main" id="{C2D328EB-65FC-43C8-B480-2F24CF63F116}"/>
              </a:ext>
            </a:extLst>
          </p:cNvPr>
          <p:cNvSpPr>
            <a:spLocks xmlns:a="http://schemas.openxmlformats.org/drawingml/2006/main" noGrp="1"/>
          </p:cNvSpPr>
          <p:nvPr/>
        </p:nvSpPr>
        <p:spPr>
          <a:xfrm xmlns:a="http://schemas.openxmlformats.org/drawingml/2006/main">
            <a:off x="5169286" y="2084832"/>
            <a:ext cx="1853123"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1B2A30"/>
                </a:solidFill>
                <a:latin typeface="Arial"/>
                <a:ea typeface="Arial"/>
                <a:cs typeface="Arial"/>
              </a:rPr>
              <a:t>Aggregate</a:t>
            </a:r>
            <a:endParaRPr sz="1600"/>
          </a:p>
        </p:txBody>
      </p:sp>
      <p:sp>
        <p:nvSpPr>
          <p:cNvPr id="21" name="Text 19">
            <a:extLst xmlns:a="http://schemas.openxmlformats.org/drawingml/2006/main">
              <a:ext uri="{FF2B5EF4-FFF2-40B4-BE49-F238E27FC236}">
                <a16:creationId xmlns:a16="http://schemas.microsoft.com/office/drawing/2014/main" id="{8F8A0889-4217-41FA-84D3-45B5FEF97878}"/>
              </a:ext>
            </a:extLst>
          </p:cNvPr>
          <p:cNvSpPr>
            <a:spLocks xmlns:a="http://schemas.openxmlformats.org/drawingml/2006/main" noGrp="1"/>
          </p:cNvSpPr>
          <p:nvPr/>
        </p:nvSpPr>
        <p:spPr>
          <a:xfrm xmlns:a="http://schemas.openxmlformats.org/drawingml/2006/main">
            <a:off x="5242438" y="2542032"/>
            <a:ext cx="1706819"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10000"/>
              </a:lnSpc>
              <a:buNone/>
            </a:pPr>
            <a:r>
              <a:rPr sz="1100">
                <a:solidFill>
                  <a:srgbClr val="3C4A52"/>
                </a:solidFill>
                <a:latin typeface="Arial"/>
                <a:ea typeface="Arial"/>
                <a:cs typeface="Arial"/>
              </a:rPr>
              <a:t>14 variables →</a:t>
            </a:r>
            <a:endParaRPr sz="1100"/>
          </a:p>
          <a:p xmlns:a="http://schemas.openxmlformats.org/drawingml/2006/main">
            <a:pPr marL="0" indent="0" algn="ctr">
              <a:lnSpc>
                <a:spcPct val="110000"/>
              </a:lnSpc>
              <a:buNone/>
            </a:pPr>
            <a:r>
              <a:rPr sz="1100">
                <a:solidFill>
                  <a:srgbClr val="3C4A52"/>
                </a:solidFill>
                <a:latin typeface="Arial"/>
                <a:ea typeface="Arial"/>
                <a:cs typeface="Arial"/>
              </a:rPr>
              <a:t>6 domains</a:t>
            </a:r>
            <a:endParaRPr sz="1100"/>
          </a:p>
        </p:txBody>
      </p:sp>
      <p:sp>
        <p:nvSpPr>
          <p:cNvPr id="22" name="Text 20">
            <a:extLst xmlns:a="http://schemas.openxmlformats.org/drawingml/2006/main">
              <a:ext uri="{FF2B5EF4-FFF2-40B4-BE49-F238E27FC236}">
                <a16:creationId xmlns:a16="http://schemas.microsoft.com/office/drawing/2014/main" id="{BC6792C9-4D05-4648-AE55-C6DBCF0BC2B8}"/>
              </a:ext>
            </a:extLst>
          </p:cNvPr>
          <p:cNvSpPr>
            <a:spLocks xmlns:a="http://schemas.openxmlformats.org/drawingml/2006/main" noGrp="1"/>
          </p:cNvSpPr>
          <p:nvPr/>
        </p:nvSpPr>
        <p:spPr>
          <a:xfrm xmlns:a="http://schemas.openxmlformats.org/drawingml/2006/main">
            <a:off x="7022409" y="1828800"/>
            <a:ext cx="41148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200" b="1">
                <a:solidFill>
                  <a:srgbClr val="11707A"/>
                </a:solidFill>
                <a:latin typeface="Arial"/>
                <a:ea typeface="Arial"/>
                <a:cs typeface="Arial"/>
              </a:rPr>
              <a:t>→</a:t>
            </a:r>
            <a:endParaRPr sz="2200"/>
          </a:p>
        </p:txBody>
      </p:sp>
      <p:sp>
        <p:nvSpPr>
          <p:cNvPr id="23" name="Shape 21">
            <a:extLst xmlns:a="http://schemas.openxmlformats.org/drawingml/2006/main">
              <a:ext uri="{FF2B5EF4-FFF2-40B4-BE49-F238E27FC236}">
                <a16:creationId xmlns:a16="http://schemas.microsoft.com/office/drawing/2014/main" id="{9217442C-E142-4149-A178-FD5F3585EC75}"/>
              </a:ext>
            </a:extLst>
          </p:cNvPr>
          <p:cNvSpPr>
            <a:spLocks xmlns:a="http://schemas.openxmlformats.org/drawingml/2006/main" noGrp="1"/>
          </p:cNvSpPr>
          <p:nvPr/>
        </p:nvSpPr>
        <p:spPr>
          <a:xfrm xmlns:a="http://schemas.openxmlformats.org/drawingml/2006/main">
            <a:off x="7433889" y="1828800"/>
            <a:ext cx="1853123" cy="13716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2700">
            <a:solidFill>
              <a:srgbClr val="E3E9EC"/>
            </a:solidFill>
            <a:prstDash val="solid"/>
          </a:ln>
        </p:spPr>
      </p:sp>
      <p:sp>
        <p:nvSpPr>
          <p:cNvPr id="24" name="Shape 22">
            <a:extLst xmlns:a="http://schemas.openxmlformats.org/drawingml/2006/main">
              <a:ext uri="{FF2B5EF4-FFF2-40B4-BE49-F238E27FC236}">
                <a16:creationId xmlns:a16="http://schemas.microsoft.com/office/drawing/2014/main" id="{26491664-E8A6-4F7C-8087-C26DF7A8D00D}"/>
              </a:ext>
            </a:extLst>
          </p:cNvPr>
          <p:cNvSpPr>
            <a:spLocks xmlns:a="http://schemas.openxmlformats.org/drawingml/2006/main" noGrp="1"/>
          </p:cNvSpPr>
          <p:nvPr/>
        </p:nvSpPr>
        <p:spPr>
          <a:xfrm xmlns:a="http://schemas.openxmlformats.org/drawingml/2006/main">
            <a:off x="7433889" y="1828800"/>
            <a:ext cx="1853123" cy="109728"/>
          </a:xfrm>
          <a:prstGeom xmlns:a="http://schemas.openxmlformats.org/drawingml/2006/main" prst="rect">
            <a:avLst/>
          </a:prstGeom>
          <a:solidFill xmlns:a="http://schemas.openxmlformats.org/drawingml/2006/main">
            <a:srgbClr val="11707A"/>
          </a:solidFill>
        </p:spPr>
      </p:sp>
      <p:sp>
        <p:nvSpPr>
          <p:cNvPr id="25" name="Text 23">
            <a:extLst xmlns:a="http://schemas.openxmlformats.org/drawingml/2006/main">
              <a:ext uri="{FF2B5EF4-FFF2-40B4-BE49-F238E27FC236}">
                <a16:creationId xmlns:a16="http://schemas.microsoft.com/office/drawing/2014/main" id="{B615BCBD-A480-40F6-83E3-D6E59F7CE061}"/>
              </a:ext>
            </a:extLst>
          </p:cNvPr>
          <p:cNvSpPr>
            <a:spLocks xmlns:a="http://schemas.openxmlformats.org/drawingml/2006/main" noGrp="1"/>
          </p:cNvSpPr>
          <p:nvPr/>
        </p:nvSpPr>
        <p:spPr>
          <a:xfrm xmlns:a="http://schemas.openxmlformats.org/drawingml/2006/main">
            <a:off x="7433889" y="2084832"/>
            <a:ext cx="1853123"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1B2A30"/>
                </a:solidFill>
                <a:latin typeface="Arial"/>
                <a:ea typeface="Arial"/>
                <a:cs typeface="Arial"/>
              </a:rPr>
              <a:t>UMAP</a:t>
            </a:r>
            <a:endParaRPr sz="1600"/>
          </a:p>
        </p:txBody>
      </p:sp>
      <p:sp>
        <p:nvSpPr>
          <p:cNvPr id="26" name="Text 24">
            <a:extLst xmlns:a="http://schemas.openxmlformats.org/drawingml/2006/main">
              <a:ext uri="{FF2B5EF4-FFF2-40B4-BE49-F238E27FC236}">
                <a16:creationId xmlns:a16="http://schemas.microsoft.com/office/drawing/2014/main" id="{4F844A79-210B-4AED-9981-D05A558FF1A2}"/>
              </a:ext>
            </a:extLst>
          </p:cNvPr>
          <p:cNvSpPr>
            <a:spLocks xmlns:a="http://schemas.openxmlformats.org/drawingml/2006/main" noGrp="1"/>
          </p:cNvSpPr>
          <p:nvPr/>
        </p:nvSpPr>
        <p:spPr>
          <a:xfrm xmlns:a="http://schemas.openxmlformats.org/drawingml/2006/main">
            <a:off x="7507041" y="2542032"/>
            <a:ext cx="1706819"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10000"/>
              </a:lnSpc>
              <a:buNone/>
            </a:pPr>
            <a:r>
              <a:rPr sz="1100">
                <a:solidFill>
                  <a:srgbClr val="3C4A52"/>
                </a:solidFill>
                <a:latin typeface="Arial"/>
                <a:ea typeface="Arial"/>
                <a:cs typeface="Arial"/>
              </a:rPr>
              <a:t>manifold</a:t>
            </a:r>
            <a:endParaRPr sz="1100"/>
          </a:p>
          <a:p xmlns:a="http://schemas.openxmlformats.org/drawingml/2006/main">
            <a:pPr marL="0" indent="0" algn="ctr">
              <a:lnSpc>
                <a:spcPct val="110000"/>
              </a:lnSpc>
              <a:buNone/>
            </a:pPr>
            <a:r>
              <a:rPr sz="1100">
                <a:solidFill>
                  <a:srgbClr val="3C4A52"/>
                </a:solidFill>
                <a:latin typeface="Arial"/>
                <a:ea typeface="Arial"/>
                <a:cs typeface="Arial"/>
              </a:rPr>
              <a:t>embedding</a:t>
            </a:r>
            <a:endParaRPr sz="1100"/>
          </a:p>
        </p:txBody>
      </p:sp>
      <p:sp>
        <p:nvSpPr>
          <p:cNvPr id="27" name="Text 25">
            <a:extLst xmlns:a="http://schemas.openxmlformats.org/drawingml/2006/main">
              <a:ext uri="{FF2B5EF4-FFF2-40B4-BE49-F238E27FC236}">
                <a16:creationId xmlns:a16="http://schemas.microsoft.com/office/drawing/2014/main" id="{43EE3FDB-DED4-44DD-890C-C58D5338E870}"/>
              </a:ext>
            </a:extLst>
          </p:cNvPr>
          <p:cNvSpPr>
            <a:spLocks xmlns:a="http://schemas.openxmlformats.org/drawingml/2006/main" noGrp="1"/>
          </p:cNvSpPr>
          <p:nvPr/>
        </p:nvSpPr>
        <p:spPr>
          <a:xfrm xmlns:a="http://schemas.openxmlformats.org/drawingml/2006/main">
            <a:off x="9287012" y="1828800"/>
            <a:ext cx="41148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200" b="1">
                <a:solidFill>
                  <a:srgbClr val="11707A"/>
                </a:solidFill>
                <a:latin typeface="Arial"/>
                <a:ea typeface="Arial"/>
                <a:cs typeface="Arial"/>
              </a:rPr>
              <a:t>→</a:t>
            </a:r>
            <a:endParaRPr sz="2200"/>
          </a:p>
        </p:txBody>
      </p:sp>
      <p:sp>
        <p:nvSpPr>
          <p:cNvPr id="28" name="Shape 26">
            <a:extLst xmlns:a="http://schemas.openxmlformats.org/drawingml/2006/main">
              <a:ext uri="{FF2B5EF4-FFF2-40B4-BE49-F238E27FC236}">
                <a16:creationId xmlns:a16="http://schemas.microsoft.com/office/drawing/2014/main" id="{8D0F60BF-A1E4-43F5-8459-F487750DC217}"/>
              </a:ext>
            </a:extLst>
          </p:cNvPr>
          <p:cNvSpPr>
            <a:spLocks xmlns:a="http://schemas.openxmlformats.org/drawingml/2006/main" noGrp="1"/>
          </p:cNvSpPr>
          <p:nvPr/>
        </p:nvSpPr>
        <p:spPr>
          <a:xfrm xmlns:a="http://schemas.openxmlformats.org/drawingml/2006/main">
            <a:off x="9698492" y="1828800"/>
            <a:ext cx="1853123" cy="13716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2700">
            <a:solidFill>
              <a:srgbClr val="E3E9EC"/>
            </a:solidFill>
            <a:prstDash val="solid"/>
          </a:ln>
        </p:spPr>
      </p:sp>
      <p:sp>
        <p:nvSpPr>
          <p:cNvPr id="29" name="Shape 27">
            <a:extLst xmlns:a="http://schemas.openxmlformats.org/drawingml/2006/main">
              <a:ext uri="{FF2B5EF4-FFF2-40B4-BE49-F238E27FC236}">
                <a16:creationId xmlns:a16="http://schemas.microsoft.com/office/drawing/2014/main" id="{3814B834-8B1E-4528-8E8C-C5F0D902AD89}"/>
              </a:ext>
            </a:extLst>
          </p:cNvPr>
          <p:cNvSpPr>
            <a:spLocks xmlns:a="http://schemas.openxmlformats.org/drawingml/2006/main" noGrp="1"/>
          </p:cNvSpPr>
          <p:nvPr/>
        </p:nvSpPr>
        <p:spPr>
          <a:xfrm xmlns:a="http://schemas.openxmlformats.org/drawingml/2006/main">
            <a:off x="9698492" y="1828800"/>
            <a:ext cx="1853123" cy="109728"/>
          </a:xfrm>
          <a:prstGeom xmlns:a="http://schemas.openxmlformats.org/drawingml/2006/main" prst="rect">
            <a:avLst/>
          </a:prstGeom>
          <a:solidFill xmlns:a="http://schemas.openxmlformats.org/drawingml/2006/main">
            <a:srgbClr val="11707A"/>
          </a:solidFill>
        </p:spPr>
      </p:sp>
      <p:sp>
        <p:nvSpPr>
          <p:cNvPr id="30" name="Text 28">
            <a:extLst xmlns:a="http://schemas.openxmlformats.org/drawingml/2006/main">
              <a:ext uri="{FF2B5EF4-FFF2-40B4-BE49-F238E27FC236}">
                <a16:creationId xmlns:a16="http://schemas.microsoft.com/office/drawing/2014/main" id="{5536A7F8-33FB-41A1-B5BA-01D676DFA6DC}"/>
              </a:ext>
            </a:extLst>
          </p:cNvPr>
          <p:cNvSpPr>
            <a:spLocks xmlns:a="http://schemas.openxmlformats.org/drawingml/2006/main" noGrp="1"/>
          </p:cNvSpPr>
          <p:nvPr/>
        </p:nvSpPr>
        <p:spPr>
          <a:xfrm xmlns:a="http://schemas.openxmlformats.org/drawingml/2006/main">
            <a:off x="9698492" y="2084832"/>
            <a:ext cx="1853123"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1B2A30"/>
                </a:solidFill>
                <a:latin typeface="Arial"/>
                <a:ea typeface="Arial"/>
                <a:cs typeface="Arial"/>
              </a:rPr>
              <a:t>HDBSCAN</a:t>
            </a:r>
            <a:endParaRPr sz="1600"/>
          </a:p>
        </p:txBody>
      </p:sp>
      <p:sp>
        <p:nvSpPr>
          <p:cNvPr id="31" name="Text 29">
            <a:extLst xmlns:a="http://schemas.openxmlformats.org/drawingml/2006/main">
              <a:ext uri="{FF2B5EF4-FFF2-40B4-BE49-F238E27FC236}">
                <a16:creationId xmlns:a16="http://schemas.microsoft.com/office/drawing/2014/main" id="{2DC95ACA-78F9-40F0-BFA6-C4A01ED3EFFA}"/>
              </a:ext>
            </a:extLst>
          </p:cNvPr>
          <p:cNvSpPr>
            <a:spLocks xmlns:a="http://schemas.openxmlformats.org/drawingml/2006/main" noGrp="1"/>
          </p:cNvSpPr>
          <p:nvPr/>
        </p:nvSpPr>
        <p:spPr>
          <a:xfrm xmlns:a="http://schemas.openxmlformats.org/drawingml/2006/main">
            <a:off x="9771644" y="2542032"/>
            <a:ext cx="1706819"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10000"/>
              </a:lnSpc>
              <a:buNone/>
            </a:pPr>
            <a:r>
              <a:rPr sz="1100">
                <a:solidFill>
                  <a:srgbClr val="3C4A52"/>
                </a:solidFill>
                <a:latin typeface="Arial"/>
                <a:ea typeface="Arial"/>
                <a:cs typeface="Arial"/>
              </a:rPr>
              <a:t>density clustering</a:t>
            </a:r>
            <a:endParaRPr sz="1100"/>
          </a:p>
          <a:p xmlns:a="http://schemas.openxmlformats.org/drawingml/2006/main">
            <a:pPr marL="0" indent="0" algn="ctr">
              <a:lnSpc>
                <a:spcPct val="110000"/>
              </a:lnSpc>
              <a:buNone/>
            </a:pPr>
            <a:r>
              <a:rPr sz="1100">
                <a:solidFill>
                  <a:srgbClr val="3C4A52"/>
                </a:solidFill>
                <a:latin typeface="Arial"/>
                <a:ea typeface="Arial"/>
                <a:cs typeface="Arial"/>
              </a:rPr>
              <a:t>+ sensitivity</a:t>
            </a:r>
            <a:endParaRPr sz="1100"/>
          </a:p>
        </p:txBody>
      </p:sp>
      <p:sp>
        <p:nvSpPr>
          <p:cNvPr id="32" name="Shape 30">
            <a:extLst xmlns:a="http://schemas.openxmlformats.org/drawingml/2006/main">
              <a:ext uri="{FF2B5EF4-FFF2-40B4-BE49-F238E27FC236}">
                <a16:creationId xmlns:a16="http://schemas.microsoft.com/office/drawing/2014/main" id="{AC25E89E-AC8D-4248-AC1B-49BA8CC843C8}"/>
              </a:ext>
            </a:extLst>
          </p:cNvPr>
          <p:cNvSpPr>
            <a:spLocks xmlns:a="http://schemas.openxmlformats.org/drawingml/2006/main" noGrp="1"/>
          </p:cNvSpPr>
          <p:nvPr/>
        </p:nvSpPr>
        <p:spPr>
          <a:xfrm xmlns:a="http://schemas.openxmlformats.org/drawingml/2006/main">
            <a:off x="640080" y="3456432"/>
            <a:ext cx="10911535" cy="2743200"/>
          </a:xfrm>
          <a:prstGeom xmlns:a="http://schemas.openxmlformats.org/drawingml/2006/main" prst="roundRect">
            <a:avLst>
              <a:gd name="adj" fmla="val 2667"/>
            </a:avLst>
          </a:prstGeom>
          <a:solidFill xmlns:a="http://schemas.openxmlformats.org/drawingml/2006/main">
            <a:srgbClr val="F5F8F9"/>
          </a:solidFill>
          <a:ln xmlns:a="http://schemas.openxmlformats.org/drawingml/2006/main" w="12700">
            <a:solidFill>
              <a:srgbClr val="E3E9EC"/>
            </a:solidFill>
            <a:prstDash val="solid"/>
          </a:ln>
        </p:spPr>
      </p:sp>
      <p:sp>
        <p:nvSpPr>
          <p:cNvPr id="33" name="Text 31">
            <a:extLst xmlns:a="http://schemas.openxmlformats.org/drawingml/2006/main">
              <a:ext uri="{FF2B5EF4-FFF2-40B4-BE49-F238E27FC236}">
                <a16:creationId xmlns:a16="http://schemas.microsoft.com/office/drawing/2014/main" id="{AF5599D9-EA7E-4F1F-9D55-753ACE6D0668}"/>
              </a:ext>
            </a:extLst>
          </p:cNvPr>
          <p:cNvSpPr>
            <a:spLocks xmlns:a="http://schemas.openxmlformats.org/drawingml/2006/main" noGrp="1"/>
          </p:cNvSpPr>
          <p:nvPr/>
        </p:nvSpPr>
        <p:spPr>
          <a:xfrm xmlns:a="http://schemas.openxmlformats.org/drawingml/2006/main">
            <a:off x="960120" y="3602736"/>
            <a:ext cx="6400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1707A"/>
                </a:solidFill>
                <a:latin typeface="Arial"/>
                <a:ea typeface="Arial"/>
                <a:cs typeface="Arial"/>
              </a:rPr>
              <a:t>Fixed-reference design (H2)</a:t>
            </a:r>
            <a:endParaRPr sz="1500"/>
          </a:p>
        </p:txBody>
      </p:sp>
      <p:sp>
        <p:nvSpPr>
          <p:cNvPr id="34" name="Text 32">
            <a:extLst xmlns:a="http://schemas.openxmlformats.org/drawingml/2006/main">
              <a:ext uri="{FF2B5EF4-FFF2-40B4-BE49-F238E27FC236}">
                <a16:creationId xmlns:a16="http://schemas.microsoft.com/office/drawing/2014/main" id="{D3A39805-2C3B-41F9-87DF-A0880B568987}"/>
              </a:ext>
            </a:extLst>
          </p:cNvPr>
          <p:cNvSpPr>
            <a:spLocks xmlns:a="http://schemas.openxmlformats.org/drawingml/2006/main" noGrp="1"/>
          </p:cNvSpPr>
          <p:nvPr/>
        </p:nvSpPr>
        <p:spPr>
          <a:xfrm xmlns:a="http://schemas.openxmlformats.org/drawingml/2006/main">
            <a:off x="960120" y="3986784"/>
            <a:ext cx="1027145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300">
                <a:solidFill>
                  <a:srgbClr val="3C4A52"/>
                </a:solidFill>
                <a:latin typeface="Arial"/>
                <a:ea typeface="Arial"/>
                <a:cs typeface="Arial"/>
              </a:rPr>
              <a:t>A scaler, UMAP embedding and three-group k-means rule are fitted once on MICE domain scores. Other imputations use those same transformations and assignment rule.</a:t>
            </a:r>
            <a:endParaRPr sz="1300"/>
          </a:p>
        </p:txBody>
      </p:sp>
      <p:sp>
        <p:nvSpPr>
          <p:cNvPr id="35" name="Shape 33">
            <a:extLst xmlns:a="http://schemas.openxmlformats.org/drawingml/2006/main">
              <a:ext uri="{FF2B5EF4-FFF2-40B4-BE49-F238E27FC236}">
                <a16:creationId xmlns:a16="http://schemas.microsoft.com/office/drawing/2014/main" id="{EDD80018-EAED-4BD7-9863-A4A7F61D4304}"/>
              </a:ext>
            </a:extLst>
          </p:cNvPr>
          <p:cNvSpPr>
            <a:spLocks xmlns:a="http://schemas.openxmlformats.org/drawingml/2006/main" noGrp="1"/>
          </p:cNvSpPr>
          <p:nvPr/>
        </p:nvSpPr>
        <p:spPr>
          <a:xfrm xmlns:a="http://schemas.openxmlformats.org/drawingml/2006/main">
            <a:off x="960120" y="4663440"/>
            <a:ext cx="1027145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36" name="Text 34">
            <a:extLst xmlns:a="http://schemas.openxmlformats.org/drawingml/2006/main">
              <a:ext uri="{FF2B5EF4-FFF2-40B4-BE49-F238E27FC236}">
                <a16:creationId xmlns:a16="http://schemas.microsoft.com/office/drawing/2014/main" id="{3ABEF366-F9A3-417A-B779-1A6C078AA026}"/>
              </a:ext>
            </a:extLst>
          </p:cNvPr>
          <p:cNvSpPr>
            <a:spLocks xmlns:a="http://schemas.openxmlformats.org/drawingml/2006/main" noGrp="1"/>
          </p:cNvSpPr>
          <p:nvPr/>
        </p:nvSpPr>
        <p:spPr>
          <a:xfrm xmlns:a="http://schemas.openxmlformats.org/drawingml/2006/main">
            <a:off x="960120" y="4782312"/>
            <a:ext cx="4952848"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200" b="1">
                <a:solidFill>
                  <a:srgbClr val="2E8B7F"/>
                </a:solidFill>
                <a:latin typeface="Arial"/>
                <a:ea typeface="Arial"/>
                <a:cs typeface="Arial"/>
              </a:rPr>
              <a:t>✓  Tests assignment agreement across imputations while the reference geometry is fixed.</a:t>
            </a:r>
            <a:endParaRPr sz="1200"/>
          </a:p>
        </p:txBody>
      </p:sp>
      <p:sp>
        <p:nvSpPr>
          <p:cNvPr id="37" name="Text 35">
            <a:extLst xmlns:a="http://schemas.openxmlformats.org/drawingml/2006/main">
              <a:ext uri="{FF2B5EF4-FFF2-40B4-BE49-F238E27FC236}">
                <a16:creationId xmlns:a16="http://schemas.microsoft.com/office/drawing/2014/main" id="{10F943FB-B969-47D0-B2E3-E197614A808C}"/>
              </a:ext>
            </a:extLst>
          </p:cNvPr>
          <p:cNvSpPr>
            <a:spLocks xmlns:a="http://schemas.openxmlformats.org/drawingml/2006/main" noGrp="1"/>
          </p:cNvSpPr>
          <p:nvPr/>
        </p:nvSpPr>
        <p:spPr>
          <a:xfrm xmlns:a="http://schemas.openxmlformats.org/drawingml/2006/main">
            <a:off x="6278728" y="4782312"/>
            <a:ext cx="4952848"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200" b="1">
                <a:solidFill>
                  <a:srgbClr val="C25B57"/>
                </a:solidFill>
                <a:latin typeface="Arial"/>
                <a:ea typeface="Arial"/>
                <a:cs typeface="Arial"/>
              </a:rPr>
              <a:t>✗  Not tested   </a:t>
            </a:r>
            <a:r>
              <a:rPr sz="1200">
                <a:solidFill>
                  <a:srgbClr val="3C4A52"/>
                </a:solidFill>
                <a:latin typeface="Arial"/>
                <a:ea typeface="Arial"/>
                <a:cs typeface="Arial"/>
              </a:rPr>
              <a:t>that re-fitting the whole pipeline per dataset would rediscover the same cluster hierarchy.</a:t>
            </a:r>
            <a:endParaRPr sz="1200"/>
          </a:p>
        </p:txBody>
      </p:sp>
      <p:sp>
        <p:nvSpPr>
          <p:cNvPr id="38" name="Text 36">
            <a:extLst xmlns:a="http://schemas.openxmlformats.org/drawingml/2006/main">
              <a:ext uri="{FF2B5EF4-FFF2-40B4-BE49-F238E27FC236}">
                <a16:creationId xmlns:a16="http://schemas.microsoft.com/office/drawing/2014/main" id="{DEC87696-1F08-4A0E-B69F-BDB5ECF16E9A}"/>
              </a:ext>
            </a:extLst>
          </p:cNvPr>
          <p:cNvSpPr>
            <a:spLocks xmlns:a="http://schemas.openxmlformats.org/drawingml/2006/main" noGrp="1"/>
          </p:cNvSpPr>
          <p:nvPr/>
        </p:nvSpPr>
        <p:spPr>
          <a:xfrm xmlns:a="http://schemas.openxmlformats.org/drawingml/2006/main">
            <a:off x="960120" y="5742432"/>
            <a:ext cx="10271455"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endParaRPr sz="1150"/>
          </a:p>
        </p:txBody>
      </p:sp>
    </p:spTree>
    <p:extLst>
      <p:ext uri="{BB962C8B-B14F-4D97-AF65-F5344CB8AC3E}">
        <p14:creationId xmlns:p14="http://schemas.microsoft.com/office/powerpoint/2010/main" val="10378250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FDC9CD4-79E5-4B9F-9B2A-0E8A31B60D3A}"/>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METHODS · DIMENSIONALITY REDUCTION</a:t>
            </a:r>
            <a:endParaRPr sz="1150"/>
          </a:p>
        </p:txBody>
      </p:sp>
      <p:sp>
        <p:nvSpPr>
          <p:cNvPr id="3" name="Text 1">
            <a:extLst xmlns:a="http://schemas.openxmlformats.org/drawingml/2006/main">
              <a:ext uri="{FF2B5EF4-FFF2-40B4-BE49-F238E27FC236}">
                <a16:creationId xmlns:a16="http://schemas.microsoft.com/office/drawing/2014/main" id="{E86CEF27-9099-415C-9609-CD80E4AA4613}"/>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UMAP</a:t>
            </a:r>
            <a:endParaRPr sz="2600"/>
          </a:p>
        </p:txBody>
      </p:sp>
      <p:sp>
        <p:nvSpPr>
          <p:cNvPr id="4" name="Shape 2">
            <a:extLst xmlns:a="http://schemas.openxmlformats.org/drawingml/2006/main">
              <a:ext uri="{FF2B5EF4-FFF2-40B4-BE49-F238E27FC236}">
                <a16:creationId xmlns:a16="http://schemas.microsoft.com/office/drawing/2014/main" id="{8BF7E9BD-4EFB-4ABC-8BEE-B2C99F28A47A}"/>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E21AD6D2-9A74-4FDE-BD5D-11133B134FD0}"/>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0F115566-D7C7-43D6-942B-F7661CBFD907}"/>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12015C64-EBC3-4734-89B8-5A29135908C4}"/>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8</a:t>
            </a:r>
            <a:endParaRPr sz="900"/>
          </a:p>
        </p:txBody>
      </p:sp>
      <p:sp>
        <p:nvSpPr>
          <p:cNvPr id="8" name="Text 6">
            <a:extLst xmlns:a="http://schemas.openxmlformats.org/drawingml/2006/main">
              <a:ext uri="{FF2B5EF4-FFF2-40B4-BE49-F238E27FC236}">
                <a16:creationId xmlns:a16="http://schemas.microsoft.com/office/drawing/2014/main" id="{6ED7F381-AF39-40DE-8F7E-434AD144E3F6}"/>
              </a:ext>
            </a:extLst>
          </p:cNvPr>
          <p:cNvSpPr>
            <a:spLocks xmlns:a="http://schemas.openxmlformats.org/drawingml/2006/main" noGrp="1"/>
          </p:cNvSpPr>
          <p:nvPr/>
        </p:nvSpPr>
        <p:spPr>
          <a:xfrm xmlns:a="http://schemas.openxmlformats.org/drawingml/2006/main">
            <a:off x="640080" y="1417320"/>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i="1">
                <a:solidFill>
                  <a:srgbClr val="7C8A94"/>
                </a:solidFill>
                <a:latin typeface="Arial"/>
                <a:ea typeface="Arial"/>
                <a:cs typeface="Arial"/>
              </a:rPr>
              <a:t>Uniform Manifold Approximation &amp; Projection · McInnes, Healy &amp; Melville, 2018</a:t>
            </a:r>
            <a:endParaRPr sz="1250"/>
          </a:p>
        </p:txBody>
      </p:sp>
      <p:sp>
        <p:nvSpPr>
          <p:cNvPr id="9" name="Text 7">
            <a:extLst xmlns:a="http://schemas.openxmlformats.org/drawingml/2006/main">
              <a:ext uri="{FF2B5EF4-FFF2-40B4-BE49-F238E27FC236}">
                <a16:creationId xmlns:a16="http://schemas.microsoft.com/office/drawing/2014/main" id="{F9AE2C3B-AF12-40EF-9C0C-7C375066DAFC}"/>
              </a:ext>
            </a:extLst>
          </p:cNvPr>
          <p:cNvSpPr>
            <a:spLocks xmlns:a="http://schemas.openxmlformats.org/drawingml/2006/main" noGrp="1"/>
          </p:cNvSpPr>
          <p:nvPr/>
        </p:nvSpPr>
        <p:spPr>
          <a:xfrm xmlns:a="http://schemas.openxmlformats.org/drawingml/2006/main">
            <a:off x="640080" y="1920240"/>
            <a:ext cx="3840480"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400"/>
              </a:spcAft>
              <a:buSzPct val="100000"/>
              <a:buChar char="•"/>
            </a:pPr>
            <a:r>
              <a:rPr sz="1400">
                <a:solidFill>
                  <a:srgbClr val="3C4A52"/>
                </a:solidFill>
                <a:latin typeface="Arial"/>
                <a:ea typeface="Arial"/>
                <a:cs typeface="Arial"/>
              </a:rPr>
              <a:t>Builds a fuzzy k-NN graph of neighbourhood structure.</a:t>
            </a:r>
            <a:endParaRPr sz="1400"/>
          </a:p>
          <a:p xmlns:a="http://schemas.openxmlformats.org/drawingml/2006/main">
            <a:pPr marL="203200" indent="-203200">
              <a:lnSpc>
                <a:spcPct val="122000"/>
              </a:lnSpc>
              <a:spcAft>
                <a:spcPts val="1400"/>
              </a:spcAft>
              <a:buSzPct val="100000"/>
              <a:buChar char="•"/>
            </a:pPr>
            <a:r>
              <a:rPr sz="1400">
                <a:solidFill>
                  <a:srgbClr val="3C4A52"/>
                </a:solidFill>
                <a:latin typeface="Arial"/>
                <a:ea typeface="Arial"/>
                <a:cs typeface="Arial"/>
              </a:rPr>
              <a:t>Balances local and global geometry.</a:t>
            </a:r>
            <a:endParaRPr sz="1400"/>
          </a:p>
          <a:p xmlns:a="http://schemas.openxmlformats.org/drawingml/2006/main">
            <a:pPr marL="203200" indent="-203200">
              <a:lnSpc>
                <a:spcPct val="122000"/>
              </a:lnSpc>
              <a:spcAft>
                <a:spcPts val="1400"/>
              </a:spcAft>
              <a:buSzPct val="100000"/>
              <a:buChar char="•"/>
            </a:pPr>
            <a:r>
              <a:rPr sz="1400">
                <a:solidFill>
                  <a:srgbClr val="3C4A52"/>
                </a:solidFill>
                <a:latin typeface="Arial"/>
                <a:ea typeface="Arial"/>
                <a:cs typeface="Arial"/>
              </a:rPr>
              <a:t>Reduces dimensionality before density clustering.</a:t>
            </a:r>
            <a:endParaRPr sz="1400"/>
          </a:p>
        </p:txBody>
      </p:sp>
      <p:sp>
        <p:nvSpPr>
          <p:cNvPr id="10" name="Shape 8">
            <a:extLst xmlns:a="http://schemas.openxmlformats.org/drawingml/2006/main">
              <a:ext uri="{FF2B5EF4-FFF2-40B4-BE49-F238E27FC236}">
                <a16:creationId xmlns:a16="http://schemas.microsoft.com/office/drawing/2014/main" id="{FBABEBC5-8839-437B-AEC7-57BF337D4101}"/>
              </a:ext>
            </a:extLst>
          </p:cNvPr>
          <p:cNvSpPr>
            <a:spLocks xmlns:a="http://schemas.openxmlformats.org/drawingml/2006/main" noGrp="1"/>
          </p:cNvSpPr>
          <p:nvPr/>
        </p:nvSpPr>
        <p:spPr>
          <a:xfrm xmlns:a="http://schemas.openxmlformats.org/drawingml/2006/main">
            <a:off x="640080" y="4251960"/>
            <a:ext cx="3840480" cy="1691640"/>
          </a:xfrm>
          <a:prstGeom xmlns:a="http://schemas.openxmlformats.org/drawingml/2006/main" prst="roundRect">
            <a:avLst>
              <a:gd name="adj" fmla="val 4324"/>
            </a:avLst>
          </a:prstGeom>
          <a:solidFill xmlns:a="http://schemas.openxmlformats.org/drawingml/2006/main">
            <a:srgbClr val="FDF6EC"/>
          </a:solidFill>
          <a:ln xmlns:a="http://schemas.openxmlformats.org/drawingml/2006/main" w="12700">
            <a:solidFill>
              <a:srgbClr val="E3E9EC"/>
            </a:solidFill>
            <a:prstDash val="solid"/>
          </a:ln>
        </p:spPr>
      </p:sp>
      <p:sp>
        <p:nvSpPr>
          <p:cNvPr id="11" name="Text 9">
            <a:extLst xmlns:a="http://schemas.openxmlformats.org/drawingml/2006/main">
              <a:ext uri="{FF2B5EF4-FFF2-40B4-BE49-F238E27FC236}">
                <a16:creationId xmlns:a16="http://schemas.microsoft.com/office/drawing/2014/main" id="{2D021333-CC17-4464-A752-E2C566387873}"/>
              </a:ext>
            </a:extLst>
          </p:cNvPr>
          <p:cNvSpPr>
            <a:spLocks xmlns:a="http://schemas.openxmlformats.org/drawingml/2006/main" noGrp="1"/>
          </p:cNvSpPr>
          <p:nvPr/>
        </p:nvSpPr>
        <p:spPr>
          <a:xfrm xmlns:a="http://schemas.openxmlformats.org/drawingml/2006/main">
            <a:off x="914400" y="4251960"/>
            <a:ext cx="3383280" cy="1691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250" i="1">
                <a:solidFill>
                  <a:srgbClr val="8A6D2B"/>
                </a:solidFill>
                <a:latin typeface="Arial"/>
                <a:ea typeface="Arial"/>
                <a:cs typeface="Arial"/>
              </a:rPr>
              <a:t>Caveat: separation in UMAP space can be optimistic — it must be backed by sensitivity analyses.</a:t>
            </a:r>
            <a:endParaRPr sz="1250"/>
          </a:p>
        </p:txBody>
      </p:sp>
      <p:sp>
        <p:nvSpPr>
          <p:cNvPr id="12" name="Text 10">
            <a:extLst xmlns:a="http://schemas.openxmlformats.org/drawingml/2006/main">
              <a:ext uri="{FF2B5EF4-FFF2-40B4-BE49-F238E27FC236}">
                <a16:creationId xmlns:a16="http://schemas.microsoft.com/office/drawing/2014/main" id="{04712BD1-8879-4940-879E-E6C9819D8409}"/>
              </a:ext>
            </a:extLst>
          </p:cNvPr>
          <p:cNvSpPr>
            <a:spLocks xmlns:a="http://schemas.openxmlformats.org/drawingml/2006/main" noGrp="1"/>
          </p:cNvSpPr>
          <p:nvPr/>
        </p:nvSpPr>
        <p:spPr>
          <a:xfrm xmlns:a="http://schemas.openxmlformats.org/drawingml/2006/main">
            <a:off x="4846320" y="1783080"/>
            <a:ext cx="6675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200">
                <a:solidFill>
                  <a:srgbClr val="11707A"/>
                </a:solidFill>
                <a:latin typeface="Arial"/>
                <a:ea typeface="Arial"/>
                <a:cs typeface="Arial"/>
              </a:rPr>
              <a:t>FORMAL DEFINITION</a:t>
            </a:r>
            <a:endParaRPr sz="1050"/>
          </a:p>
        </p:txBody>
      </p:sp>
      <p:pic>
        <p:nvPicPr>
          <p:cNvPr id="13" name="Image 0">
            <a:extLst xmlns:a="http://schemas.openxmlformats.org/drawingml/2006/main">
              <a:ext uri="{FF2B5EF4-FFF2-40B4-BE49-F238E27FC236}">
                <a16:creationId xmlns:a16="http://schemas.microsoft.com/office/drawing/2014/main" id="{110C9485-13F7-44A4-8B81-92910BD24FD1}"/>
              </a:ext>
            </a:extLst>
          </p:cNvPr>
          <p:cNvPicPr>
            <a:picLocks xmlns:a="http://schemas.openxmlformats.org/drawingml/2006/main" noChangeAspect="1"/>
          </p:cNvPicPr>
          <p:nvPr/>
        </p:nvPicPr>
        <p:blipFill>
          <a:blip xmlns:r="http://schemas.openxmlformats.org/officeDocument/2006/relationships" xmlns:a="http://schemas.openxmlformats.org/drawingml/2006/main" r:embed="Rb063441503634eee"/>
          <a:stretch xmlns:a="http://schemas.openxmlformats.org/drawingml/2006/main">
            <a:fillRect l="0" t="0" r="0" b="0"/>
          </a:stretch>
        </p:blipFill>
        <p:spPr>
          <a:xfrm xmlns:a="http://schemas.openxmlformats.org/drawingml/2006/main">
            <a:off x="4846320" y="2181984"/>
            <a:ext cx="6705295" cy="3728472"/>
          </a:xfrm>
          <a:prstGeom xmlns:a="http://schemas.openxmlformats.org/drawingml/2006/main" prst="rect">
            <a:avLst/>
          </a:prstGeom>
        </p:spPr>
      </p:pic>
    </p:spTree>
    <p:extLst>
      <p:ext uri="{BB962C8B-B14F-4D97-AF65-F5344CB8AC3E}">
        <p14:creationId xmlns:p14="http://schemas.microsoft.com/office/powerpoint/2010/main" val="10710979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378309C-B247-424B-8167-90DC7056958B}"/>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METHODS · DENSITY CLUSTERING</a:t>
            </a:r>
            <a:endParaRPr sz="1150"/>
          </a:p>
        </p:txBody>
      </p:sp>
      <p:sp>
        <p:nvSpPr>
          <p:cNvPr id="3" name="Text 1">
            <a:extLst xmlns:a="http://schemas.openxmlformats.org/drawingml/2006/main">
              <a:ext uri="{FF2B5EF4-FFF2-40B4-BE49-F238E27FC236}">
                <a16:creationId xmlns:a16="http://schemas.microsoft.com/office/drawing/2014/main" id="{0815E06A-36CF-4785-95D3-8A456C8CF1D8}"/>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HDBSCAN</a:t>
            </a:r>
            <a:endParaRPr sz="2600"/>
          </a:p>
        </p:txBody>
      </p:sp>
      <p:sp>
        <p:nvSpPr>
          <p:cNvPr id="4" name="Shape 2">
            <a:extLst xmlns:a="http://schemas.openxmlformats.org/drawingml/2006/main">
              <a:ext uri="{FF2B5EF4-FFF2-40B4-BE49-F238E27FC236}">
                <a16:creationId xmlns:a16="http://schemas.microsoft.com/office/drawing/2014/main" id="{205183F8-6F30-4FC6-ABC3-3EDB1B45CFFA}"/>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892CDF54-270E-4220-BAF9-323BE7282B62}"/>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ED2B515C-6F06-4BD1-B832-6A415788EFC8}"/>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CD2B7463-4F8F-49C7-A4B5-E22FCB7C1901}"/>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9</a:t>
            </a:r>
            <a:endParaRPr sz="900"/>
          </a:p>
        </p:txBody>
      </p:sp>
      <p:sp>
        <p:nvSpPr>
          <p:cNvPr id="8" name="Text 6">
            <a:extLst xmlns:a="http://schemas.openxmlformats.org/drawingml/2006/main">
              <a:ext uri="{FF2B5EF4-FFF2-40B4-BE49-F238E27FC236}">
                <a16:creationId xmlns:a16="http://schemas.microsoft.com/office/drawing/2014/main" id="{39083225-7884-46BE-8354-F50C8DA84932}"/>
              </a:ext>
            </a:extLst>
          </p:cNvPr>
          <p:cNvSpPr>
            <a:spLocks xmlns:a="http://schemas.openxmlformats.org/drawingml/2006/main" noGrp="1"/>
          </p:cNvSpPr>
          <p:nvPr/>
        </p:nvSpPr>
        <p:spPr>
          <a:xfrm xmlns:a="http://schemas.openxmlformats.org/drawingml/2006/main">
            <a:off x="640080" y="1417320"/>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i="1">
                <a:solidFill>
                  <a:srgbClr val="7C8A94"/>
                </a:solidFill>
                <a:latin typeface="Arial"/>
                <a:ea typeface="Arial"/>
                <a:cs typeface="Arial"/>
              </a:rPr>
              <a:t>Hierarchical Density-Based Spatial Clustering of Applications with Noise · Campello, Moulavi &amp; Sander, 2013</a:t>
            </a:r>
            <a:endParaRPr sz="1250"/>
          </a:p>
        </p:txBody>
      </p:sp>
      <p:sp>
        <p:nvSpPr>
          <p:cNvPr id="9" name="Text 7">
            <a:extLst xmlns:a="http://schemas.openxmlformats.org/drawingml/2006/main">
              <a:ext uri="{FF2B5EF4-FFF2-40B4-BE49-F238E27FC236}">
                <a16:creationId xmlns:a16="http://schemas.microsoft.com/office/drawing/2014/main" id="{39891E7D-4C43-4487-BF25-A4D7F3AB30C0}"/>
              </a:ext>
            </a:extLst>
          </p:cNvPr>
          <p:cNvSpPr>
            <a:spLocks xmlns:a="http://schemas.openxmlformats.org/drawingml/2006/main" noGrp="1"/>
          </p:cNvSpPr>
          <p:nvPr/>
        </p:nvSpPr>
        <p:spPr>
          <a:xfrm xmlns:a="http://schemas.openxmlformats.org/drawingml/2006/main">
            <a:off x="640080" y="1920240"/>
            <a:ext cx="3840480"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400"/>
              </a:spcAft>
              <a:buSzPct val="100000"/>
              <a:buChar char="•"/>
            </a:pPr>
            <a:r>
              <a:rPr sz="1400">
                <a:solidFill>
                  <a:srgbClr val="3C4A52"/>
                </a:solidFill>
                <a:latin typeface="Arial"/>
                <a:ea typeface="Arial"/>
                <a:cs typeface="Arial"/>
              </a:rPr>
              <a:t>Needs no predefined number of clusters.</a:t>
            </a:r>
            <a:endParaRPr sz="1400"/>
          </a:p>
          <a:p xmlns:a="http://schemas.openxmlformats.org/drawingml/2006/main">
            <a:pPr marL="203200" indent="-203200">
              <a:lnSpc>
                <a:spcPct val="122000"/>
              </a:lnSpc>
              <a:spcAft>
                <a:spcPts val="1400"/>
              </a:spcAft>
              <a:buSzPct val="100000"/>
              <a:buChar char="•"/>
            </a:pPr>
            <a:r>
              <a:rPr sz="1400">
                <a:solidFill>
                  <a:srgbClr val="3C4A52"/>
                </a:solidFill>
                <a:latin typeface="Arial"/>
                <a:ea typeface="Arial"/>
                <a:cs typeface="Arial"/>
              </a:rPr>
              <a:t>Finds regions dense across density levels.</a:t>
            </a:r>
            <a:endParaRPr sz="1400"/>
          </a:p>
          <a:p xmlns:a="http://schemas.openxmlformats.org/drawingml/2006/main">
            <a:pPr marL="203200" indent="-203200">
              <a:lnSpc>
                <a:spcPct val="122000"/>
              </a:lnSpc>
              <a:spcAft>
                <a:spcPts val="1400"/>
              </a:spcAft>
              <a:buSzPct val="100000"/>
              <a:buChar char="•"/>
            </a:pPr>
            <a:r>
              <a:rPr sz="1400">
                <a:solidFill>
                  <a:srgbClr val="3C4A52"/>
                </a:solidFill>
                <a:latin typeface="Arial"/>
                <a:ea typeface="Arial"/>
                <a:cs typeface="Arial"/>
              </a:rPr>
              <a:t>Labels uncertain points as noise, not forced.</a:t>
            </a:r>
            <a:endParaRPr sz="1400"/>
          </a:p>
        </p:txBody>
      </p:sp>
      <p:sp>
        <p:nvSpPr>
          <p:cNvPr id="10" name="Shape 8">
            <a:extLst xmlns:a="http://schemas.openxmlformats.org/drawingml/2006/main">
              <a:ext uri="{FF2B5EF4-FFF2-40B4-BE49-F238E27FC236}">
                <a16:creationId xmlns:a16="http://schemas.microsoft.com/office/drawing/2014/main" id="{00A98034-C1B1-4B21-AFE4-E127798A7DEF}"/>
              </a:ext>
            </a:extLst>
          </p:cNvPr>
          <p:cNvSpPr>
            <a:spLocks xmlns:a="http://schemas.openxmlformats.org/drawingml/2006/main" noGrp="1"/>
          </p:cNvSpPr>
          <p:nvPr/>
        </p:nvSpPr>
        <p:spPr>
          <a:xfrm xmlns:a="http://schemas.openxmlformats.org/drawingml/2006/main">
            <a:off x="640080" y="4251960"/>
            <a:ext cx="3840480" cy="1691640"/>
          </a:xfrm>
          <a:prstGeom xmlns:a="http://schemas.openxmlformats.org/drawingml/2006/main" prst="roundRect">
            <a:avLst>
              <a:gd name="adj" fmla="val 4324"/>
            </a:avLst>
          </a:prstGeom>
          <a:solidFill xmlns:a="http://schemas.openxmlformats.org/drawingml/2006/main">
            <a:srgbClr val="F5F8F9"/>
          </a:solidFill>
          <a:ln xmlns:a="http://schemas.openxmlformats.org/drawingml/2006/main" w="12700">
            <a:solidFill>
              <a:srgbClr val="E3E9EC"/>
            </a:solidFill>
            <a:prstDash val="solid"/>
          </a:ln>
        </p:spPr>
      </p:sp>
      <p:sp>
        <p:nvSpPr>
          <p:cNvPr id="11" name="Text 9">
            <a:extLst xmlns:a="http://schemas.openxmlformats.org/drawingml/2006/main">
              <a:ext uri="{FF2B5EF4-FFF2-40B4-BE49-F238E27FC236}">
                <a16:creationId xmlns:a16="http://schemas.microsoft.com/office/drawing/2014/main" id="{BE6D875C-0CB8-4594-9297-8AA31B88D8C6}"/>
              </a:ext>
            </a:extLst>
          </p:cNvPr>
          <p:cNvSpPr>
            <a:spLocks xmlns:a="http://schemas.openxmlformats.org/drawingml/2006/main" noGrp="1"/>
          </p:cNvSpPr>
          <p:nvPr/>
        </p:nvSpPr>
        <p:spPr>
          <a:xfrm xmlns:a="http://schemas.openxmlformats.org/drawingml/2006/main">
            <a:off x="914400" y="4251960"/>
            <a:ext cx="3383280" cy="1691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250" i="1">
                <a:solidFill>
                  <a:srgbClr val="3C4A52"/>
                </a:solidFill>
                <a:latin typeface="Arial"/>
                <a:ea typeface="Arial"/>
                <a:cs typeface="Arial"/>
              </a:rPr>
              <a:t>Minimum cluster size, density thresholds and selection settings affect the recovered partition.</a:t>
            </a:r>
            <a:endParaRPr sz="1250"/>
          </a:p>
        </p:txBody>
      </p:sp>
      <p:sp>
        <p:nvSpPr>
          <p:cNvPr id="12" name="Text 10">
            <a:extLst xmlns:a="http://schemas.openxmlformats.org/drawingml/2006/main">
              <a:ext uri="{FF2B5EF4-FFF2-40B4-BE49-F238E27FC236}">
                <a16:creationId xmlns:a16="http://schemas.microsoft.com/office/drawing/2014/main" id="{0CA15795-F54F-47A1-9916-3AA2D06AEB98}"/>
              </a:ext>
            </a:extLst>
          </p:cNvPr>
          <p:cNvSpPr>
            <a:spLocks xmlns:a="http://schemas.openxmlformats.org/drawingml/2006/main" noGrp="1"/>
          </p:cNvSpPr>
          <p:nvPr/>
        </p:nvSpPr>
        <p:spPr>
          <a:xfrm xmlns:a="http://schemas.openxmlformats.org/drawingml/2006/main">
            <a:off x="4846320" y="1783080"/>
            <a:ext cx="6675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200">
                <a:solidFill>
                  <a:srgbClr val="2E8B7F"/>
                </a:solidFill>
                <a:latin typeface="Arial"/>
                <a:ea typeface="Arial"/>
                <a:cs typeface="Arial"/>
              </a:rPr>
              <a:t>FORMAL DEFINITION</a:t>
            </a:r>
            <a:endParaRPr sz="1050"/>
          </a:p>
        </p:txBody>
      </p:sp>
      <p:pic>
        <p:nvPicPr>
          <p:cNvPr id="13" name="Image 0">
            <a:extLst xmlns:a="http://schemas.openxmlformats.org/drawingml/2006/main">
              <a:ext uri="{FF2B5EF4-FFF2-40B4-BE49-F238E27FC236}">
                <a16:creationId xmlns:a16="http://schemas.microsoft.com/office/drawing/2014/main" id="{375E674B-33CB-4F2E-BD78-D097819E1CE8}"/>
              </a:ext>
            </a:extLst>
          </p:cNvPr>
          <p:cNvPicPr>
            <a:picLocks xmlns:a="http://schemas.openxmlformats.org/drawingml/2006/main" noChangeAspect="1"/>
          </p:cNvPicPr>
          <p:nvPr/>
        </p:nvPicPr>
        <p:blipFill>
          <a:blip xmlns:r="http://schemas.openxmlformats.org/officeDocument/2006/relationships" xmlns:a="http://schemas.openxmlformats.org/drawingml/2006/main" r:embed="Rc790140b67d3480b"/>
          <a:stretch xmlns:a="http://schemas.openxmlformats.org/drawingml/2006/main">
            <a:fillRect l="0" t="0" r="0" b="0"/>
          </a:stretch>
        </p:blipFill>
        <p:spPr>
          <a:xfrm xmlns:a="http://schemas.openxmlformats.org/drawingml/2006/main">
            <a:off x="4846320" y="2569900"/>
            <a:ext cx="6705295" cy="2906920"/>
          </a:xfrm>
          <a:prstGeom xmlns:a="http://schemas.openxmlformats.org/drawingml/2006/main" prst="rect">
            <a:avLst/>
          </a:prstGeom>
        </p:spPr>
      </p:pic>
    </p:spTree>
    <p:extLst>
      <p:ext uri="{BB962C8B-B14F-4D97-AF65-F5344CB8AC3E}">
        <p14:creationId xmlns:p14="http://schemas.microsoft.com/office/powerpoint/2010/main" val="17236354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669747-BFDB-409A-862D-9BA1323629E2}"/>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METHODS · IMPUTATION</a:t>
            </a:r>
            <a:endParaRPr sz="1150"/>
          </a:p>
        </p:txBody>
      </p:sp>
      <p:sp>
        <p:nvSpPr>
          <p:cNvPr id="3" name="Text 1">
            <a:extLst xmlns:a="http://schemas.openxmlformats.org/drawingml/2006/main">
              <a:ext uri="{FF2B5EF4-FFF2-40B4-BE49-F238E27FC236}">
                <a16:creationId xmlns:a16="http://schemas.microsoft.com/office/drawing/2014/main" id="{E0F0C1CD-77DE-41CE-A015-6FA5062DFE94}"/>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Ten imputation strategies</a:t>
            </a:r>
            <a:endParaRPr sz="2600"/>
          </a:p>
        </p:txBody>
      </p:sp>
      <p:sp>
        <p:nvSpPr>
          <p:cNvPr id="4" name="Shape 2">
            <a:extLst xmlns:a="http://schemas.openxmlformats.org/drawingml/2006/main">
              <a:ext uri="{FF2B5EF4-FFF2-40B4-BE49-F238E27FC236}">
                <a16:creationId xmlns:a16="http://schemas.microsoft.com/office/drawing/2014/main" id="{FB3B11D1-0B0F-4114-BA21-3E456131CAB7}"/>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D112E2B3-8403-4412-85B0-FC76491AFC73}"/>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051A426D-0CFA-443E-B68B-92EB2DA95CB7}"/>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7F636DF4-AA7B-4899-A646-3EF4FA6AD455}"/>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10</a:t>
            </a:r>
            <a:endParaRPr sz="900"/>
          </a:p>
        </p:txBody>
      </p:sp>
      <p:sp>
        <p:nvSpPr>
          <p:cNvPr id="8" name="Shape 6">
            <a:extLst xmlns:a="http://schemas.openxmlformats.org/drawingml/2006/main">
              <a:ext uri="{FF2B5EF4-FFF2-40B4-BE49-F238E27FC236}">
                <a16:creationId xmlns:a16="http://schemas.microsoft.com/office/drawing/2014/main" id="{B3BF4E43-3155-460F-B21F-00D0D3AE0CB0}"/>
              </a:ext>
            </a:extLst>
          </p:cNvPr>
          <p:cNvSpPr>
            <a:spLocks xmlns:a="http://schemas.openxmlformats.org/drawingml/2006/main" noGrp="1"/>
          </p:cNvSpPr>
          <p:nvPr/>
        </p:nvSpPr>
        <p:spPr>
          <a:xfrm xmlns:a="http://schemas.openxmlformats.org/drawingml/2006/main">
            <a:off x="640080" y="1691640"/>
            <a:ext cx="5227168" cy="4023360"/>
          </a:xfrm>
          <a:prstGeom xmlns:a="http://schemas.openxmlformats.org/drawingml/2006/main" prst="roundRect">
            <a:avLst>
              <a:gd name="adj" fmla="val 1818"/>
            </a:avLst>
          </a:prstGeom>
          <a:solidFill xmlns:a="http://schemas.openxmlformats.org/drawingml/2006/main">
            <a:srgbClr val="F5F8F9"/>
          </a:solidFill>
          <a:ln xmlns:a="http://schemas.openxmlformats.org/drawingml/2006/main" w="12700">
            <a:solidFill>
              <a:srgbClr val="E3E9EC"/>
            </a:solidFill>
            <a:prstDash val="solid"/>
          </a:ln>
        </p:spPr>
      </p:sp>
      <p:sp>
        <p:nvSpPr>
          <p:cNvPr id="9" name="Shape 7">
            <a:extLst xmlns:a="http://schemas.openxmlformats.org/drawingml/2006/main">
              <a:ext uri="{FF2B5EF4-FFF2-40B4-BE49-F238E27FC236}">
                <a16:creationId xmlns:a16="http://schemas.microsoft.com/office/drawing/2014/main" id="{8ABCB19E-0FE7-4B01-8E8C-F0CE8DF821CD}"/>
              </a:ext>
            </a:extLst>
          </p:cNvPr>
          <p:cNvSpPr>
            <a:spLocks xmlns:a="http://schemas.openxmlformats.org/drawingml/2006/main" noGrp="1"/>
          </p:cNvSpPr>
          <p:nvPr/>
        </p:nvSpPr>
        <p:spPr>
          <a:xfrm xmlns:a="http://schemas.openxmlformats.org/drawingml/2006/main">
            <a:off x="6324448" y="1691640"/>
            <a:ext cx="5227168" cy="4023360"/>
          </a:xfrm>
          <a:prstGeom xmlns:a="http://schemas.openxmlformats.org/drawingml/2006/main" prst="roundRect">
            <a:avLst>
              <a:gd name="adj" fmla="val 1818"/>
            </a:avLst>
          </a:prstGeom>
          <a:solidFill xmlns:a="http://schemas.openxmlformats.org/drawingml/2006/main">
            <a:srgbClr val="F5F8F9"/>
          </a:solidFill>
          <a:ln xmlns:a="http://schemas.openxmlformats.org/drawingml/2006/main" w="12700">
            <a:solidFill>
              <a:srgbClr val="E3E9EC"/>
            </a:solidFill>
            <a:prstDash val="solid"/>
          </a:ln>
        </p:spPr>
      </p:sp>
      <p:sp>
        <p:nvSpPr>
          <p:cNvPr id="10" name="Text 8">
            <a:extLst xmlns:a="http://schemas.openxmlformats.org/drawingml/2006/main">
              <a:ext uri="{FF2B5EF4-FFF2-40B4-BE49-F238E27FC236}">
                <a16:creationId xmlns:a16="http://schemas.microsoft.com/office/drawing/2014/main" id="{E295D77F-C257-4D9E-B819-7DFFEE9A763E}"/>
              </a:ext>
            </a:extLst>
          </p:cNvPr>
          <p:cNvSpPr>
            <a:spLocks xmlns:a="http://schemas.openxmlformats.org/drawingml/2006/main" noGrp="1"/>
          </p:cNvSpPr>
          <p:nvPr/>
        </p:nvSpPr>
        <p:spPr>
          <a:xfrm xmlns:a="http://schemas.openxmlformats.org/drawingml/2006/main">
            <a:off x="914400" y="1874520"/>
            <a:ext cx="4678528"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1707A"/>
                </a:solidFill>
                <a:latin typeface="Arial"/>
                <a:ea typeface="Arial"/>
                <a:cs typeface="Arial"/>
              </a:rPr>
              <a:t>Simple → model-based</a:t>
            </a:r>
            <a:endParaRPr sz="1300"/>
          </a:p>
        </p:txBody>
      </p:sp>
      <p:sp>
        <p:nvSpPr>
          <p:cNvPr id="11" name="Text 9">
            <a:extLst xmlns:a="http://schemas.openxmlformats.org/drawingml/2006/main">
              <a:ext uri="{FF2B5EF4-FFF2-40B4-BE49-F238E27FC236}">
                <a16:creationId xmlns:a16="http://schemas.microsoft.com/office/drawing/2014/main" id="{BB151442-B492-46E3-BF0E-EF0FA3C32493}"/>
              </a:ext>
            </a:extLst>
          </p:cNvPr>
          <p:cNvSpPr>
            <a:spLocks xmlns:a="http://schemas.openxmlformats.org/drawingml/2006/main" noGrp="1"/>
          </p:cNvSpPr>
          <p:nvPr/>
        </p:nvSpPr>
        <p:spPr>
          <a:xfrm xmlns:a="http://schemas.openxmlformats.org/drawingml/2006/main">
            <a:off x="6598768" y="1874520"/>
            <a:ext cx="4678528"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1707A"/>
                </a:solidFill>
                <a:latin typeface="Arial"/>
                <a:ea typeface="Arial"/>
                <a:cs typeface="Arial"/>
              </a:rPr>
              <a:t>Donor / matrix / deep learning</a:t>
            </a:r>
            <a:endParaRPr sz="1300"/>
          </a:p>
        </p:txBody>
      </p:sp>
      <p:sp>
        <p:nvSpPr>
          <p:cNvPr id="12" name="Text 10">
            <a:extLst xmlns:a="http://schemas.openxmlformats.org/drawingml/2006/main">
              <a:ext uri="{FF2B5EF4-FFF2-40B4-BE49-F238E27FC236}">
                <a16:creationId xmlns:a16="http://schemas.microsoft.com/office/drawing/2014/main" id="{0F72C795-0197-48D0-80C5-F7076A343AB2}"/>
              </a:ext>
            </a:extLst>
          </p:cNvPr>
          <p:cNvSpPr>
            <a:spLocks xmlns:a="http://schemas.openxmlformats.org/drawingml/2006/main" noGrp="1"/>
          </p:cNvSpPr>
          <p:nvPr/>
        </p:nvSpPr>
        <p:spPr>
          <a:xfrm xmlns:a="http://schemas.openxmlformats.org/drawingml/2006/main">
            <a:off x="914400" y="2377440"/>
            <a:ext cx="4678528" cy="3108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50000"/>
              </a:lnSpc>
              <a:buNone/>
            </a:pPr>
            <a:r>
              <a:rPr sz="1500">
                <a:solidFill>
                  <a:srgbClr val="3C4A52"/>
                </a:solidFill>
                <a:latin typeface="Arial"/>
                <a:ea typeface="Arial"/>
                <a:cs typeface="Arial"/>
              </a:rPr>
              <a:t>1.  Mean imputation</a:t>
            </a:r>
            <a:endParaRPr sz="1500"/>
          </a:p>
          <a:p xmlns:a="http://schemas.openxmlformats.org/drawingml/2006/main">
            <a:pPr marL="0" indent="0">
              <a:lnSpc>
                <a:spcPct val="150000"/>
              </a:lnSpc>
              <a:buNone/>
            </a:pPr>
            <a:r>
              <a:rPr sz="1500">
                <a:solidFill>
                  <a:srgbClr val="3C4A52"/>
                </a:solidFill>
                <a:latin typeface="Arial"/>
                <a:ea typeface="Arial"/>
                <a:cs typeface="Arial"/>
              </a:rPr>
              <a:t>2.  Expectation–maximization</a:t>
            </a:r>
          </a:p>
          <a:p xmlns:a="http://schemas.openxmlformats.org/drawingml/2006/main">
            <a:pPr marL="0" indent="0">
              <a:lnSpc>
                <a:spcPct val="150000"/>
              </a:lnSpc>
              <a:buNone/>
            </a:pPr>
            <a:r>
              <a:rPr sz="1500">
                <a:solidFill>
                  <a:srgbClr val="3C4A52"/>
                </a:solidFill>
                <a:latin typeface="Arial"/>
                <a:ea typeface="Arial"/>
                <a:cs typeface="Arial"/>
              </a:rPr>
              <a:t>3.  MICE (reference)</a:t>
            </a:r>
          </a:p>
          <a:p xmlns:a="http://schemas.openxmlformats.org/drawingml/2006/main">
            <a:pPr marL="0" indent="0">
              <a:lnSpc>
                <a:spcPct val="150000"/>
              </a:lnSpc>
              <a:buNone/>
            </a:pPr>
            <a:r>
              <a:rPr sz="1500">
                <a:solidFill>
                  <a:srgbClr val="3C4A52"/>
                </a:solidFill>
                <a:latin typeface="Arial"/>
                <a:ea typeface="Arial"/>
                <a:cs typeface="Arial"/>
              </a:rPr>
              <a:t>4.  K-nearest neighbours</a:t>
            </a:r>
          </a:p>
          <a:p xmlns:a="http://schemas.openxmlformats.org/drawingml/2006/main">
            <a:pPr marL="0" indent="0">
              <a:lnSpc>
                <a:spcPct val="150000"/>
              </a:lnSpc>
              <a:buNone/>
            </a:pPr>
            <a:r>
              <a:rPr sz="1500">
                <a:solidFill>
                  <a:srgbClr val="3C4A52"/>
                </a:solidFill>
                <a:latin typeface="Arial"/>
                <a:ea typeface="Arial"/>
                <a:cs typeface="Arial"/>
              </a:rPr>
              <a:t>5.  MissForest</a:t>
            </a:r>
          </a:p>
        </p:txBody>
      </p:sp>
      <p:sp>
        <p:nvSpPr>
          <p:cNvPr id="13" name="Text 11">
            <a:extLst xmlns:a="http://schemas.openxmlformats.org/drawingml/2006/main">
              <a:ext uri="{FF2B5EF4-FFF2-40B4-BE49-F238E27FC236}">
                <a16:creationId xmlns:a16="http://schemas.microsoft.com/office/drawing/2014/main" id="{8801124D-3EDD-40BF-8509-54B5F2EAEC88}"/>
              </a:ext>
            </a:extLst>
          </p:cNvPr>
          <p:cNvSpPr>
            <a:spLocks xmlns:a="http://schemas.openxmlformats.org/drawingml/2006/main" noGrp="1"/>
          </p:cNvSpPr>
          <p:nvPr/>
        </p:nvSpPr>
        <p:spPr>
          <a:xfrm xmlns:a="http://schemas.openxmlformats.org/drawingml/2006/main">
            <a:off x="6598768" y="2377440"/>
            <a:ext cx="4678528" cy="3108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50000"/>
              </a:lnSpc>
              <a:buNone/>
            </a:pPr>
            <a:r>
              <a:rPr sz="1500">
                <a:solidFill>
                  <a:srgbClr val="3C4A52"/>
                </a:solidFill>
                <a:latin typeface="Arial"/>
                <a:ea typeface="Arial"/>
                <a:cs typeface="Arial"/>
              </a:rPr>
              <a:t>6.  Predictive mean matching</a:t>
            </a:r>
            <a:endParaRPr sz="1500"/>
          </a:p>
          <a:p xmlns:a="http://schemas.openxmlformats.org/drawingml/2006/main">
            <a:pPr marL="0" indent="0">
              <a:lnSpc>
                <a:spcPct val="150000"/>
              </a:lnSpc>
              <a:buNone/>
            </a:pPr>
            <a:r>
              <a:rPr sz="1500">
                <a:solidFill>
                  <a:srgbClr val="3C4A52"/>
                </a:solidFill>
                <a:latin typeface="Arial"/>
                <a:ea typeface="Arial"/>
                <a:cs typeface="Arial"/>
              </a:rPr>
              <a:t>7.  SoftImpute</a:t>
            </a:r>
          </a:p>
          <a:p xmlns:a="http://schemas.openxmlformats.org/drawingml/2006/main">
            <a:pPr marL="0" indent="0">
              <a:lnSpc>
                <a:spcPct val="150000"/>
              </a:lnSpc>
              <a:buNone/>
            </a:pPr>
            <a:r>
              <a:rPr sz="1500">
                <a:solidFill>
                  <a:srgbClr val="3C4A52"/>
                </a:solidFill>
                <a:latin typeface="Arial"/>
                <a:ea typeface="Arial"/>
                <a:cs typeface="Arial"/>
              </a:rPr>
              <a:t>8.  Non-negative matrix factorization</a:t>
            </a:r>
          </a:p>
          <a:p xmlns:a="http://schemas.openxmlformats.org/drawingml/2006/main">
            <a:pPr marL="0" indent="0">
              <a:lnSpc>
                <a:spcPct val="150000"/>
              </a:lnSpc>
              <a:buNone/>
            </a:pPr>
            <a:r>
              <a:rPr sz="1500">
                <a:solidFill>
                  <a:srgbClr val="3C4A52"/>
                </a:solidFill>
                <a:latin typeface="Arial"/>
                <a:ea typeface="Arial"/>
                <a:cs typeface="Arial"/>
              </a:rPr>
              <a:t>9.  Denoising autoencoder</a:t>
            </a:r>
          </a:p>
          <a:p xmlns:a="http://schemas.openxmlformats.org/drawingml/2006/main">
            <a:pPr marL="0" indent="0">
              <a:lnSpc>
                <a:spcPct val="150000"/>
              </a:lnSpc>
              <a:buNone/>
            </a:pPr>
            <a:r>
              <a:rPr sz="1500">
                <a:solidFill>
                  <a:srgbClr val="3C4A52"/>
                </a:solidFill>
                <a:latin typeface="Arial"/>
                <a:ea typeface="Arial"/>
                <a:cs typeface="Arial"/>
              </a:rPr>
              <a:t>10.  Variational autoencoder</a:t>
            </a:r>
          </a:p>
        </p:txBody>
      </p:sp>
      <p:sp>
        <p:nvSpPr>
          <p:cNvPr id="14" name="Text 12">
            <a:extLst xmlns:a="http://schemas.openxmlformats.org/drawingml/2006/main">
              <a:ext uri="{FF2B5EF4-FFF2-40B4-BE49-F238E27FC236}">
                <a16:creationId xmlns:a16="http://schemas.microsoft.com/office/drawing/2014/main" id="{3C3514A7-BFCC-418D-B34E-CA5FC9C6B1FE}"/>
              </a:ext>
            </a:extLst>
          </p:cNvPr>
          <p:cNvSpPr>
            <a:spLocks xmlns:a="http://schemas.openxmlformats.org/drawingml/2006/main" noGrp="1"/>
          </p:cNvSpPr>
          <p:nvPr/>
        </p:nvSpPr>
        <p:spPr>
          <a:xfrm xmlns:a="http://schemas.openxmlformats.org/drawingml/2006/main">
            <a:off x="640080" y="5897880"/>
            <a:ext cx="10911535"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i="1">
                <a:solidFill>
                  <a:srgbClr val="7C8A94"/>
                </a:solidFill>
                <a:latin typeface="Arial"/>
                <a:ea typeface="Arial"/>
                <a:cs typeface="Arial"/>
              </a:rPr>
              <a:t>Agreement under a fixed rule tests imputation sensitivity. Independent refitting and missingness assumptions require separate checks.</a:t>
            </a:r>
            <a:endParaRPr sz="1150"/>
          </a:p>
        </p:txBody>
      </p:sp>
    </p:spTree>
    <p:extLst>
      <p:ext uri="{BB962C8B-B14F-4D97-AF65-F5344CB8AC3E}">
        <p14:creationId xmlns:p14="http://schemas.microsoft.com/office/powerpoint/2010/main" val="8953773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D53D9E-A5D3-496A-8BB2-0FA493FEFB78}"/>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RESULT · H1</a:t>
            </a:r>
            <a:endParaRPr sz="1150"/>
          </a:p>
        </p:txBody>
      </p:sp>
      <p:sp>
        <p:nvSpPr>
          <p:cNvPr id="3" name="Text 1">
            <a:extLst xmlns:a="http://schemas.openxmlformats.org/drawingml/2006/main">
              <a:ext uri="{FF2B5EF4-FFF2-40B4-BE49-F238E27FC236}">
                <a16:creationId xmlns:a16="http://schemas.microsoft.com/office/drawing/2014/main" id="{A86A3157-F124-410A-B912-D671F4E82A3B}"/>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Three cognitive severity tiers emerge</a:t>
            </a:r>
            <a:endParaRPr sz="2600"/>
          </a:p>
        </p:txBody>
      </p:sp>
      <p:sp>
        <p:nvSpPr>
          <p:cNvPr id="4" name="Shape 2">
            <a:extLst xmlns:a="http://schemas.openxmlformats.org/drawingml/2006/main">
              <a:ext uri="{FF2B5EF4-FFF2-40B4-BE49-F238E27FC236}">
                <a16:creationId xmlns:a16="http://schemas.microsoft.com/office/drawing/2014/main" id="{DD0047B1-D595-4E32-A42C-CB147E252091}"/>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EC463A64-BE1B-47DB-A43F-987CE59773CB}"/>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1EE0CEE0-19F3-4F05-B5B1-BE686A01E077}"/>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215D8F35-E798-47F6-BE7C-5823664E2AB5}"/>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11</a:t>
            </a:r>
            <a:endParaRPr sz="900"/>
          </a:p>
        </p:txBody>
      </p:sp>
      <p:pic>
        <p:nvPicPr>
          <p:cNvPr id="8" name="Image 0">
            <a:extLst xmlns:a="http://schemas.openxmlformats.org/drawingml/2006/main">
              <a:ext uri="{FF2B5EF4-FFF2-40B4-BE49-F238E27FC236}">
                <a16:creationId xmlns:a16="http://schemas.microsoft.com/office/drawing/2014/main" id="{11C1BC28-A4EA-4359-BB49-8D5A9E5A1DBF}"/>
              </a:ext>
            </a:extLst>
          </p:cNvPr>
          <p:cNvPicPr>
            <a:picLocks xmlns:a="http://schemas.openxmlformats.org/drawingml/2006/main" noChangeAspect="1"/>
          </p:cNvPicPr>
          <p:nvPr/>
        </p:nvPicPr>
        <p:blipFill>
          <a:blip xmlns:r="http://schemas.openxmlformats.org/officeDocument/2006/relationships" xmlns:a="http://schemas.openxmlformats.org/drawingml/2006/main" r:embed="R9ce3ba1526bf4171"/>
          <a:srcRect xmlns:a="http://schemas.openxmlformats.org/drawingml/2006/main" l="517" t="0" r="517" b="0"/>
          <a:stretch xmlns:a="http://schemas.openxmlformats.org/drawingml/2006/main">
            <a:fillRect l="0" t="0" r="0" b="0"/>
          </a:stretch>
        </p:blipFill>
        <p:spPr>
          <a:xfrm xmlns:a="http://schemas.openxmlformats.org/drawingml/2006/main">
            <a:off x="640080" y="2552011"/>
            <a:ext cx="6949440" cy="2668378"/>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E8A6EE97-15BA-40FA-8F19-6962382B0224}"/>
              </a:ext>
            </a:extLst>
          </p:cNvPr>
          <p:cNvSpPr>
            <a:spLocks xmlns:a="http://schemas.openxmlformats.org/drawingml/2006/main" noGrp="1"/>
          </p:cNvSpPr>
          <p:nvPr/>
        </p:nvSpPr>
        <p:spPr>
          <a:xfrm xmlns:a="http://schemas.openxmlformats.org/drawingml/2006/main">
            <a:off x="7772400" y="1783080"/>
            <a:ext cx="3779215" cy="1051560"/>
          </a:xfrm>
          <a:prstGeom xmlns:a="http://schemas.openxmlformats.org/drawingml/2006/main" prst="roundRect">
            <a:avLst>
              <a:gd name="adj" fmla="val 5217"/>
            </a:avLst>
          </a:prstGeom>
          <a:solidFill xmlns:a="http://schemas.openxmlformats.org/drawingml/2006/main">
            <a:srgbClr val="F5F8F9"/>
          </a:solidFill>
          <a:ln xmlns:a="http://schemas.openxmlformats.org/drawingml/2006/main" w="12700">
            <a:solidFill>
              <a:srgbClr val="E3E9EC"/>
            </a:solidFill>
            <a:prstDash val="solid"/>
          </a:ln>
        </p:spPr>
      </p:sp>
      <p:sp>
        <p:nvSpPr>
          <p:cNvPr id="10" name="Shape 7">
            <a:extLst xmlns:a="http://schemas.openxmlformats.org/drawingml/2006/main">
              <a:ext uri="{FF2B5EF4-FFF2-40B4-BE49-F238E27FC236}">
                <a16:creationId xmlns:a16="http://schemas.microsoft.com/office/drawing/2014/main" id="{37CD08E1-9233-4D85-8C3C-770BA1EAE0A7}"/>
              </a:ext>
            </a:extLst>
          </p:cNvPr>
          <p:cNvSpPr>
            <a:spLocks xmlns:a="http://schemas.openxmlformats.org/drawingml/2006/main" noGrp="1"/>
          </p:cNvSpPr>
          <p:nvPr/>
        </p:nvSpPr>
        <p:spPr>
          <a:xfrm xmlns:a="http://schemas.openxmlformats.org/drawingml/2006/main">
            <a:off x="7772400" y="1783080"/>
            <a:ext cx="118872" cy="1051560"/>
          </a:xfrm>
          <a:prstGeom xmlns:a="http://schemas.openxmlformats.org/drawingml/2006/main" prst="rect">
            <a:avLst/>
          </a:prstGeom>
          <a:solidFill xmlns:a="http://schemas.openxmlformats.org/drawingml/2006/main">
            <a:srgbClr val="2E8B7F"/>
          </a:solidFill>
        </p:spPr>
      </p:sp>
      <p:sp>
        <p:nvSpPr>
          <p:cNvPr id="11" name="Text 8">
            <a:extLst xmlns:a="http://schemas.openxmlformats.org/drawingml/2006/main">
              <a:ext uri="{FF2B5EF4-FFF2-40B4-BE49-F238E27FC236}">
                <a16:creationId xmlns:a16="http://schemas.microsoft.com/office/drawing/2014/main" id="{19FAD715-447B-469F-A801-12EF131E853E}"/>
              </a:ext>
            </a:extLst>
          </p:cNvPr>
          <p:cNvSpPr>
            <a:spLocks xmlns:a="http://schemas.openxmlformats.org/drawingml/2006/main" noGrp="1"/>
          </p:cNvSpPr>
          <p:nvPr/>
        </p:nvSpPr>
        <p:spPr>
          <a:xfrm xmlns:a="http://schemas.openxmlformats.org/drawingml/2006/main">
            <a:off x="8001000" y="1901952"/>
            <a:ext cx="23774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2A30"/>
                </a:solidFill>
                <a:latin typeface="Arial"/>
                <a:ea typeface="Arial"/>
                <a:cs typeface="Arial"/>
              </a:rPr>
              <a:t>Above-Average</a:t>
            </a:r>
            <a:endParaRPr sz="1450"/>
          </a:p>
        </p:txBody>
      </p:sp>
      <p:sp>
        <p:nvSpPr>
          <p:cNvPr id="12" name="Text 9">
            <a:extLst xmlns:a="http://schemas.openxmlformats.org/drawingml/2006/main">
              <a:ext uri="{FF2B5EF4-FFF2-40B4-BE49-F238E27FC236}">
                <a16:creationId xmlns:a16="http://schemas.microsoft.com/office/drawing/2014/main" id="{650ECA05-579A-4853-8A52-B2337612A824}"/>
              </a:ext>
            </a:extLst>
          </p:cNvPr>
          <p:cNvSpPr>
            <a:spLocks xmlns:a="http://schemas.openxmlformats.org/drawingml/2006/main" noGrp="1"/>
          </p:cNvSpPr>
          <p:nvPr/>
        </p:nvSpPr>
        <p:spPr>
          <a:xfrm xmlns:a="http://schemas.openxmlformats.org/drawingml/2006/main">
            <a:off x="8001000" y="2286000"/>
            <a:ext cx="23774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3C4A52"/>
                </a:solidFill>
                <a:latin typeface="Arial"/>
                <a:ea typeface="Arial"/>
                <a:cs typeface="Arial"/>
              </a:rPr>
              <a:t>above cohort mean</a:t>
            </a:r>
            <a:endParaRPr sz="1150"/>
          </a:p>
        </p:txBody>
      </p:sp>
      <p:sp>
        <p:nvSpPr>
          <p:cNvPr id="13" name="Text 10">
            <a:extLst xmlns:a="http://schemas.openxmlformats.org/drawingml/2006/main">
              <a:ext uri="{FF2B5EF4-FFF2-40B4-BE49-F238E27FC236}">
                <a16:creationId xmlns:a16="http://schemas.microsoft.com/office/drawing/2014/main" id="{62EF13AF-F2C6-4D6C-AD5F-B97C08EA3382}"/>
              </a:ext>
            </a:extLst>
          </p:cNvPr>
          <p:cNvSpPr>
            <a:spLocks xmlns:a="http://schemas.openxmlformats.org/drawingml/2006/main" noGrp="1"/>
          </p:cNvSpPr>
          <p:nvPr/>
        </p:nvSpPr>
        <p:spPr>
          <a:xfrm xmlns:a="http://schemas.openxmlformats.org/drawingml/2006/main">
            <a:off x="10332720" y="1965960"/>
            <a:ext cx="118872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2000" b="1">
                <a:solidFill>
                  <a:srgbClr val="2E8B7F"/>
                </a:solidFill>
                <a:latin typeface="Arial"/>
                <a:ea typeface="Arial"/>
                <a:cs typeface="Arial"/>
              </a:rPr>
              <a:t>6,725</a:t>
            </a:r>
            <a:endParaRPr sz="2000"/>
          </a:p>
        </p:txBody>
      </p:sp>
      <p:sp>
        <p:nvSpPr>
          <p:cNvPr id="14" name="Shape 11">
            <a:extLst xmlns:a="http://schemas.openxmlformats.org/drawingml/2006/main">
              <a:ext uri="{FF2B5EF4-FFF2-40B4-BE49-F238E27FC236}">
                <a16:creationId xmlns:a16="http://schemas.microsoft.com/office/drawing/2014/main" id="{1A5CABF4-2BF8-4A3C-B6A1-5211DD085572}"/>
              </a:ext>
            </a:extLst>
          </p:cNvPr>
          <p:cNvSpPr>
            <a:spLocks xmlns:a="http://schemas.openxmlformats.org/drawingml/2006/main" noGrp="1"/>
          </p:cNvSpPr>
          <p:nvPr/>
        </p:nvSpPr>
        <p:spPr>
          <a:xfrm xmlns:a="http://schemas.openxmlformats.org/drawingml/2006/main">
            <a:off x="7772400" y="2990088"/>
            <a:ext cx="3779215" cy="1051560"/>
          </a:xfrm>
          <a:prstGeom xmlns:a="http://schemas.openxmlformats.org/drawingml/2006/main" prst="roundRect">
            <a:avLst>
              <a:gd name="adj" fmla="val 5217"/>
            </a:avLst>
          </a:prstGeom>
          <a:solidFill xmlns:a="http://schemas.openxmlformats.org/drawingml/2006/main">
            <a:srgbClr val="F5F8F9"/>
          </a:solidFill>
          <a:ln xmlns:a="http://schemas.openxmlformats.org/drawingml/2006/main" w="12700">
            <a:solidFill>
              <a:srgbClr val="E3E9EC"/>
            </a:solidFill>
            <a:prstDash val="solid"/>
          </a:ln>
        </p:spPr>
      </p:sp>
      <p:sp>
        <p:nvSpPr>
          <p:cNvPr id="15" name="Shape 12">
            <a:extLst xmlns:a="http://schemas.openxmlformats.org/drawingml/2006/main">
              <a:ext uri="{FF2B5EF4-FFF2-40B4-BE49-F238E27FC236}">
                <a16:creationId xmlns:a16="http://schemas.microsoft.com/office/drawing/2014/main" id="{03EF8F58-8E55-4127-893E-8437A115D42C}"/>
              </a:ext>
            </a:extLst>
          </p:cNvPr>
          <p:cNvSpPr>
            <a:spLocks xmlns:a="http://schemas.openxmlformats.org/drawingml/2006/main" noGrp="1"/>
          </p:cNvSpPr>
          <p:nvPr/>
        </p:nvSpPr>
        <p:spPr>
          <a:xfrm xmlns:a="http://schemas.openxmlformats.org/drawingml/2006/main">
            <a:off x="7772400" y="2990088"/>
            <a:ext cx="118872" cy="1051560"/>
          </a:xfrm>
          <a:prstGeom xmlns:a="http://schemas.openxmlformats.org/drawingml/2006/main" prst="rect">
            <a:avLst/>
          </a:prstGeom>
          <a:solidFill xmlns:a="http://schemas.openxmlformats.org/drawingml/2006/main">
            <a:srgbClr val="D49A4E"/>
          </a:solidFill>
        </p:spPr>
      </p:sp>
      <p:sp>
        <p:nvSpPr>
          <p:cNvPr id="16" name="Text 13">
            <a:extLst xmlns:a="http://schemas.openxmlformats.org/drawingml/2006/main">
              <a:ext uri="{FF2B5EF4-FFF2-40B4-BE49-F238E27FC236}">
                <a16:creationId xmlns:a16="http://schemas.microsoft.com/office/drawing/2014/main" id="{C640A2D4-50EB-44DF-9785-353281D1CCEF}"/>
              </a:ext>
            </a:extLst>
          </p:cNvPr>
          <p:cNvSpPr>
            <a:spLocks xmlns:a="http://schemas.openxmlformats.org/drawingml/2006/main" noGrp="1"/>
          </p:cNvSpPr>
          <p:nvPr/>
        </p:nvSpPr>
        <p:spPr>
          <a:xfrm xmlns:a="http://schemas.openxmlformats.org/drawingml/2006/main">
            <a:off x="8001000" y="3108960"/>
            <a:ext cx="23774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2A30"/>
                </a:solidFill>
                <a:latin typeface="Arial"/>
                <a:ea typeface="Arial"/>
                <a:cs typeface="Arial"/>
              </a:rPr>
              <a:t>Near-Normal</a:t>
            </a:r>
            <a:endParaRPr sz="1450"/>
          </a:p>
        </p:txBody>
      </p:sp>
      <p:sp>
        <p:nvSpPr>
          <p:cNvPr id="17" name="Text 14">
            <a:extLst xmlns:a="http://schemas.openxmlformats.org/drawingml/2006/main">
              <a:ext uri="{FF2B5EF4-FFF2-40B4-BE49-F238E27FC236}">
                <a16:creationId xmlns:a16="http://schemas.microsoft.com/office/drawing/2014/main" id="{1F21415D-03BD-457C-AEFD-AC3327B95399}"/>
              </a:ext>
            </a:extLst>
          </p:cNvPr>
          <p:cNvSpPr>
            <a:spLocks xmlns:a="http://schemas.openxmlformats.org/drawingml/2006/main" noGrp="1"/>
          </p:cNvSpPr>
          <p:nvPr/>
        </p:nvSpPr>
        <p:spPr>
          <a:xfrm xmlns:a="http://schemas.openxmlformats.org/drawingml/2006/main">
            <a:off x="8001000" y="3493008"/>
            <a:ext cx="23774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3C4A52"/>
                </a:solidFill>
                <a:latin typeface="Arial"/>
                <a:ea typeface="Arial"/>
                <a:cs typeface="Arial"/>
              </a:rPr>
              <a:t>close to the average</a:t>
            </a:r>
            <a:endParaRPr sz="1150"/>
          </a:p>
        </p:txBody>
      </p:sp>
      <p:sp>
        <p:nvSpPr>
          <p:cNvPr id="18" name="Text 15">
            <a:extLst xmlns:a="http://schemas.openxmlformats.org/drawingml/2006/main">
              <a:ext uri="{FF2B5EF4-FFF2-40B4-BE49-F238E27FC236}">
                <a16:creationId xmlns:a16="http://schemas.microsoft.com/office/drawing/2014/main" id="{6CCE9A5A-FC9A-41D0-97FE-B05A6050E4A2}"/>
              </a:ext>
            </a:extLst>
          </p:cNvPr>
          <p:cNvSpPr>
            <a:spLocks xmlns:a="http://schemas.openxmlformats.org/drawingml/2006/main" noGrp="1"/>
          </p:cNvSpPr>
          <p:nvPr/>
        </p:nvSpPr>
        <p:spPr>
          <a:xfrm xmlns:a="http://schemas.openxmlformats.org/drawingml/2006/main">
            <a:off x="10332720" y="3172968"/>
            <a:ext cx="118872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2000" b="1">
                <a:solidFill>
                  <a:srgbClr val="D49A4E"/>
                </a:solidFill>
                <a:latin typeface="Arial"/>
                <a:ea typeface="Arial"/>
                <a:cs typeface="Arial"/>
              </a:rPr>
              <a:t>6,328</a:t>
            </a:r>
            <a:endParaRPr sz="2000"/>
          </a:p>
        </p:txBody>
      </p:sp>
      <p:sp>
        <p:nvSpPr>
          <p:cNvPr id="19" name="Shape 16">
            <a:extLst xmlns:a="http://schemas.openxmlformats.org/drawingml/2006/main">
              <a:ext uri="{FF2B5EF4-FFF2-40B4-BE49-F238E27FC236}">
                <a16:creationId xmlns:a16="http://schemas.microsoft.com/office/drawing/2014/main" id="{E0390420-A0DC-4611-B82E-565DC49A0562}"/>
              </a:ext>
            </a:extLst>
          </p:cNvPr>
          <p:cNvSpPr>
            <a:spLocks xmlns:a="http://schemas.openxmlformats.org/drawingml/2006/main" noGrp="1"/>
          </p:cNvSpPr>
          <p:nvPr/>
        </p:nvSpPr>
        <p:spPr>
          <a:xfrm xmlns:a="http://schemas.openxmlformats.org/drawingml/2006/main">
            <a:off x="7772400" y="4197096"/>
            <a:ext cx="3779215" cy="1051560"/>
          </a:xfrm>
          <a:prstGeom xmlns:a="http://schemas.openxmlformats.org/drawingml/2006/main" prst="roundRect">
            <a:avLst>
              <a:gd name="adj" fmla="val 5217"/>
            </a:avLst>
          </a:prstGeom>
          <a:solidFill xmlns:a="http://schemas.openxmlformats.org/drawingml/2006/main">
            <a:srgbClr val="F5F8F9"/>
          </a:solidFill>
          <a:ln xmlns:a="http://schemas.openxmlformats.org/drawingml/2006/main" w="12700">
            <a:solidFill>
              <a:srgbClr val="E3E9EC"/>
            </a:solidFill>
            <a:prstDash val="solid"/>
          </a:ln>
        </p:spPr>
      </p:sp>
      <p:sp>
        <p:nvSpPr>
          <p:cNvPr id="20" name="Shape 17">
            <a:extLst xmlns:a="http://schemas.openxmlformats.org/drawingml/2006/main">
              <a:ext uri="{FF2B5EF4-FFF2-40B4-BE49-F238E27FC236}">
                <a16:creationId xmlns:a16="http://schemas.microsoft.com/office/drawing/2014/main" id="{57097830-603D-41B4-A407-13663CD574A5}"/>
              </a:ext>
            </a:extLst>
          </p:cNvPr>
          <p:cNvSpPr>
            <a:spLocks xmlns:a="http://schemas.openxmlformats.org/drawingml/2006/main" noGrp="1"/>
          </p:cNvSpPr>
          <p:nvPr/>
        </p:nvSpPr>
        <p:spPr>
          <a:xfrm xmlns:a="http://schemas.openxmlformats.org/drawingml/2006/main">
            <a:off x="7772400" y="4197096"/>
            <a:ext cx="118872" cy="1051560"/>
          </a:xfrm>
          <a:prstGeom xmlns:a="http://schemas.openxmlformats.org/drawingml/2006/main" prst="rect">
            <a:avLst/>
          </a:prstGeom>
          <a:solidFill xmlns:a="http://schemas.openxmlformats.org/drawingml/2006/main">
            <a:srgbClr val="C25B57"/>
          </a:solidFill>
        </p:spPr>
      </p:sp>
      <p:sp>
        <p:nvSpPr>
          <p:cNvPr id="21" name="Text 18">
            <a:extLst xmlns:a="http://schemas.openxmlformats.org/drawingml/2006/main">
              <a:ext uri="{FF2B5EF4-FFF2-40B4-BE49-F238E27FC236}">
                <a16:creationId xmlns:a16="http://schemas.microsoft.com/office/drawing/2014/main" id="{E0DA4874-B664-4C69-97AD-25C6F5F5F16C}"/>
              </a:ext>
            </a:extLst>
          </p:cNvPr>
          <p:cNvSpPr>
            <a:spLocks xmlns:a="http://schemas.openxmlformats.org/drawingml/2006/main" noGrp="1"/>
          </p:cNvSpPr>
          <p:nvPr/>
        </p:nvSpPr>
        <p:spPr>
          <a:xfrm xmlns:a="http://schemas.openxmlformats.org/drawingml/2006/main">
            <a:off x="8001000" y="4315968"/>
            <a:ext cx="23774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B2A30"/>
                </a:solidFill>
                <a:latin typeface="Arial"/>
                <a:ea typeface="Arial"/>
                <a:cs typeface="Arial"/>
              </a:rPr>
              <a:t>Global Impairment</a:t>
            </a:r>
            <a:endParaRPr sz="1450"/>
          </a:p>
        </p:txBody>
      </p:sp>
      <p:sp>
        <p:nvSpPr>
          <p:cNvPr id="22" name="Text 19">
            <a:extLst xmlns:a="http://schemas.openxmlformats.org/drawingml/2006/main">
              <a:ext uri="{FF2B5EF4-FFF2-40B4-BE49-F238E27FC236}">
                <a16:creationId xmlns:a16="http://schemas.microsoft.com/office/drawing/2014/main" id="{10203ED1-6918-4F67-836C-0020EE172802}"/>
              </a:ext>
            </a:extLst>
          </p:cNvPr>
          <p:cNvSpPr>
            <a:spLocks xmlns:a="http://schemas.openxmlformats.org/drawingml/2006/main" noGrp="1"/>
          </p:cNvSpPr>
          <p:nvPr/>
        </p:nvSpPr>
        <p:spPr>
          <a:xfrm xmlns:a="http://schemas.openxmlformats.org/drawingml/2006/main">
            <a:off x="8001000" y="4700016"/>
            <a:ext cx="23774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3C4A52"/>
                </a:solidFill>
                <a:latin typeface="Arial"/>
                <a:ea typeface="Arial"/>
                <a:cs typeface="Arial"/>
              </a:rPr>
              <a:t>below cohort mean</a:t>
            </a:r>
            <a:endParaRPr sz="1150"/>
          </a:p>
        </p:txBody>
      </p:sp>
      <p:sp>
        <p:nvSpPr>
          <p:cNvPr id="23" name="Text 20">
            <a:extLst xmlns:a="http://schemas.openxmlformats.org/drawingml/2006/main">
              <a:ext uri="{FF2B5EF4-FFF2-40B4-BE49-F238E27FC236}">
                <a16:creationId xmlns:a16="http://schemas.microsoft.com/office/drawing/2014/main" id="{2E8FDF17-6FD9-4EE5-AC25-92B18480E221}"/>
              </a:ext>
            </a:extLst>
          </p:cNvPr>
          <p:cNvSpPr>
            <a:spLocks xmlns:a="http://schemas.openxmlformats.org/drawingml/2006/main" noGrp="1"/>
          </p:cNvSpPr>
          <p:nvPr/>
        </p:nvSpPr>
        <p:spPr>
          <a:xfrm xmlns:a="http://schemas.openxmlformats.org/drawingml/2006/main">
            <a:off x="10332720" y="4379976"/>
            <a:ext cx="118872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2000" b="1">
                <a:solidFill>
                  <a:srgbClr val="C25B57"/>
                </a:solidFill>
                <a:latin typeface="Arial"/>
                <a:ea typeface="Arial"/>
                <a:cs typeface="Arial"/>
              </a:rPr>
              <a:t>4,353</a:t>
            </a:r>
            <a:endParaRPr sz="2000"/>
          </a:p>
        </p:txBody>
      </p:sp>
      <p:sp>
        <p:nvSpPr>
          <p:cNvPr id="24" name="Text 21">
            <a:extLst xmlns:a="http://schemas.openxmlformats.org/drawingml/2006/main">
              <a:ext uri="{FF2B5EF4-FFF2-40B4-BE49-F238E27FC236}">
                <a16:creationId xmlns:a16="http://schemas.microsoft.com/office/drawing/2014/main" id="{3CF17379-E027-4083-9C9A-B3FE2F70DE6F}"/>
              </a:ext>
            </a:extLst>
          </p:cNvPr>
          <p:cNvSpPr>
            <a:spLocks xmlns:a="http://schemas.openxmlformats.org/drawingml/2006/main" noGrp="1"/>
          </p:cNvSpPr>
          <p:nvPr/>
        </p:nvSpPr>
        <p:spPr>
          <a:xfrm xmlns:a="http://schemas.openxmlformats.org/drawingml/2006/main">
            <a:off x="640080" y="5897880"/>
            <a:ext cx="1091153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2000"/>
              </a:lnSpc>
              <a:buNone/>
            </a:pPr>
            <a:r>
              <a:rPr sz="1150" i="1">
                <a:solidFill>
                  <a:srgbClr val="7C8A94"/>
                </a:solidFill>
                <a:latin typeface="Arial"/>
                <a:ea typeface="Arial"/>
                <a:cs typeface="Arial"/>
              </a:rPr>
              <a:t>All 10 methods meet the selected embedding thresholds. MICE silhouette ≈ 0.53 after reassignment; k = 3. Discrete phenotypes remain unconfirmed.</a:t>
            </a:r>
            <a:endParaRPr sz="1150"/>
          </a:p>
        </p:txBody>
      </p:sp>
    </p:spTree>
    <p:extLst>
      <p:ext uri="{BB962C8B-B14F-4D97-AF65-F5344CB8AC3E}">
        <p14:creationId xmlns:p14="http://schemas.microsoft.com/office/powerpoint/2010/main" val="10171314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FF4578-80CB-49F8-B1A5-173219033CF6}"/>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INTERPRETATION · H1</a:t>
            </a:r>
            <a:endParaRPr sz="1150"/>
          </a:p>
        </p:txBody>
      </p:sp>
      <p:sp>
        <p:nvSpPr>
          <p:cNvPr id="3" name="Text 1">
            <a:extLst xmlns:a="http://schemas.openxmlformats.org/drawingml/2006/main">
              <a:ext uri="{FF2B5EF4-FFF2-40B4-BE49-F238E27FC236}">
                <a16:creationId xmlns:a16="http://schemas.microsoft.com/office/drawing/2014/main" id="{1E283DE7-12CD-4192-BBA3-E5A502E7CD78}"/>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Continuum evidence: level, not shape</a:t>
            </a:r>
            <a:endParaRPr sz="2600"/>
          </a:p>
        </p:txBody>
      </p:sp>
      <p:sp>
        <p:nvSpPr>
          <p:cNvPr id="4" name="Shape 2">
            <a:extLst xmlns:a="http://schemas.openxmlformats.org/drawingml/2006/main">
              <a:ext uri="{FF2B5EF4-FFF2-40B4-BE49-F238E27FC236}">
                <a16:creationId xmlns:a16="http://schemas.microsoft.com/office/drawing/2014/main" id="{1B6977EE-8C72-4DEF-B393-A65635427BA5}"/>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811A8916-A9CA-4A9D-AB33-11701332DA31}"/>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0B9E6C19-125D-46A4-B02D-66F2B8DD2F2D}"/>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420246E8-907F-49CA-BAAE-60F2E916ADFE}"/>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12</a:t>
            </a:r>
            <a:endParaRPr sz="900"/>
          </a:p>
        </p:txBody>
      </p:sp>
      <p:pic>
        <p:nvPicPr>
          <p:cNvPr id="8" name="Image 0">
            <a:extLst xmlns:a="http://schemas.openxmlformats.org/drawingml/2006/main">
              <a:ext uri="{FF2B5EF4-FFF2-40B4-BE49-F238E27FC236}">
                <a16:creationId xmlns:a16="http://schemas.microsoft.com/office/drawing/2014/main" id="{E4BEFBF1-7049-4608-BA94-FF088117DDE5}"/>
              </a:ext>
            </a:extLst>
          </p:cNvPr>
          <p:cNvPicPr>
            <a:picLocks xmlns:a="http://schemas.openxmlformats.org/drawingml/2006/main" noChangeAspect="1"/>
          </p:cNvPicPr>
          <p:nvPr/>
        </p:nvPicPr>
        <p:blipFill>
          <a:blip xmlns:r="http://schemas.openxmlformats.org/officeDocument/2006/relationships" xmlns:a="http://schemas.openxmlformats.org/drawingml/2006/main" r:embed="R0c630c4e243745de"/>
          <a:stretch xmlns:a="http://schemas.openxmlformats.org/drawingml/2006/main">
            <a:fillRect l="0" t="0" r="0" b="0"/>
          </a:stretch>
        </p:blipFill>
        <p:spPr>
          <a:xfrm xmlns:a="http://schemas.openxmlformats.org/drawingml/2006/main">
            <a:off x="640080" y="2362012"/>
            <a:ext cx="6675120" cy="2956935"/>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A4E2E094-1E5E-411B-9687-6E734988981B}"/>
              </a:ext>
            </a:extLst>
          </p:cNvPr>
          <p:cNvSpPr>
            <a:spLocks xmlns:a="http://schemas.openxmlformats.org/drawingml/2006/main" noGrp="1"/>
          </p:cNvSpPr>
          <p:nvPr/>
        </p:nvSpPr>
        <p:spPr>
          <a:xfrm xmlns:a="http://schemas.openxmlformats.org/drawingml/2006/main">
            <a:off x="7498080" y="1737360"/>
            <a:ext cx="4053535" cy="4114800"/>
          </a:xfrm>
          <a:prstGeom xmlns:a="http://schemas.openxmlformats.org/drawingml/2006/main" prst="roundRect">
            <a:avLst>
              <a:gd name="adj" fmla="val 1805"/>
            </a:avLst>
          </a:prstGeom>
          <a:solidFill xmlns:a="http://schemas.openxmlformats.org/drawingml/2006/main">
            <a:srgbClr val="F5F8F9"/>
          </a:solidFill>
          <a:ln xmlns:a="http://schemas.openxmlformats.org/drawingml/2006/main" w="12700">
            <a:solidFill>
              <a:srgbClr val="E3E9EC"/>
            </a:solidFill>
            <a:prstDash val="solid"/>
          </a:ln>
        </p:spPr>
      </p:sp>
      <p:sp>
        <p:nvSpPr>
          <p:cNvPr id="10" name="Text 7">
            <a:extLst xmlns:a="http://schemas.openxmlformats.org/drawingml/2006/main">
              <a:ext uri="{FF2B5EF4-FFF2-40B4-BE49-F238E27FC236}">
                <a16:creationId xmlns:a16="http://schemas.microsoft.com/office/drawing/2014/main" id="{B80CBBD6-92FF-41FD-B8FD-FC3BDA64F717}"/>
              </a:ext>
            </a:extLst>
          </p:cNvPr>
          <p:cNvSpPr>
            <a:spLocks xmlns:a="http://schemas.openxmlformats.org/drawingml/2006/main" noGrp="1"/>
          </p:cNvSpPr>
          <p:nvPr/>
        </p:nvSpPr>
        <p:spPr>
          <a:xfrm xmlns:a="http://schemas.openxmlformats.org/drawingml/2006/main">
            <a:off x="7726680" y="1920240"/>
            <a:ext cx="35661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1707A"/>
                </a:solidFill>
                <a:latin typeface="Arial"/>
                <a:ea typeface="Arial"/>
                <a:cs typeface="Arial"/>
              </a:rPr>
              <a:t>PC1</a:t>
            </a:r>
            <a:endParaRPr sz="1600"/>
          </a:p>
        </p:txBody>
      </p:sp>
      <p:sp>
        <p:nvSpPr>
          <p:cNvPr id="11" name="Text 8">
            <a:extLst xmlns:a="http://schemas.openxmlformats.org/drawingml/2006/main">
              <a:ext uri="{FF2B5EF4-FFF2-40B4-BE49-F238E27FC236}">
                <a16:creationId xmlns:a16="http://schemas.microsoft.com/office/drawing/2014/main" id="{B9BC3398-5F4E-42D7-83E8-ADE08EC03F20}"/>
              </a:ext>
            </a:extLst>
          </p:cNvPr>
          <p:cNvSpPr>
            <a:spLocks xmlns:a="http://schemas.openxmlformats.org/drawingml/2006/main" noGrp="1"/>
          </p:cNvSpPr>
          <p:nvPr/>
        </p:nvSpPr>
        <p:spPr>
          <a:xfrm xmlns:a="http://schemas.openxmlformats.org/drawingml/2006/main">
            <a:off x="7726680" y="2286000"/>
            <a:ext cx="356616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400" b="1">
                <a:solidFill>
                  <a:srgbClr val="1B2A30"/>
                </a:solidFill>
                <a:latin typeface="Arial"/>
                <a:ea typeface="Arial"/>
                <a:cs typeface="Arial"/>
              </a:rPr>
              <a:t>≈ 56%</a:t>
            </a:r>
            <a:endParaRPr sz="3400"/>
          </a:p>
        </p:txBody>
      </p:sp>
      <p:sp>
        <p:nvSpPr>
          <p:cNvPr id="12" name="Text 9">
            <a:extLst xmlns:a="http://schemas.openxmlformats.org/drawingml/2006/main">
              <a:ext uri="{FF2B5EF4-FFF2-40B4-BE49-F238E27FC236}">
                <a16:creationId xmlns:a16="http://schemas.microsoft.com/office/drawing/2014/main" id="{FDE71521-DFC3-4E61-9A01-745F7B869ABC}"/>
              </a:ext>
            </a:extLst>
          </p:cNvPr>
          <p:cNvSpPr>
            <a:spLocks xmlns:a="http://schemas.openxmlformats.org/drawingml/2006/main" noGrp="1"/>
          </p:cNvSpPr>
          <p:nvPr/>
        </p:nvSpPr>
        <p:spPr>
          <a:xfrm xmlns:a="http://schemas.openxmlformats.org/drawingml/2006/main">
            <a:off x="7726680" y="2926080"/>
            <a:ext cx="35661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3C4A52"/>
                </a:solidFill>
                <a:latin typeface="Arial"/>
                <a:ea typeface="Arial"/>
                <a:cs typeface="Arial"/>
              </a:rPr>
              <a:t>of variance — one dominant axis</a:t>
            </a:r>
            <a:endParaRPr sz="1250"/>
          </a:p>
        </p:txBody>
      </p:sp>
      <p:sp>
        <p:nvSpPr>
          <p:cNvPr id="13" name="Shape 10">
            <a:extLst xmlns:a="http://schemas.openxmlformats.org/drawingml/2006/main">
              <a:ext uri="{FF2B5EF4-FFF2-40B4-BE49-F238E27FC236}">
                <a16:creationId xmlns:a16="http://schemas.microsoft.com/office/drawing/2014/main" id="{856BF9B7-C1CF-4328-9953-A2ED768E2CDA}"/>
              </a:ext>
            </a:extLst>
          </p:cNvPr>
          <p:cNvSpPr>
            <a:spLocks xmlns:a="http://schemas.openxmlformats.org/drawingml/2006/main" noGrp="1"/>
          </p:cNvSpPr>
          <p:nvPr/>
        </p:nvSpPr>
        <p:spPr>
          <a:xfrm xmlns:a="http://schemas.openxmlformats.org/drawingml/2006/main">
            <a:off x="7726680" y="3520440"/>
            <a:ext cx="3566160"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14" name="Text 11">
            <a:extLst xmlns:a="http://schemas.openxmlformats.org/drawingml/2006/main">
              <a:ext uri="{FF2B5EF4-FFF2-40B4-BE49-F238E27FC236}">
                <a16:creationId xmlns:a16="http://schemas.microsoft.com/office/drawing/2014/main" id="{99B25A72-31ED-4316-97C0-5B64A710A7AA}"/>
              </a:ext>
            </a:extLst>
          </p:cNvPr>
          <p:cNvSpPr>
            <a:spLocks xmlns:a="http://schemas.openxmlformats.org/drawingml/2006/main" noGrp="1"/>
          </p:cNvSpPr>
          <p:nvPr/>
        </p:nvSpPr>
        <p:spPr>
          <a:xfrm xmlns:a="http://schemas.openxmlformats.org/drawingml/2006/main">
            <a:off x="7726680" y="3657600"/>
            <a:ext cx="3566160" cy="26289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800"/>
              </a:spcAft>
              <a:buSzPct val="100000"/>
              <a:buChar char="•"/>
            </a:pPr>
            <a:r>
              <a:rPr sz="1250">
                <a:solidFill>
                  <a:srgbClr val="3C4A52"/>
                </a:solidFill>
                <a:latin typeface="Arial"/>
                <a:ea typeface="Arial"/>
                <a:cs typeface="Arial"/>
              </a:rPr>
              <a:t>Radar profiles are roughly concentric.</a:t>
            </a:r>
            <a:endParaRPr sz="1250"/>
          </a:p>
          <a:p xmlns:a="http://schemas.openxmlformats.org/drawingml/2006/main">
            <a:pPr marL="203200" indent="-203200">
              <a:lnSpc>
                <a:spcPct val="122000"/>
              </a:lnSpc>
              <a:spcAft>
                <a:spcPts val="800"/>
              </a:spcAft>
              <a:buSzPct val="100000"/>
              <a:buChar char="•"/>
            </a:pPr>
            <a:r>
              <a:rPr sz="1250">
                <a:solidFill>
                  <a:srgbClr val="3C4A52"/>
                </a:solidFill>
                <a:latin typeface="Arial"/>
                <a:ea typeface="Arial"/>
                <a:cs typeface="Arial"/>
              </a:rPr>
              <a:t>All domains move in the same direction.</a:t>
            </a:r>
            <a:endParaRPr sz="1250"/>
          </a:p>
          <a:p xmlns:a="http://schemas.openxmlformats.org/drawingml/2006/main">
            <a:pPr marL="203200" indent="-203200">
              <a:lnSpc>
                <a:spcPct val="122000"/>
              </a:lnSpc>
              <a:spcAft>
                <a:spcPts val="800"/>
              </a:spcAft>
              <a:buSzPct val="100000"/>
              <a:buChar char="•"/>
            </a:pPr>
            <a:r>
              <a:rPr sz="1250">
                <a:solidFill>
                  <a:srgbClr val="3C4A52"/>
                </a:solidFill>
                <a:latin typeface="Arial"/>
                <a:ea typeface="Arial"/>
                <a:cs typeface="Arial"/>
              </a:rPr>
              <a:t>All domains load positively on PC1.</a:t>
            </a:r>
            <a:endParaRPr sz="1250"/>
          </a:p>
          <a:p xmlns:a="http://schemas.openxmlformats.org/drawingml/2006/main">
            <a:pPr marL="203200" indent="-203200">
              <a:lnSpc>
                <a:spcPct val="122000"/>
              </a:lnSpc>
              <a:spcAft>
                <a:spcPts val="800"/>
              </a:spcAft>
              <a:buSzPct val="100000"/>
              <a:buChar char="•"/>
            </a:pPr>
            <a:r>
              <a:rPr sz="1250">
                <a:solidFill>
                  <a:srgbClr val="3C4A52"/>
                </a:solidFill>
                <a:latin typeface="Arial"/>
                <a:ea typeface="Arial"/>
                <a:cs typeface="Arial"/>
              </a:rPr>
              <a:t>Signal = global severity, not dissociation.</a:t>
            </a:r>
            <a:endParaRPr sz="1250"/>
          </a:p>
        </p:txBody>
      </p:sp>
    </p:spTree>
    <p:extLst>
      <p:ext uri="{BB962C8B-B14F-4D97-AF65-F5344CB8AC3E}">
        <p14:creationId xmlns:p14="http://schemas.microsoft.com/office/powerpoint/2010/main" val="158946449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89EE31-6838-4F34-B8D9-0EC1E0523AA9}"/>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RESULT · H2</a:t>
            </a:r>
            <a:endParaRPr sz="1150"/>
          </a:p>
        </p:txBody>
      </p:sp>
      <p:sp>
        <p:nvSpPr>
          <p:cNvPr id="3" name="Text 1">
            <a:extLst xmlns:a="http://schemas.openxmlformats.org/drawingml/2006/main">
              <a:ext uri="{FF2B5EF4-FFF2-40B4-BE49-F238E27FC236}">
                <a16:creationId xmlns:a16="http://schemas.microsoft.com/office/drawing/2014/main" id="{1E302B97-6C54-4295-9285-6DCCB568CC73}"/>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Robust across imputation methods</a:t>
            </a:r>
            <a:endParaRPr sz="2600"/>
          </a:p>
        </p:txBody>
      </p:sp>
      <p:sp>
        <p:nvSpPr>
          <p:cNvPr id="4" name="Shape 2">
            <a:extLst xmlns:a="http://schemas.openxmlformats.org/drawingml/2006/main">
              <a:ext uri="{FF2B5EF4-FFF2-40B4-BE49-F238E27FC236}">
                <a16:creationId xmlns:a16="http://schemas.microsoft.com/office/drawing/2014/main" id="{C6AA1D59-5A69-49F6-AD77-32F69D7D4FB3}"/>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00A9C78E-0AB9-48A0-85D7-572F758B831C}"/>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932A2505-FAC7-4F40-A207-005CDF6015D0}"/>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4FC14316-0FCC-4B81-91B9-D98B05FD1FFE}"/>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13</a:t>
            </a:r>
            <a:endParaRPr sz="900"/>
          </a:p>
        </p:txBody>
      </p:sp>
      <p:pic>
        <p:nvPicPr>
          <p:cNvPr id="8" name="Image 0">
            <a:extLst xmlns:a="http://schemas.openxmlformats.org/drawingml/2006/main">
              <a:ext uri="{FF2B5EF4-FFF2-40B4-BE49-F238E27FC236}">
                <a16:creationId xmlns:a16="http://schemas.microsoft.com/office/drawing/2014/main" id="{9F8F0E6F-3716-4D1D-A43C-7E2DC56D9A13}"/>
              </a:ext>
            </a:extLst>
          </p:cNvPr>
          <p:cNvPicPr>
            <a:picLocks xmlns:a="http://schemas.openxmlformats.org/drawingml/2006/main" noChangeAspect="1"/>
          </p:cNvPicPr>
          <p:nvPr/>
        </p:nvPicPr>
        <p:blipFill>
          <a:blip xmlns:r="http://schemas.openxmlformats.org/officeDocument/2006/relationships" xmlns:a="http://schemas.openxmlformats.org/drawingml/2006/main" r:embed="Rcbcbb18dcfa84586"/>
          <a:stretch xmlns:a="http://schemas.openxmlformats.org/drawingml/2006/main">
            <a:fillRect l="0" t="0" r="0" b="0"/>
          </a:stretch>
        </p:blipFill>
        <p:spPr>
          <a:xfrm xmlns:a="http://schemas.openxmlformats.org/drawingml/2006/main">
            <a:off x="1540014" y="1600200"/>
            <a:ext cx="5149571" cy="452628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8458AB7E-704A-4174-ABDD-E1370E33875D}"/>
              </a:ext>
            </a:extLst>
          </p:cNvPr>
          <p:cNvSpPr>
            <a:spLocks xmlns:a="http://schemas.openxmlformats.org/drawingml/2006/main" noGrp="1"/>
          </p:cNvSpPr>
          <p:nvPr/>
        </p:nvSpPr>
        <p:spPr>
          <a:xfrm xmlns:a="http://schemas.openxmlformats.org/drawingml/2006/main">
            <a:off x="640080" y="5989320"/>
            <a:ext cx="69494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i="1">
                <a:solidFill>
                  <a:srgbClr val="7C8A94"/>
                </a:solidFill>
                <a:latin typeface="Arial"/>
                <a:ea typeface="Arial"/>
                <a:cs typeface="Arial"/>
              </a:rPr>
              <a:t>Pairwise ARI across all ten imputation methods</a:t>
            </a:r>
            <a:endParaRPr sz="1050"/>
          </a:p>
        </p:txBody>
      </p:sp>
      <p:sp>
        <p:nvSpPr>
          <p:cNvPr id="10" name="Text 7">
            <a:extLst xmlns:a="http://schemas.openxmlformats.org/drawingml/2006/main">
              <a:ext uri="{FF2B5EF4-FFF2-40B4-BE49-F238E27FC236}">
                <a16:creationId xmlns:a16="http://schemas.microsoft.com/office/drawing/2014/main" id="{909DC4E4-A514-467C-ADC3-38E2AE43EC9B}"/>
              </a:ext>
            </a:extLst>
          </p:cNvPr>
          <p:cNvSpPr>
            <a:spLocks xmlns:a="http://schemas.openxmlformats.org/drawingml/2006/main" noGrp="1"/>
          </p:cNvSpPr>
          <p:nvPr/>
        </p:nvSpPr>
        <p:spPr>
          <a:xfrm xmlns:a="http://schemas.openxmlformats.org/drawingml/2006/main">
            <a:off x="7726680" y="1783080"/>
            <a:ext cx="38249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1707A"/>
                </a:solidFill>
                <a:latin typeface="Arial"/>
                <a:ea typeface="Arial"/>
                <a:cs typeface="Arial"/>
              </a:rPr>
              <a:t>0.71</a:t>
            </a:r>
            <a:endParaRPr sz="3000"/>
          </a:p>
        </p:txBody>
      </p:sp>
      <p:sp>
        <p:nvSpPr>
          <p:cNvPr id="11" name="Text 8">
            <a:extLst xmlns:a="http://schemas.openxmlformats.org/drawingml/2006/main">
              <a:ext uri="{FF2B5EF4-FFF2-40B4-BE49-F238E27FC236}">
                <a16:creationId xmlns:a16="http://schemas.microsoft.com/office/drawing/2014/main" id="{865F929A-FCE8-4A2A-8106-41F596AE952C}"/>
              </a:ext>
            </a:extLst>
          </p:cNvPr>
          <p:cNvSpPr>
            <a:spLocks xmlns:a="http://schemas.openxmlformats.org/drawingml/2006/main" noGrp="1"/>
          </p:cNvSpPr>
          <p:nvPr/>
        </p:nvSpPr>
        <p:spPr>
          <a:xfrm xmlns:a="http://schemas.openxmlformats.org/drawingml/2006/main">
            <a:off x="7726680" y="2350008"/>
            <a:ext cx="3824935"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7C8A94"/>
                </a:solidFill>
                <a:latin typeface="Arial"/>
                <a:ea typeface="Arial"/>
                <a:cs typeface="Arial"/>
              </a:rPr>
              <a:t>mean ARI · assessment-bootstrap 95% interval 0.702–0.717</a:t>
            </a:r>
            <a:endParaRPr sz="1150"/>
          </a:p>
        </p:txBody>
      </p:sp>
      <p:sp>
        <p:nvSpPr>
          <p:cNvPr id="12" name="Shape 9">
            <a:extLst xmlns:a="http://schemas.openxmlformats.org/drawingml/2006/main">
              <a:ext uri="{FF2B5EF4-FFF2-40B4-BE49-F238E27FC236}">
                <a16:creationId xmlns:a16="http://schemas.microsoft.com/office/drawing/2014/main" id="{7F304436-C3BD-4553-88C7-B9BFB62E0917}"/>
              </a:ext>
            </a:extLst>
          </p:cNvPr>
          <p:cNvSpPr>
            <a:spLocks xmlns:a="http://schemas.openxmlformats.org/drawingml/2006/main" noGrp="1"/>
          </p:cNvSpPr>
          <p:nvPr/>
        </p:nvSpPr>
        <p:spPr>
          <a:xfrm xmlns:a="http://schemas.openxmlformats.org/drawingml/2006/main">
            <a:off x="7726680" y="2971800"/>
            <a:ext cx="38249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13" name="Text 10">
            <a:extLst xmlns:a="http://schemas.openxmlformats.org/drawingml/2006/main">
              <a:ext uri="{FF2B5EF4-FFF2-40B4-BE49-F238E27FC236}">
                <a16:creationId xmlns:a16="http://schemas.microsoft.com/office/drawing/2014/main" id="{5223274C-947A-4B49-AE75-F7CB4F78A734}"/>
              </a:ext>
            </a:extLst>
          </p:cNvPr>
          <p:cNvSpPr>
            <a:spLocks xmlns:a="http://schemas.openxmlformats.org/drawingml/2006/main" noGrp="1"/>
          </p:cNvSpPr>
          <p:nvPr/>
        </p:nvSpPr>
        <p:spPr>
          <a:xfrm xmlns:a="http://schemas.openxmlformats.org/drawingml/2006/main">
            <a:off x="7726680" y="3154680"/>
            <a:ext cx="3824935"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400" b="1">
                <a:solidFill>
                  <a:srgbClr val="1B2A30"/>
                </a:solidFill>
                <a:latin typeface="Arial"/>
                <a:ea typeface="Arial"/>
                <a:cs typeface="Arial"/>
              </a:rPr>
              <a:t>44 / 45</a:t>
            </a:r>
            <a:endParaRPr sz="2400"/>
          </a:p>
        </p:txBody>
      </p:sp>
      <p:sp>
        <p:nvSpPr>
          <p:cNvPr id="14" name="Text 11">
            <a:extLst xmlns:a="http://schemas.openxmlformats.org/drawingml/2006/main">
              <a:ext uri="{FF2B5EF4-FFF2-40B4-BE49-F238E27FC236}">
                <a16:creationId xmlns:a16="http://schemas.microsoft.com/office/drawing/2014/main" id="{90827AA0-05FE-44C7-8892-5061A5CE30EB}"/>
              </a:ext>
            </a:extLst>
          </p:cNvPr>
          <p:cNvSpPr>
            <a:spLocks xmlns:a="http://schemas.openxmlformats.org/drawingml/2006/main" noGrp="1"/>
          </p:cNvSpPr>
          <p:nvPr/>
        </p:nvSpPr>
        <p:spPr>
          <a:xfrm xmlns:a="http://schemas.openxmlformats.org/drawingml/2006/main">
            <a:off x="7726680" y="3611880"/>
            <a:ext cx="3824935"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7C8A94"/>
                </a:solidFill>
                <a:latin typeface="Arial"/>
                <a:ea typeface="Arial"/>
                <a:cs typeface="Arial"/>
              </a:rPr>
              <a:t>method pairs survive Holm correction</a:t>
            </a:r>
            <a:endParaRPr sz="1150"/>
          </a:p>
        </p:txBody>
      </p:sp>
      <p:sp>
        <p:nvSpPr>
          <p:cNvPr id="15" name="Text 12">
            <a:extLst xmlns:a="http://schemas.openxmlformats.org/drawingml/2006/main">
              <a:ext uri="{FF2B5EF4-FFF2-40B4-BE49-F238E27FC236}">
                <a16:creationId xmlns:a16="http://schemas.microsoft.com/office/drawing/2014/main" id="{0DB6A93D-2A83-4BAC-A8B9-F542F80D6B3E}"/>
              </a:ext>
            </a:extLst>
          </p:cNvPr>
          <p:cNvSpPr>
            <a:spLocks xmlns:a="http://schemas.openxmlformats.org/drawingml/2006/main" noGrp="1"/>
          </p:cNvSpPr>
          <p:nvPr/>
        </p:nvSpPr>
        <p:spPr>
          <a:xfrm xmlns:a="http://schemas.openxmlformats.org/drawingml/2006/main">
            <a:off x="7726680" y="4206240"/>
            <a:ext cx="3824935"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400" b="1">
                <a:solidFill>
                  <a:srgbClr val="1B2A30"/>
                </a:solidFill>
                <a:latin typeface="Arial"/>
                <a:ea typeface="Arial"/>
                <a:cs typeface="Arial"/>
              </a:rPr>
              <a:t>&gt; 86%</a:t>
            </a:r>
            <a:endParaRPr sz="2400"/>
          </a:p>
        </p:txBody>
      </p:sp>
      <p:sp>
        <p:nvSpPr>
          <p:cNvPr id="16" name="Text 13">
            <a:extLst xmlns:a="http://schemas.openxmlformats.org/drawingml/2006/main">
              <a:ext uri="{FF2B5EF4-FFF2-40B4-BE49-F238E27FC236}">
                <a16:creationId xmlns:a16="http://schemas.microsoft.com/office/drawing/2014/main" id="{6D09ACE8-E06A-467E-8753-99C1160BB3A6}"/>
              </a:ext>
            </a:extLst>
          </p:cNvPr>
          <p:cNvSpPr>
            <a:spLocks xmlns:a="http://schemas.openxmlformats.org/drawingml/2006/main" noGrp="1"/>
          </p:cNvSpPr>
          <p:nvPr/>
        </p:nvSpPr>
        <p:spPr>
          <a:xfrm xmlns:a="http://schemas.openxmlformats.org/drawingml/2006/main">
            <a:off x="7726680" y="4663440"/>
            <a:ext cx="3824935"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7C8A94"/>
                </a:solidFill>
                <a:latin typeface="Arial"/>
                <a:ea typeface="Arial"/>
                <a:cs typeface="Arial"/>
              </a:rPr>
              <a:t>assessments with at least 80% assignment agreement</a:t>
            </a:r>
            <a:endParaRPr sz="1150"/>
          </a:p>
        </p:txBody>
      </p:sp>
      <p:sp>
        <p:nvSpPr>
          <p:cNvPr id="17" name="Text 14">
            <a:extLst xmlns:a="http://schemas.openxmlformats.org/drawingml/2006/main">
              <a:ext uri="{FF2B5EF4-FFF2-40B4-BE49-F238E27FC236}">
                <a16:creationId xmlns:a16="http://schemas.microsoft.com/office/drawing/2014/main" id="{08656A2F-06A0-4722-80D9-DF64F087E424}"/>
              </a:ext>
            </a:extLst>
          </p:cNvPr>
          <p:cNvSpPr>
            <a:spLocks xmlns:a="http://schemas.openxmlformats.org/drawingml/2006/main" noGrp="1"/>
          </p:cNvSpPr>
          <p:nvPr/>
        </p:nvSpPr>
        <p:spPr>
          <a:xfrm xmlns:a="http://schemas.openxmlformats.org/drawingml/2006/main">
            <a:off x="7726680" y="5349240"/>
            <a:ext cx="3824935"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100" i="1">
                <a:solidFill>
                  <a:srgbClr val="7C8A94"/>
                </a:solidFill>
                <a:latin typeface="Arial"/>
                <a:ea typeface="Arial"/>
                <a:cs typeface="Arial"/>
              </a:rPr>
              <a:t>Scope: point assignments are robust under a fixed scaler, embedding and partition — not full invariance of independently re-fit pipelines.</a:t>
            </a:r>
            <a:endParaRPr sz="1100"/>
          </a:p>
        </p:txBody>
      </p:sp>
    </p:spTree>
    <p:extLst>
      <p:ext uri="{BB962C8B-B14F-4D97-AF65-F5344CB8AC3E}">
        <p14:creationId xmlns:p14="http://schemas.microsoft.com/office/powerpoint/2010/main" val="4173273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E7F79C-E182-43E4-8265-5DEEA97D74CE}"/>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RESULT · H2</a:t>
            </a:r>
            <a:endParaRPr sz="1150"/>
          </a:p>
        </p:txBody>
      </p:sp>
      <p:sp>
        <p:nvSpPr>
          <p:cNvPr id="3" name="Text 1">
            <a:extLst xmlns:a="http://schemas.openxmlformats.org/drawingml/2006/main">
              <a:ext uri="{FF2B5EF4-FFF2-40B4-BE49-F238E27FC236}">
                <a16:creationId xmlns:a16="http://schemas.microsoft.com/office/drawing/2014/main" id="{16B02B4B-98D5-40E6-A7FD-96E30756EE21}"/>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Complete-case analysis changes the answer</a:t>
            </a:r>
            <a:endParaRPr sz="2600"/>
          </a:p>
        </p:txBody>
      </p:sp>
      <p:sp>
        <p:nvSpPr>
          <p:cNvPr id="4" name="Shape 2">
            <a:extLst xmlns:a="http://schemas.openxmlformats.org/drawingml/2006/main">
              <a:ext uri="{FF2B5EF4-FFF2-40B4-BE49-F238E27FC236}">
                <a16:creationId xmlns:a16="http://schemas.microsoft.com/office/drawing/2014/main" id="{7E687A91-DEE6-4A57-B9DF-BB07EBE434CF}"/>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4A43FA31-6696-49DE-996B-2150E8996BCE}"/>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F2821E9D-51FA-4CA3-B022-0A9511626103}"/>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E80D5828-7804-489A-A077-8CBBB12D609C}"/>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14</a:t>
            </a:r>
            <a:endParaRPr sz="900"/>
          </a:p>
        </p:txBody>
      </p:sp>
      <p:graphicFrame>
        <p:nvGraphicFramePr>
          <p:cNvPr id="16" name="Table 0">
            <a:extLst xmlns:a="http://schemas.openxmlformats.org/drawingml/2006/main">
              <a:ext uri="{FF2B5EF4-FFF2-40B4-BE49-F238E27FC236}">
                <a16:creationId xmlns:a16="http://schemas.microsoft.com/office/drawing/2014/main" id="{ABBAF2C9-53B1-4A7C-B72B-5135D1403847}"/>
              </a:ext>
            </a:extLst>
          </p:cNvPr>
          <p:cNvGraphicFramePr/>
          <p:nvPr/>
        </p:nvGraphicFramePr>
        <p:xfrm>
          <a:off xmlns:a="http://schemas.openxmlformats.org/drawingml/2006/main" x="640080" y="1783080"/>
          <a:ext xmlns:a="http://schemas.openxmlformats.org/drawingml/2006/main" cx="6949440" cy="3063240"/>
        </p:xfrm>
        <a:graphic xmlns:a="http://schemas.openxmlformats.org/drawingml/2006/main">
          <a:graphicData uri="http://schemas.openxmlformats.org/drawingml/2006/table">
            <a:tbl>
              <a:tblPr/>
              <a:tblGrid>
                <a:gridCol w="3108960"/>
                <a:gridCol w="1920240"/>
                <a:gridCol w="1920240"/>
              </a:tblGrid>
              <a:tr h="502920">
                <a:tc>
                  <a:txBody>
                    <a:bodyPr/>
                    <a:lstStyle/>
                    <a:p>
                      <a:pPr marL="0" indent="0" algn="ctr">
                        <a:buNone/>
                      </a:pP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ctr">
                        <a:buNone/>
                      </a:pPr>
                      <a:r>
                        <a:rPr sz="1400" b="1">
                          <a:solidFill>
                            <a:srgbClr val="FFFFFF"/>
                          </a:solidFill>
                          <a:latin typeface="Arial"/>
                          <a:ea typeface="Arial"/>
                          <a:cs typeface="Arial"/>
                        </a:rPr>
                        <a:t>MICE reference</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11707A"/>
                    </a:solidFill>
                  </a:tcPr>
                </a:tc>
                <a:tc>
                  <a:txBody>
                    <a:bodyPr/>
                    <a:lstStyle/>
                    <a:p>
                      <a:pPr marL="0" indent="0" algn="ctr">
                        <a:buNone/>
                      </a:pPr>
                      <a:r>
                        <a:rPr sz="1400" b="1">
                          <a:solidFill>
                            <a:srgbClr val="FFFFFF"/>
                          </a:solidFill>
                          <a:latin typeface="Arial"/>
                          <a:ea typeface="Arial"/>
                          <a:cs typeface="Arial"/>
                        </a:rPr>
                        <a:t>Complete-case</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C25B57"/>
                    </a:solidFill>
                  </a:tcPr>
                </a:tc>
              </a:tr>
              <a:tr h="640080">
                <a:tc>
                  <a:txBody>
                    <a:bodyPr/>
                    <a:lstStyle/>
                    <a:p>
                      <a:pPr marL="0" indent="0" algn="ctr">
                        <a:buNone/>
                      </a:pPr>
                      <a:r>
                        <a:rPr sz="1400">
                          <a:solidFill>
                            <a:srgbClr val="3C4A52"/>
                          </a:solidFill>
                          <a:latin typeface="Arial"/>
                          <a:ea typeface="Arial"/>
                          <a:cs typeface="Arial"/>
                        </a:rPr>
                        <a:t>Assessments retained</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ctr">
                        <a:buNone/>
                      </a:pPr>
                      <a:r>
                        <a:rPr sz="1400">
                          <a:solidFill>
                            <a:srgbClr val="3C4A52"/>
                          </a:solidFill>
                          <a:latin typeface="Arial"/>
                          <a:ea typeface="Arial"/>
                          <a:cs typeface="Arial"/>
                        </a:rPr>
                        <a:t>100%</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ctr">
                        <a:buNone/>
                      </a:pPr>
                      <a:r>
                        <a:rPr sz="1400">
                          <a:solidFill>
                            <a:srgbClr val="3C4A52"/>
                          </a:solidFill>
                          <a:latin typeface="Arial"/>
                          <a:ea typeface="Arial"/>
                          <a:cs typeface="Arial"/>
                        </a:rPr>
                        <a:t>53.1%</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640080">
                <a:tc>
                  <a:txBody>
                    <a:bodyPr/>
                    <a:lstStyle/>
                    <a:p>
                      <a:pPr marL="0" indent="0" algn="ctr">
                        <a:buNone/>
                      </a:pPr>
                      <a:r>
                        <a:rPr sz="1400">
                          <a:solidFill>
                            <a:srgbClr val="3C4A52"/>
                          </a:solidFill>
                          <a:latin typeface="Arial"/>
                          <a:ea typeface="Arial"/>
                          <a:cs typeface="Arial"/>
                        </a:rPr>
                        <a:t>Tiers recovered</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ctr">
                        <a:buNone/>
                      </a:pPr>
                      <a:r>
                        <a:rPr sz="1400">
                          <a:solidFill>
                            <a:srgbClr val="3C4A52"/>
                          </a:solidFill>
                          <a:latin typeface="Arial"/>
                          <a:ea typeface="Arial"/>
                          <a:cs typeface="Arial"/>
                        </a:rPr>
                        <a:t>3</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ctr">
                        <a:buNone/>
                      </a:pPr>
                      <a:r>
                        <a:rPr sz="1400">
                          <a:solidFill>
                            <a:srgbClr val="3C4A52"/>
                          </a:solidFill>
                          <a:latin typeface="Arial"/>
                          <a:ea typeface="Arial"/>
                          <a:cs typeface="Arial"/>
                        </a:rPr>
                        <a:t>2</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640080">
                <a:tc>
                  <a:txBody>
                    <a:bodyPr/>
                    <a:lstStyle/>
                    <a:p>
                      <a:pPr marL="0" indent="0" algn="ctr">
                        <a:buNone/>
                      </a:pPr>
                      <a:r>
                        <a:rPr sz="1400">
                          <a:solidFill>
                            <a:srgbClr val="3C4A52"/>
                          </a:solidFill>
                          <a:latin typeface="Arial"/>
                          <a:ea typeface="Arial"/>
                          <a:cs typeface="Arial"/>
                        </a:rPr>
                        <a:t>Silhouette</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ctr">
                        <a:buNone/>
                      </a:pPr>
                      <a:r>
                        <a:rPr sz="1400">
                          <a:solidFill>
                            <a:srgbClr val="3C4A52"/>
                          </a:solidFill>
                          <a:latin typeface="Arial"/>
                          <a:ea typeface="Arial"/>
                          <a:cs typeface="Arial"/>
                        </a:rPr>
                        <a:t>≈ 0.53</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ctr">
                        <a:buNone/>
                      </a:pPr>
                      <a:r>
                        <a:rPr sz="1400">
                          <a:solidFill>
                            <a:srgbClr val="3C4A52"/>
                          </a:solidFill>
                          <a:latin typeface="Arial"/>
                          <a:ea typeface="Arial"/>
                          <a:cs typeface="Arial"/>
                        </a:rPr>
                        <a:t>≈ 0.26</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640080">
                <a:tc>
                  <a:txBody>
                    <a:bodyPr/>
                    <a:lstStyle/>
                    <a:p>
                      <a:pPr marL="0" indent="0" algn="ctr">
                        <a:buNone/>
                      </a:pPr>
                      <a:r>
                        <a:rPr sz="1400">
                          <a:solidFill>
                            <a:srgbClr val="3C4A52"/>
                          </a:solidFill>
                          <a:latin typeface="Arial"/>
                          <a:ea typeface="Arial"/>
                          <a:cs typeface="Arial"/>
                        </a:rPr>
                        <a:t>ARI vs. reference (shared rows)</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ctr">
                        <a:buNone/>
                      </a:pPr>
                      <a:r>
                        <a:rPr sz="1400">
                          <a:solidFill>
                            <a:srgbClr val="3C4A52"/>
                          </a:solidFill>
                          <a:latin typeface="Arial"/>
                          <a:ea typeface="Arial"/>
                          <a:cs typeface="Arial"/>
                        </a:rPr>
                        <a:t>—</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ctr">
                        <a:buNone/>
                      </a:pPr>
                      <a:r>
                        <a:rPr sz="1400">
                          <a:solidFill>
                            <a:srgbClr val="3C4A52"/>
                          </a:solidFill>
                          <a:latin typeface="Arial"/>
                          <a:ea typeface="Arial"/>
                          <a:cs typeface="Arial"/>
                        </a:rPr>
                        <a:t>≈ 0.63</a:t>
                      </a:r>
                      <a:endParaRPr sz="1400">
                        <a:latin typeface="Arial"/>
                        <a:ea typeface="Arial"/>
                        <a:cs typeface="Arial"/>
                      </a:endParaRPr>
                    </a:p>
                  </a:txBody>
                  <a:tcPr marL="91440" marR="91440" marT="45720" marB="4572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bl>
          </a:graphicData>
        </a:graphic>
      </p:graphicFrame>
      <p:sp>
        <p:nvSpPr>
          <p:cNvPr id="9" name="Shape 6">
            <a:extLst xmlns:a="http://schemas.openxmlformats.org/drawingml/2006/main">
              <a:ext uri="{FF2B5EF4-FFF2-40B4-BE49-F238E27FC236}">
                <a16:creationId xmlns:a16="http://schemas.microsoft.com/office/drawing/2014/main" id="{A0E22DAD-928E-4EDA-9040-DFC6A5957CA1}"/>
              </a:ext>
            </a:extLst>
          </p:cNvPr>
          <p:cNvSpPr>
            <a:spLocks xmlns:a="http://schemas.openxmlformats.org/drawingml/2006/main" noGrp="1"/>
          </p:cNvSpPr>
          <p:nvPr/>
        </p:nvSpPr>
        <p:spPr>
          <a:xfrm xmlns:a="http://schemas.openxmlformats.org/drawingml/2006/main">
            <a:off x="7772400" y="1783080"/>
            <a:ext cx="3779215" cy="4160520"/>
          </a:xfrm>
          <a:prstGeom xmlns:a="http://schemas.openxmlformats.org/drawingml/2006/main" prst="roundRect">
            <a:avLst>
              <a:gd name="adj" fmla="val 1936"/>
            </a:avLst>
          </a:prstGeom>
          <a:solidFill xmlns:a="http://schemas.openxmlformats.org/drawingml/2006/main">
            <a:srgbClr val="F5F8F9"/>
          </a:solidFill>
          <a:ln xmlns:a="http://schemas.openxmlformats.org/drawingml/2006/main" w="12700">
            <a:solidFill>
              <a:srgbClr val="E3E9EC"/>
            </a:solidFill>
            <a:prstDash val="solid"/>
          </a:ln>
        </p:spPr>
      </p:sp>
      <p:sp>
        <p:nvSpPr>
          <p:cNvPr id="10" name="Text 7">
            <a:extLst xmlns:a="http://schemas.openxmlformats.org/drawingml/2006/main">
              <a:ext uri="{FF2B5EF4-FFF2-40B4-BE49-F238E27FC236}">
                <a16:creationId xmlns:a16="http://schemas.microsoft.com/office/drawing/2014/main" id="{A7E6E96D-4097-4233-9793-35D493809C07}"/>
              </a:ext>
            </a:extLst>
          </p:cNvPr>
          <p:cNvSpPr>
            <a:spLocks xmlns:a="http://schemas.openxmlformats.org/drawingml/2006/main" noGrp="1"/>
          </p:cNvSpPr>
          <p:nvPr/>
        </p:nvSpPr>
        <p:spPr>
          <a:xfrm xmlns:a="http://schemas.openxmlformats.org/drawingml/2006/main">
            <a:off x="8001000" y="2011680"/>
            <a:ext cx="35204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500" b="1">
                <a:solidFill>
                  <a:srgbClr val="1B2A30"/>
                </a:solidFill>
                <a:latin typeface="Arial"/>
                <a:ea typeface="Arial"/>
                <a:cs typeface="Arial"/>
              </a:rPr>
              <a:t>Complete-case selection changes</a:t>
            </a:r>
            <a:endParaRPr sz="1500"/>
          </a:p>
        </p:txBody>
      </p:sp>
      <p:sp>
        <p:nvSpPr>
          <p:cNvPr id="11" name="Text 8">
            <a:extLst xmlns:a="http://schemas.openxmlformats.org/drawingml/2006/main">
              <a:ext uri="{FF2B5EF4-FFF2-40B4-BE49-F238E27FC236}">
                <a16:creationId xmlns:a16="http://schemas.microsoft.com/office/drawing/2014/main" id="{DA602685-B407-49ED-911A-961B51D1E2E6}"/>
              </a:ext>
            </a:extLst>
          </p:cNvPr>
          <p:cNvSpPr>
            <a:spLocks xmlns:a="http://schemas.openxmlformats.org/drawingml/2006/main" noGrp="1"/>
          </p:cNvSpPr>
          <p:nvPr/>
        </p:nvSpPr>
        <p:spPr>
          <a:xfrm xmlns:a="http://schemas.openxmlformats.org/drawingml/2006/main">
            <a:off x="8001000" y="2788920"/>
            <a:ext cx="35204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C25B57"/>
                </a:solidFill>
                <a:latin typeface="Arial"/>
                <a:ea typeface="Arial"/>
                <a:cs typeface="Arial"/>
              </a:rPr>
              <a:t>the cohort and partition.</a:t>
            </a:r>
            <a:endParaRPr sz="1700"/>
          </a:p>
        </p:txBody>
      </p:sp>
      <p:sp>
        <p:nvSpPr>
          <p:cNvPr id="12" name="Shape 9">
            <a:extLst xmlns:a="http://schemas.openxmlformats.org/drawingml/2006/main">
              <a:ext uri="{FF2B5EF4-FFF2-40B4-BE49-F238E27FC236}">
                <a16:creationId xmlns:a16="http://schemas.microsoft.com/office/drawing/2014/main" id="{2679FE39-601D-4962-BB1B-EDADE46E678A}"/>
              </a:ext>
            </a:extLst>
          </p:cNvPr>
          <p:cNvSpPr>
            <a:spLocks xmlns:a="http://schemas.openxmlformats.org/drawingml/2006/main" noGrp="1"/>
          </p:cNvSpPr>
          <p:nvPr/>
        </p:nvSpPr>
        <p:spPr>
          <a:xfrm xmlns:a="http://schemas.openxmlformats.org/drawingml/2006/main">
            <a:off x="8001000" y="3383280"/>
            <a:ext cx="3520440"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13" name="Text 10">
            <a:extLst xmlns:a="http://schemas.openxmlformats.org/drawingml/2006/main">
              <a:ext uri="{FF2B5EF4-FFF2-40B4-BE49-F238E27FC236}">
                <a16:creationId xmlns:a16="http://schemas.microsoft.com/office/drawing/2014/main" id="{539B2B84-F3DF-4422-9EDB-4C98708690C5}"/>
              </a:ext>
            </a:extLst>
          </p:cNvPr>
          <p:cNvSpPr>
            <a:spLocks xmlns:a="http://schemas.openxmlformats.org/drawingml/2006/main" noGrp="1"/>
          </p:cNvSpPr>
          <p:nvPr/>
        </p:nvSpPr>
        <p:spPr>
          <a:xfrm xmlns:a="http://schemas.openxmlformats.org/drawingml/2006/main">
            <a:off x="8001000" y="3520440"/>
            <a:ext cx="352044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25000"/>
              </a:lnSpc>
              <a:buNone/>
            </a:pPr>
            <a:r>
              <a:rPr sz="1300">
                <a:solidFill>
                  <a:srgbClr val="3C4A52"/>
                </a:solidFill>
                <a:latin typeface="Arial"/>
                <a:ea typeface="Arial"/>
                <a:cs typeface="Arial"/>
              </a:rPr>
              <a:t>The supplementary baseline used raw-test aggregation. These statistics do not validate the standardized patient-level pipeline.</a:t>
            </a:r>
            <a:endParaRPr sz="1300"/>
          </a:p>
        </p:txBody>
      </p:sp>
    </p:spTree>
    <p:extLst>
      <p:ext uri="{BB962C8B-B14F-4D97-AF65-F5344CB8AC3E}">
        <p14:creationId xmlns:p14="http://schemas.microsoft.com/office/powerpoint/2010/main" val="3275250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29A6F31-7CF5-4F21-925A-961DF4363C5D}"/>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RESULT · H3</a:t>
            </a:r>
            <a:endParaRPr sz="1150"/>
          </a:p>
        </p:txBody>
      </p:sp>
      <p:sp>
        <p:nvSpPr>
          <p:cNvPr id="3" name="Text 1">
            <a:extLst xmlns:a="http://schemas.openxmlformats.org/drawingml/2006/main">
              <a:ext uri="{FF2B5EF4-FFF2-40B4-BE49-F238E27FC236}">
                <a16:creationId xmlns:a16="http://schemas.microsoft.com/office/drawing/2014/main" id="{4C3F4DD1-5DDB-4866-AB0C-767F79D5C23C}"/>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Tiers track clinical unit assignment</a:t>
            </a:r>
            <a:endParaRPr sz="2600"/>
          </a:p>
        </p:txBody>
      </p:sp>
      <p:sp>
        <p:nvSpPr>
          <p:cNvPr id="4" name="Shape 2">
            <a:extLst xmlns:a="http://schemas.openxmlformats.org/drawingml/2006/main">
              <a:ext uri="{FF2B5EF4-FFF2-40B4-BE49-F238E27FC236}">
                <a16:creationId xmlns:a16="http://schemas.microsoft.com/office/drawing/2014/main" id="{1625D63F-2BA0-4061-9993-889829A541A9}"/>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2538229B-DA77-4435-B4A2-2A14D3A6EABE}"/>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E59BC767-EE6C-4217-B99A-DDC2128ED820}"/>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12C314EA-F2B2-493E-A47F-3B92425A7E0B}"/>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15</a:t>
            </a:r>
            <a:endParaRPr sz="900"/>
          </a:p>
        </p:txBody>
      </p:sp>
      <p:pic>
        <p:nvPicPr>
          <p:cNvPr id="8" name="Image 0">
            <a:extLst xmlns:a="http://schemas.openxmlformats.org/drawingml/2006/main">
              <a:ext uri="{FF2B5EF4-FFF2-40B4-BE49-F238E27FC236}">
                <a16:creationId xmlns:a16="http://schemas.microsoft.com/office/drawing/2014/main" id="{98C8644C-A743-44B9-9556-C51072A5FC6F}"/>
              </a:ext>
            </a:extLst>
          </p:cNvPr>
          <p:cNvPicPr>
            <a:picLocks xmlns:a="http://schemas.openxmlformats.org/drawingml/2006/main" noChangeAspect="1"/>
          </p:cNvPicPr>
          <p:nvPr/>
        </p:nvPicPr>
        <p:blipFill>
          <a:blip xmlns:r="http://schemas.openxmlformats.org/officeDocument/2006/relationships" xmlns:a="http://schemas.openxmlformats.org/drawingml/2006/main" r:embed="R3d23757003e94490"/>
          <a:stretch xmlns:a="http://schemas.openxmlformats.org/drawingml/2006/main">
            <a:fillRect l="0" t="0" r="0" b="0"/>
          </a:stretch>
        </p:blipFill>
        <p:spPr>
          <a:xfrm xmlns:a="http://schemas.openxmlformats.org/drawingml/2006/main">
            <a:off x="649224" y="1737360"/>
            <a:ext cx="6016752" cy="429768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23E5800C-2406-4172-B73E-2FF798AC154C}"/>
              </a:ext>
            </a:extLst>
          </p:cNvPr>
          <p:cNvSpPr>
            <a:spLocks xmlns:a="http://schemas.openxmlformats.org/drawingml/2006/main" noGrp="1"/>
          </p:cNvSpPr>
          <p:nvPr/>
        </p:nvSpPr>
        <p:spPr>
          <a:xfrm xmlns:a="http://schemas.openxmlformats.org/drawingml/2006/main">
            <a:off x="7040880" y="1783080"/>
            <a:ext cx="4510735"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χ² = 911</a:t>
            </a:r>
            <a:r>
              <a:rPr sz="1500">
                <a:solidFill>
                  <a:srgbClr val="3C4A52"/>
                </a:solidFill>
                <a:latin typeface="Arial"/>
                <a:ea typeface="Arial"/>
                <a:cs typeface="Arial"/>
              </a:rPr>
              <a:t>   p &lt; 10⁻¹⁵⁶</a:t>
            </a:r>
            <a:endParaRPr sz="2600"/>
          </a:p>
        </p:txBody>
      </p:sp>
      <p:sp>
        <p:nvSpPr>
          <p:cNvPr id="10" name="Text 7">
            <a:extLst xmlns:a="http://schemas.openxmlformats.org/drawingml/2006/main">
              <a:ext uri="{FF2B5EF4-FFF2-40B4-BE49-F238E27FC236}">
                <a16:creationId xmlns:a16="http://schemas.microsoft.com/office/drawing/2014/main" id="{3090C611-4267-42F9-BFC6-26E17EBD6E94}"/>
              </a:ext>
            </a:extLst>
          </p:cNvPr>
          <p:cNvSpPr>
            <a:spLocks xmlns:a="http://schemas.openxmlformats.org/drawingml/2006/main" noGrp="1"/>
          </p:cNvSpPr>
          <p:nvPr/>
        </p:nvSpPr>
        <p:spPr>
          <a:xfrm xmlns:a="http://schemas.openxmlformats.org/drawingml/2006/main">
            <a:off x="7040880" y="2514600"/>
            <a:ext cx="45107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1707A"/>
                </a:solidFill>
                <a:latin typeface="Arial"/>
                <a:ea typeface="Arial"/>
                <a:cs typeface="Arial"/>
              </a:rPr>
              <a:t>0.16</a:t>
            </a:r>
            <a:endParaRPr sz="3000"/>
          </a:p>
        </p:txBody>
      </p:sp>
      <p:sp>
        <p:nvSpPr>
          <p:cNvPr id="11" name="Text 8">
            <a:extLst xmlns:a="http://schemas.openxmlformats.org/drawingml/2006/main">
              <a:ext uri="{FF2B5EF4-FFF2-40B4-BE49-F238E27FC236}">
                <a16:creationId xmlns:a16="http://schemas.microsoft.com/office/drawing/2014/main" id="{BE5CA27B-03F0-4F64-81A3-BE6AC6754A37}"/>
              </a:ext>
            </a:extLst>
          </p:cNvPr>
          <p:cNvSpPr>
            <a:spLocks xmlns:a="http://schemas.openxmlformats.org/drawingml/2006/main" noGrp="1"/>
          </p:cNvSpPr>
          <p:nvPr/>
        </p:nvSpPr>
        <p:spPr>
          <a:xfrm xmlns:a="http://schemas.openxmlformats.org/drawingml/2006/main">
            <a:off x="7040880" y="3081528"/>
            <a:ext cx="4510735"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7C8A94"/>
                </a:solidFill>
                <a:latin typeface="Arial"/>
                <a:ea typeface="Arial"/>
                <a:cs typeface="Arial"/>
              </a:rPr>
              <a:t>Cramér's V  ·  criterion &gt; 0.10</a:t>
            </a:r>
            <a:endParaRPr sz="1150"/>
          </a:p>
        </p:txBody>
      </p:sp>
      <p:sp>
        <p:nvSpPr>
          <p:cNvPr id="12" name="Shape 9">
            <a:extLst xmlns:a="http://schemas.openxmlformats.org/drawingml/2006/main">
              <a:ext uri="{FF2B5EF4-FFF2-40B4-BE49-F238E27FC236}">
                <a16:creationId xmlns:a16="http://schemas.microsoft.com/office/drawing/2014/main" id="{561757EF-15CE-4253-BD4B-D61B77A5838F}"/>
              </a:ext>
            </a:extLst>
          </p:cNvPr>
          <p:cNvSpPr>
            <a:spLocks xmlns:a="http://schemas.openxmlformats.org/drawingml/2006/main" noGrp="1"/>
          </p:cNvSpPr>
          <p:nvPr/>
        </p:nvSpPr>
        <p:spPr>
          <a:xfrm xmlns:a="http://schemas.openxmlformats.org/drawingml/2006/main">
            <a:off x="7040880" y="3703320"/>
            <a:ext cx="45107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13" name="Text 10">
            <a:extLst xmlns:a="http://schemas.openxmlformats.org/drawingml/2006/main">
              <a:ext uri="{FF2B5EF4-FFF2-40B4-BE49-F238E27FC236}">
                <a16:creationId xmlns:a16="http://schemas.microsoft.com/office/drawing/2014/main" id="{D1C33351-9663-4601-BA3E-B137CACE3E6A}"/>
              </a:ext>
            </a:extLst>
          </p:cNvPr>
          <p:cNvSpPr>
            <a:spLocks xmlns:a="http://schemas.openxmlformats.org/drawingml/2006/main" noGrp="1"/>
          </p:cNvSpPr>
          <p:nvPr/>
        </p:nvSpPr>
        <p:spPr>
          <a:xfrm xmlns:a="http://schemas.openxmlformats.org/drawingml/2006/main">
            <a:off x="7040880" y="3840480"/>
            <a:ext cx="4510754" cy="24460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200"/>
              </a:spcAft>
              <a:buSzPct val="100000"/>
              <a:buChar char="•"/>
            </a:pPr>
            <a:r>
              <a:rPr sz="1350">
                <a:solidFill>
                  <a:srgbClr val="3C4A52"/>
                </a:solidFill>
                <a:latin typeface="Arial"/>
                <a:ea typeface="Arial"/>
                <a:cs typeface="Arial"/>
              </a:rPr>
              <a:t>Small association with clinical-unit assignment.</a:t>
            </a:r>
            <a:endParaRPr sz="1350"/>
          </a:p>
          <a:p xmlns:a="http://schemas.openxmlformats.org/drawingml/2006/main">
            <a:pPr marL="203200" indent="-203200">
              <a:lnSpc>
                <a:spcPct val="122000"/>
              </a:lnSpc>
              <a:spcAft>
                <a:spcPts val="1200"/>
              </a:spcAft>
              <a:buSzPct val="100000"/>
              <a:buChar char="•"/>
            </a:pPr>
            <a:r>
              <a:rPr sz="1350">
                <a:solidFill>
                  <a:srgbClr val="3C4A52"/>
                </a:solidFill>
                <a:latin typeface="Arial"/>
                <a:ea typeface="Arial"/>
                <a:cs typeface="Arial"/>
              </a:rPr>
              <a:t>Patient-grouped log-loss gain: 0.0013; interval includes zero.</a:t>
            </a:r>
          </a:p>
          <a:p xmlns:a="http://schemas.openxmlformats.org/drawingml/2006/main">
            <a:pPr marL="203200" indent="-203200">
              <a:lnSpc>
                <a:spcPct val="122000"/>
              </a:lnSpc>
              <a:spcAft>
                <a:spcPts val="1200"/>
              </a:spcAft>
              <a:buSzPct val="100000"/>
              <a:buChar char="•"/>
            </a:pPr>
            <a:r>
              <a:rPr sz="1350">
                <a:solidFill>
                  <a:srgbClr val="3C4A52"/>
                </a:solidFill>
                <a:latin typeface="Arial"/>
                <a:ea typeface="Arial"/>
                <a:cs typeface="Arial"/>
              </a:rPr>
              <a:t>Added predictive value beyond diagnosis is unconfirmed.</a:t>
            </a:r>
          </a:p>
        </p:txBody>
      </p:sp>
    </p:spTree>
    <p:extLst>
      <p:ext uri="{BB962C8B-B14F-4D97-AF65-F5344CB8AC3E}">
        <p14:creationId xmlns:p14="http://schemas.microsoft.com/office/powerpoint/2010/main" val="10126313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F703084-ACF7-4DE1-9ADC-CE583D662F70}"/>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RESULT · H4</a:t>
            </a:r>
            <a:endParaRPr sz="1150"/>
          </a:p>
        </p:txBody>
      </p:sp>
      <p:sp>
        <p:nvSpPr>
          <p:cNvPr id="3" name="Text 1">
            <a:extLst xmlns:a="http://schemas.openxmlformats.org/drawingml/2006/main">
              <a:ext uri="{FF2B5EF4-FFF2-40B4-BE49-F238E27FC236}">
                <a16:creationId xmlns:a16="http://schemas.microsoft.com/office/drawing/2014/main" id="{4C930FFA-62D5-4B36-9046-468696CE15E5}"/>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Domain aggregation improves conditioning</a:t>
            </a:r>
            <a:endParaRPr sz="2600"/>
          </a:p>
        </p:txBody>
      </p:sp>
      <p:sp>
        <p:nvSpPr>
          <p:cNvPr id="4" name="Shape 2">
            <a:extLst xmlns:a="http://schemas.openxmlformats.org/drawingml/2006/main">
              <a:ext uri="{FF2B5EF4-FFF2-40B4-BE49-F238E27FC236}">
                <a16:creationId xmlns:a16="http://schemas.microsoft.com/office/drawing/2014/main" id="{19BBD450-5098-4A53-8E37-FDB7DCB7BE13}"/>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3265C21A-FC85-4066-A267-EAB9922CFB84}"/>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368DF56A-581D-44D1-AED7-99483D00EC59}"/>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ABCA1ABF-80F0-4988-BB6D-64900F8B9E9B}"/>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16</a:t>
            </a:r>
            <a:endParaRPr sz="900"/>
          </a:p>
        </p:txBody>
      </p:sp>
      <p:pic>
        <p:nvPicPr>
          <p:cNvPr id="8" name="Image 0">
            <a:extLst xmlns:a="http://schemas.openxmlformats.org/drawingml/2006/main">
              <a:ext uri="{FF2B5EF4-FFF2-40B4-BE49-F238E27FC236}">
                <a16:creationId xmlns:a16="http://schemas.microsoft.com/office/drawing/2014/main" id="{6A733D7D-F12A-4385-A340-49757B9EF298}"/>
              </a:ext>
            </a:extLst>
          </p:cNvPr>
          <p:cNvPicPr>
            <a:picLocks xmlns:a="http://schemas.openxmlformats.org/drawingml/2006/main" noChangeAspect="1"/>
          </p:cNvPicPr>
          <p:nvPr/>
        </p:nvPicPr>
        <p:blipFill>
          <a:blip xmlns:r="http://schemas.openxmlformats.org/officeDocument/2006/relationships" xmlns:a="http://schemas.openxmlformats.org/drawingml/2006/main" r:embed="R3e7bb30ce5fe4fde"/>
          <a:stretch xmlns:a="http://schemas.openxmlformats.org/drawingml/2006/main">
            <a:fillRect l="0" t="0" r="0" b="0"/>
          </a:stretch>
        </p:blipFill>
        <p:spPr>
          <a:xfrm xmlns:a="http://schemas.openxmlformats.org/drawingml/2006/main">
            <a:off x="2701138" y="1691640"/>
            <a:ext cx="6789420" cy="201168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D876F15E-D28C-445B-AF78-8190552442CD}"/>
              </a:ext>
            </a:extLst>
          </p:cNvPr>
          <p:cNvSpPr>
            <a:spLocks xmlns:a="http://schemas.openxmlformats.org/drawingml/2006/main" noGrp="1"/>
          </p:cNvSpPr>
          <p:nvPr/>
        </p:nvSpPr>
        <p:spPr>
          <a:xfrm xmlns:a="http://schemas.openxmlformats.org/drawingml/2006/main">
            <a:off x="640080" y="3977640"/>
            <a:ext cx="3393338" cy="1828800"/>
          </a:xfrm>
          <a:prstGeom xmlns:a="http://schemas.openxmlformats.org/drawingml/2006/main" prst="roundRect">
            <a:avLst>
              <a:gd name="adj" fmla="val 4000"/>
            </a:avLst>
          </a:prstGeom>
          <a:solidFill xmlns:a="http://schemas.openxmlformats.org/drawingml/2006/main">
            <a:srgbClr val="F5F8F9"/>
          </a:solidFill>
          <a:ln xmlns:a="http://schemas.openxmlformats.org/drawingml/2006/main" w="12700">
            <a:solidFill>
              <a:srgbClr val="E3E9EC"/>
            </a:solidFill>
            <a:prstDash val="solid"/>
          </a:ln>
        </p:spPr>
      </p:sp>
      <p:sp>
        <p:nvSpPr>
          <p:cNvPr id="10" name="Text 7">
            <a:extLst xmlns:a="http://schemas.openxmlformats.org/drawingml/2006/main">
              <a:ext uri="{FF2B5EF4-FFF2-40B4-BE49-F238E27FC236}">
                <a16:creationId xmlns:a16="http://schemas.microsoft.com/office/drawing/2014/main" id="{24B3B7A4-1759-447A-8531-66E0CCA47112}"/>
              </a:ext>
            </a:extLst>
          </p:cNvPr>
          <p:cNvSpPr>
            <a:spLocks xmlns:a="http://schemas.openxmlformats.org/drawingml/2006/main" noGrp="1"/>
          </p:cNvSpPr>
          <p:nvPr/>
        </p:nvSpPr>
        <p:spPr>
          <a:xfrm xmlns:a="http://schemas.openxmlformats.org/drawingml/2006/main">
            <a:off x="822960" y="4142232"/>
            <a:ext cx="3027578"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1B2A30"/>
                </a:solidFill>
                <a:latin typeface="Arial"/>
                <a:ea typeface="Arial"/>
                <a:cs typeface="Arial"/>
              </a:rPr>
              <a:t>Silhouette</a:t>
            </a:r>
            <a:endParaRPr sz="1400"/>
          </a:p>
        </p:txBody>
      </p:sp>
      <p:sp>
        <p:nvSpPr>
          <p:cNvPr id="11" name="Text 8">
            <a:extLst xmlns:a="http://schemas.openxmlformats.org/drawingml/2006/main">
              <a:ext uri="{FF2B5EF4-FFF2-40B4-BE49-F238E27FC236}">
                <a16:creationId xmlns:a16="http://schemas.microsoft.com/office/drawing/2014/main" id="{9D0E7ED6-2EA2-479F-AAE3-5BC7A98FECE2}"/>
              </a:ext>
            </a:extLst>
          </p:cNvPr>
          <p:cNvSpPr>
            <a:spLocks xmlns:a="http://schemas.openxmlformats.org/drawingml/2006/main" noGrp="1"/>
          </p:cNvSpPr>
          <p:nvPr/>
        </p:nvSpPr>
        <p:spPr>
          <a:xfrm xmlns:a="http://schemas.openxmlformats.org/drawingml/2006/main">
            <a:off x="822960" y="4617720"/>
            <a:ext cx="3027578"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strike="sngStrike">
                <a:solidFill>
                  <a:srgbClr val="7C8A94"/>
                </a:solidFill>
                <a:latin typeface="Arial"/>
                <a:ea typeface="Arial"/>
                <a:cs typeface="Arial"/>
              </a:rPr>
              <a:t>0.473</a:t>
            </a:r>
            <a:r>
              <a:rPr sz="1700">
                <a:solidFill>
                  <a:srgbClr val="7C8A94"/>
                </a:solidFill>
                <a:latin typeface="Arial"/>
                <a:ea typeface="Arial"/>
                <a:cs typeface="Arial"/>
              </a:rPr>
              <a:t>   </a:t>
            </a:r>
            <a:r>
              <a:rPr sz="1500">
                <a:solidFill>
                  <a:srgbClr val="7C8A94"/>
                </a:solidFill>
                <a:latin typeface="Arial"/>
                <a:ea typeface="Arial"/>
                <a:cs typeface="Arial"/>
              </a:rPr>
              <a:t>→  </a:t>
            </a:r>
            <a:r>
              <a:rPr sz="2800" b="1">
                <a:solidFill>
                  <a:srgbClr val="2E8B7F"/>
                </a:solidFill>
                <a:latin typeface="Arial"/>
                <a:ea typeface="Arial"/>
                <a:cs typeface="Arial"/>
              </a:rPr>
              <a:t>0.481</a:t>
            </a:r>
            <a:endParaRPr sz="1700"/>
          </a:p>
        </p:txBody>
      </p:sp>
      <p:sp>
        <p:nvSpPr>
          <p:cNvPr id="12" name="Text 9">
            <a:extLst xmlns:a="http://schemas.openxmlformats.org/drawingml/2006/main">
              <a:ext uri="{FF2B5EF4-FFF2-40B4-BE49-F238E27FC236}">
                <a16:creationId xmlns:a16="http://schemas.microsoft.com/office/drawing/2014/main" id="{53D81AEA-19B5-4875-9DCE-5992D8CDE689}"/>
              </a:ext>
            </a:extLst>
          </p:cNvPr>
          <p:cNvSpPr>
            <a:spLocks xmlns:a="http://schemas.openxmlformats.org/drawingml/2006/main" noGrp="1"/>
          </p:cNvSpPr>
          <p:nvPr/>
        </p:nvSpPr>
        <p:spPr>
          <a:xfrm xmlns:a="http://schemas.openxmlformats.org/drawingml/2006/main">
            <a:off x="822960" y="5349240"/>
            <a:ext cx="3027578"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a:solidFill>
                  <a:srgbClr val="7C8A94"/>
                </a:solidFill>
                <a:latin typeface="Arial"/>
                <a:ea typeface="Arial"/>
                <a:cs typeface="Arial"/>
              </a:rPr>
              <a:t>variables → domains</a:t>
            </a:r>
            <a:endParaRPr sz="1050"/>
          </a:p>
        </p:txBody>
      </p:sp>
      <p:sp>
        <p:nvSpPr>
          <p:cNvPr id="13" name="Shape 10">
            <a:extLst xmlns:a="http://schemas.openxmlformats.org/drawingml/2006/main">
              <a:ext uri="{FF2B5EF4-FFF2-40B4-BE49-F238E27FC236}">
                <a16:creationId xmlns:a16="http://schemas.microsoft.com/office/drawing/2014/main" id="{7EF996EA-7162-4B64-B4AE-A8876D327B62}"/>
              </a:ext>
            </a:extLst>
          </p:cNvPr>
          <p:cNvSpPr>
            <a:spLocks xmlns:a="http://schemas.openxmlformats.org/drawingml/2006/main" noGrp="1"/>
          </p:cNvSpPr>
          <p:nvPr/>
        </p:nvSpPr>
        <p:spPr>
          <a:xfrm xmlns:a="http://schemas.openxmlformats.org/drawingml/2006/main">
            <a:off x="4399178" y="3977640"/>
            <a:ext cx="3393338" cy="1828800"/>
          </a:xfrm>
          <a:prstGeom xmlns:a="http://schemas.openxmlformats.org/drawingml/2006/main" prst="roundRect">
            <a:avLst>
              <a:gd name="adj" fmla="val 4000"/>
            </a:avLst>
          </a:prstGeom>
          <a:solidFill xmlns:a="http://schemas.openxmlformats.org/drawingml/2006/main">
            <a:srgbClr val="F5F8F9"/>
          </a:solidFill>
          <a:ln xmlns:a="http://schemas.openxmlformats.org/drawingml/2006/main" w="12700">
            <a:solidFill>
              <a:srgbClr val="E3E9EC"/>
            </a:solidFill>
            <a:prstDash val="solid"/>
          </a:ln>
        </p:spPr>
      </p:sp>
      <p:sp>
        <p:nvSpPr>
          <p:cNvPr id="14" name="Text 11">
            <a:extLst xmlns:a="http://schemas.openxmlformats.org/drawingml/2006/main">
              <a:ext uri="{FF2B5EF4-FFF2-40B4-BE49-F238E27FC236}">
                <a16:creationId xmlns:a16="http://schemas.microsoft.com/office/drawing/2014/main" id="{99D05B49-A6B6-4117-971C-98D9E802CA8C}"/>
              </a:ext>
            </a:extLst>
          </p:cNvPr>
          <p:cNvSpPr>
            <a:spLocks xmlns:a="http://schemas.openxmlformats.org/drawingml/2006/main" noGrp="1"/>
          </p:cNvSpPr>
          <p:nvPr/>
        </p:nvSpPr>
        <p:spPr>
          <a:xfrm xmlns:a="http://schemas.openxmlformats.org/drawingml/2006/main">
            <a:off x="4582058" y="4142232"/>
            <a:ext cx="3027578"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1B2A30"/>
                </a:solidFill>
                <a:latin typeface="Arial"/>
                <a:ea typeface="Arial"/>
                <a:cs typeface="Arial"/>
              </a:rPr>
              <a:t>Mean VIF</a:t>
            </a:r>
            <a:endParaRPr sz="1400"/>
          </a:p>
        </p:txBody>
      </p:sp>
      <p:sp>
        <p:nvSpPr>
          <p:cNvPr id="15" name="Text 12">
            <a:extLst xmlns:a="http://schemas.openxmlformats.org/drawingml/2006/main">
              <a:ext uri="{FF2B5EF4-FFF2-40B4-BE49-F238E27FC236}">
                <a16:creationId xmlns:a16="http://schemas.microsoft.com/office/drawing/2014/main" id="{F6C9CD9C-7491-4581-84C5-BC0780993EFD}"/>
              </a:ext>
            </a:extLst>
          </p:cNvPr>
          <p:cNvSpPr>
            <a:spLocks xmlns:a="http://schemas.openxmlformats.org/drawingml/2006/main" noGrp="1"/>
          </p:cNvSpPr>
          <p:nvPr/>
        </p:nvSpPr>
        <p:spPr>
          <a:xfrm xmlns:a="http://schemas.openxmlformats.org/drawingml/2006/main">
            <a:off x="4582058" y="4617720"/>
            <a:ext cx="3027578"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strike="sngStrike">
                <a:solidFill>
                  <a:srgbClr val="7C8A94"/>
                </a:solidFill>
                <a:latin typeface="Arial"/>
                <a:ea typeface="Arial"/>
                <a:cs typeface="Arial"/>
              </a:rPr>
              <a:t>2.77</a:t>
            </a:r>
            <a:r>
              <a:rPr sz="1700">
                <a:solidFill>
                  <a:srgbClr val="7C8A94"/>
                </a:solidFill>
                <a:latin typeface="Arial"/>
                <a:ea typeface="Arial"/>
                <a:cs typeface="Arial"/>
              </a:rPr>
              <a:t>   </a:t>
            </a:r>
            <a:r>
              <a:rPr sz="1500">
                <a:solidFill>
                  <a:srgbClr val="7C8A94"/>
                </a:solidFill>
                <a:latin typeface="Arial"/>
                <a:ea typeface="Arial"/>
                <a:cs typeface="Arial"/>
              </a:rPr>
              <a:t>→  </a:t>
            </a:r>
            <a:r>
              <a:rPr sz="2800" b="1">
                <a:solidFill>
                  <a:srgbClr val="11707A"/>
                </a:solidFill>
                <a:latin typeface="Arial"/>
                <a:ea typeface="Arial"/>
                <a:cs typeface="Arial"/>
              </a:rPr>
              <a:t>1.88</a:t>
            </a:r>
            <a:endParaRPr sz="1700"/>
          </a:p>
        </p:txBody>
      </p:sp>
      <p:sp>
        <p:nvSpPr>
          <p:cNvPr id="16" name="Text 13">
            <a:extLst xmlns:a="http://schemas.openxmlformats.org/drawingml/2006/main">
              <a:ext uri="{FF2B5EF4-FFF2-40B4-BE49-F238E27FC236}">
                <a16:creationId xmlns:a16="http://schemas.microsoft.com/office/drawing/2014/main" id="{276F709C-FF3E-4752-A4E2-3C9A412910AA}"/>
              </a:ext>
            </a:extLst>
          </p:cNvPr>
          <p:cNvSpPr>
            <a:spLocks xmlns:a="http://schemas.openxmlformats.org/drawingml/2006/main" noGrp="1"/>
          </p:cNvSpPr>
          <p:nvPr/>
        </p:nvSpPr>
        <p:spPr>
          <a:xfrm xmlns:a="http://schemas.openxmlformats.org/drawingml/2006/main">
            <a:off x="4582058" y="5349240"/>
            <a:ext cx="3027578"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a:solidFill>
                  <a:srgbClr val="7C8A94"/>
                </a:solidFill>
                <a:latin typeface="Arial"/>
                <a:ea typeface="Arial"/>
                <a:cs typeface="Arial"/>
              </a:rPr>
              <a:t>variables → domains</a:t>
            </a:r>
            <a:endParaRPr sz="1050"/>
          </a:p>
        </p:txBody>
      </p:sp>
      <p:sp>
        <p:nvSpPr>
          <p:cNvPr id="17" name="Shape 14">
            <a:extLst xmlns:a="http://schemas.openxmlformats.org/drawingml/2006/main">
              <a:ext uri="{FF2B5EF4-FFF2-40B4-BE49-F238E27FC236}">
                <a16:creationId xmlns:a16="http://schemas.microsoft.com/office/drawing/2014/main" id="{E74A4303-0993-43C0-9D36-D0FE105198AD}"/>
              </a:ext>
            </a:extLst>
          </p:cNvPr>
          <p:cNvSpPr>
            <a:spLocks xmlns:a="http://schemas.openxmlformats.org/drawingml/2006/main" noGrp="1"/>
          </p:cNvSpPr>
          <p:nvPr/>
        </p:nvSpPr>
        <p:spPr>
          <a:xfrm xmlns:a="http://schemas.openxmlformats.org/drawingml/2006/main">
            <a:off x="8158277" y="3977640"/>
            <a:ext cx="3393338" cy="1828800"/>
          </a:xfrm>
          <a:prstGeom xmlns:a="http://schemas.openxmlformats.org/drawingml/2006/main" prst="roundRect">
            <a:avLst>
              <a:gd name="adj" fmla="val 4000"/>
            </a:avLst>
          </a:prstGeom>
          <a:solidFill xmlns:a="http://schemas.openxmlformats.org/drawingml/2006/main">
            <a:srgbClr val="F5F8F9"/>
          </a:solidFill>
          <a:ln xmlns:a="http://schemas.openxmlformats.org/drawingml/2006/main" w="12700">
            <a:solidFill>
              <a:srgbClr val="E3E9EC"/>
            </a:solidFill>
            <a:prstDash val="solid"/>
          </a:ln>
        </p:spPr>
      </p:sp>
      <p:sp>
        <p:nvSpPr>
          <p:cNvPr id="18" name="Text 15">
            <a:extLst xmlns:a="http://schemas.openxmlformats.org/drawingml/2006/main">
              <a:ext uri="{FF2B5EF4-FFF2-40B4-BE49-F238E27FC236}">
                <a16:creationId xmlns:a16="http://schemas.microsoft.com/office/drawing/2014/main" id="{9AD85A67-6E1C-4E53-8954-1BE6C81D6CE3}"/>
              </a:ext>
            </a:extLst>
          </p:cNvPr>
          <p:cNvSpPr>
            <a:spLocks xmlns:a="http://schemas.openxmlformats.org/drawingml/2006/main" noGrp="1"/>
          </p:cNvSpPr>
          <p:nvPr/>
        </p:nvSpPr>
        <p:spPr>
          <a:xfrm xmlns:a="http://schemas.openxmlformats.org/drawingml/2006/main">
            <a:off x="8341157" y="4142232"/>
            <a:ext cx="3027578"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1B2A30"/>
                </a:solidFill>
                <a:latin typeface="Arial"/>
                <a:ea typeface="Arial"/>
                <a:cs typeface="Arial"/>
              </a:rPr>
              <a:t>Condition number</a:t>
            </a:r>
            <a:endParaRPr sz="1400"/>
          </a:p>
        </p:txBody>
      </p:sp>
      <p:sp>
        <p:nvSpPr>
          <p:cNvPr id="19" name="Text 16">
            <a:extLst xmlns:a="http://schemas.openxmlformats.org/drawingml/2006/main">
              <a:ext uri="{FF2B5EF4-FFF2-40B4-BE49-F238E27FC236}">
                <a16:creationId xmlns:a16="http://schemas.microsoft.com/office/drawing/2014/main" id="{007AD0AA-1E80-441F-A8E8-A0BE418A551C}"/>
              </a:ext>
            </a:extLst>
          </p:cNvPr>
          <p:cNvSpPr>
            <a:spLocks xmlns:a="http://schemas.openxmlformats.org/drawingml/2006/main" noGrp="1"/>
          </p:cNvSpPr>
          <p:nvPr/>
        </p:nvSpPr>
        <p:spPr>
          <a:xfrm xmlns:a="http://schemas.openxmlformats.org/drawingml/2006/main">
            <a:off x="8341157" y="4617720"/>
            <a:ext cx="3027578"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strike="sngStrike">
                <a:solidFill>
                  <a:srgbClr val="7C8A94"/>
                </a:solidFill>
                <a:latin typeface="Arial"/>
                <a:ea typeface="Arial"/>
                <a:cs typeface="Arial"/>
              </a:rPr>
              <a:t>61.7</a:t>
            </a:r>
            <a:r>
              <a:rPr sz="1700">
                <a:solidFill>
                  <a:srgbClr val="7C8A94"/>
                </a:solidFill>
                <a:latin typeface="Arial"/>
                <a:ea typeface="Arial"/>
                <a:cs typeface="Arial"/>
              </a:rPr>
              <a:t>  </a:t>
            </a:r>
            <a:r>
              <a:rPr sz="1500">
                <a:solidFill>
                  <a:srgbClr val="7C8A94"/>
                </a:solidFill>
                <a:latin typeface="Arial"/>
                <a:ea typeface="Arial"/>
                <a:cs typeface="Arial"/>
              </a:rPr>
              <a:t>→  </a:t>
            </a:r>
            <a:r>
              <a:rPr sz="2800" b="1">
                <a:solidFill>
                  <a:srgbClr val="11707A"/>
                </a:solidFill>
                <a:latin typeface="Arial"/>
                <a:ea typeface="Arial"/>
                <a:cs typeface="Arial"/>
              </a:rPr>
              <a:t>11.8</a:t>
            </a:r>
            <a:endParaRPr sz="1700"/>
          </a:p>
        </p:txBody>
      </p:sp>
      <p:sp>
        <p:nvSpPr>
          <p:cNvPr id="20" name="Text 17">
            <a:extLst xmlns:a="http://schemas.openxmlformats.org/drawingml/2006/main">
              <a:ext uri="{FF2B5EF4-FFF2-40B4-BE49-F238E27FC236}">
                <a16:creationId xmlns:a16="http://schemas.microsoft.com/office/drawing/2014/main" id="{BE7DC87E-D7C7-4A40-B6A9-83973F9CC6CB}"/>
              </a:ext>
            </a:extLst>
          </p:cNvPr>
          <p:cNvSpPr>
            <a:spLocks xmlns:a="http://schemas.openxmlformats.org/drawingml/2006/main" noGrp="1"/>
          </p:cNvSpPr>
          <p:nvPr/>
        </p:nvSpPr>
        <p:spPr>
          <a:xfrm xmlns:a="http://schemas.openxmlformats.org/drawingml/2006/main">
            <a:off x="8341157" y="5349240"/>
            <a:ext cx="3027578"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a:solidFill>
                  <a:srgbClr val="7C8A94"/>
                </a:solidFill>
                <a:latin typeface="Arial"/>
                <a:ea typeface="Arial"/>
                <a:cs typeface="Arial"/>
              </a:rPr>
              <a:t>variables → domains</a:t>
            </a:r>
            <a:endParaRPr sz="1050"/>
          </a:p>
        </p:txBody>
      </p:sp>
    </p:spTree>
    <p:extLst>
      <p:ext uri="{BB962C8B-B14F-4D97-AF65-F5344CB8AC3E}">
        <p14:creationId xmlns:p14="http://schemas.microsoft.com/office/powerpoint/2010/main" val="166670043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86F1F1B-8F30-495A-84EA-B09A95E9059C}"/>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WHAT IT MEANS</a:t>
            </a:r>
            <a:endParaRPr sz="1150"/>
          </a:p>
        </p:txBody>
      </p:sp>
      <p:sp>
        <p:nvSpPr>
          <p:cNvPr id="3" name="Text 1">
            <a:extLst xmlns:a="http://schemas.openxmlformats.org/drawingml/2006/main">
              <a:ext uri="{FF2B5EF4-FFF2-40B4-BE49-F238E27FC236}">
                <a16:creationId xmlns:a16="http://schemas.microsoft.com/office/drawing/2014/main" id="{686ADE7C-ED97-48AA-BAE0-DF3DD493DE22}"/>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A continuum, not a catalogue</a:t>
            </a:r>
            <a:endParaRPr sz="2600"/>
          </a:p>
        </p:txBody>
      </p:sp>
      <p:sp>
        <p:nvSpPr>
          <p:cNvPr id="4" name="Shape 2">
            <a:extLst xmlns:a="http://schemas.openxmlformats.org/drawingml/2006/main">
              <a:ext uri="{FF2B5EF4-FFF2-40B4-BE49-F238E27FC236}">
                <a16:creationId xmlns:a16="http://schemas.microsoft.com/office/drawing/2014/main" id="{DC5F07BE-FFB1-49B9-9407-4F1C61454FDD}"/>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A552A539-D563-4AA6-895D-47195E7F3EA2}"/>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FB64120C-7703-43F8-A138-1C7EDC454DDA}"/>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145C4313-0A86-4685-BE39-56BA87A115DE}"/>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17</a:t>
            </a:r>
            <a:endParaRPr sz="900"/>
          </a:p>
        </p:txBody>
      </p:sp>
      <p:sp>
        <p:nvSpPr>
          <p:cNvPr id="8" name="Shape 6">
            <a:extLst xmlns:a="http://schemas.openxmlformats.org/drawingml/2006/main">
              <a:ext uri="{FF2B5EF4-FFF2-40B4-BE49-F238E27FC236}">
                <a16:creationId xmlns:a16="http://schemas.microsoft.com/office/drawing/2014/main" id="{AA9F9CCD-CB6F-402B-8E22-79D444708F37}"/>
              </a:ext>
            </a:extLst>
          </p:cNvPr>
          <p:cNvSpPr>
            <a:spLocks xmlns:a="http://schemas.openxmlformats.org/drawingml/2006/main" noGrp="1"/>
          </p:cNvSpPr>
          <p:nvPr/>
        </p:nvSpPr>
        <p:spPr>
          <a:xfrm xmlns:a="http://schemas.openxmlformats.org/drawingml/2006/main">
            <a:off x="640080" y="1828800"/>
            <a:ext cx="3637178" cy="822960"/>
          </a:xfrm>
          <a:prstGeom xmlns:a="http://schemas.openxmlformats.org/drawingml/2006/main" prst="rect">
            <a:avLst/>
          </a:prstGeom>
          <a:solidFill xmlns:a="http://schemas.openxmlformats.org/drawingml/2006/main">
            <a:srgbClr val="2E8B7F"/>
          </a:solidFill>
        </p:spPr>
      </p:sp>
      <p:sp>
        <p:nvSpPr>
          <p:cNvPr id="9" name="Text 7">
            <a:extLst xmlns:a="http://schemas.openxmlformats.org/drawingml/2006/main">
              <a:ext uri="{FF2B5EF4-FFF2-40B4-BE49-F238E27FC236}">
                <a16:creationId xmlns:a16="http://schemas.microsoft.com/office/drawing/2014/main" id="{9D1C54C6-E0FD-4108-A9A0-22AC0B833C33}"/>
              </a:ext>
            </a:extLst>
          </p:cNvPr>
          <p:cNvSpPr>
            <a:spLocks xmlns:a="http://schemas.openxmlformats.org/drawingml/2006/main" noGrp="1"/>
          </p:cNvSpPr>
          <p:nvPr/>
        </p:nvSpPr>
        <p:spPr>
          <a:xfrm xmlns:a="http://schemas.openxmlformats.org/drawingml/2006/main">
            <a:off x="640080" y="1828800"/>
            <a:ext cx="363717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Above-Average</a:t>
            </a:r>
            <a:endParaRPr sz="1300"/>
          </a:p>
        </p:txBody>
      </p:sp>
      <p:sp>
        <p:nvSpPr>
          <p:cNvPr id="10" name="Shape 8">
            <a:extLst xmlns:a="http://schemas.openxmlformats.org/drawingml/2006/main">
              <a:ext uri="{FF2B5EF4-FFF2-40B4-BE49-F238E27FC236}">
                <a16:creationId xmlns:a16="http://schemas.microsoft.com/office/drawing/2014/main" id="{1DECA4FF-C5C6-48C2-AAD9-4F67C0482A04}"/>
              </a:ext>
            </a:extLst>
          </p:cNvPr>
          <p:cNvSpPr>
            <a:spLocks xmlns:a="http://schemas.openxmlformats.org/drawingml/2006/main" noGrp="1"/>
          </p:cNvSpPr>
          <p:nvPr/>
        </p:nvSpPr>
        <p:spPr>
          <a:xfrm xmlns:a="http://schemas.openxmlformats.org/drawingml/2006/main">
            <a:off x="4277258" y="1828800"/>
            <a:ext cx="3637178" cy="822960"/>
          </a:xfrm>
          <a:prstGeom xmlns:a="http://schemas.openxmlformats.org/drawingml/2006/main" prst="rect">
            <a:avLst/>
          </a:prstGeom>
          <a:solidFill xmlns:a="http://schemas.openxmlformats.org/drawingml/2006/main">
            <a:srgbClr val="D49A4E"/>
          </a:solidFill>
        </p:spPr>
      </p:sp>
      <p:sp>
        <p:nvSpPr>
          <p:cNvPr id="11" name="Text 9">
            <a:extLst xmlns:a="http://schemas.openxmlformats.org/drawingml/2006/main">
              <a:ext uri="{FF2B5EF4-FFF2-40B4-BE49-F238E27FC236}">
                <a16:creationId xmlns:a16="http://schemas.microsoft.com/office/drawing/2014/main" id="{5FE31B0A-65E1-4126-B199-C46A1EC36D7F}"/>
              </a:ext>
            </a:extLst>
          </p:cNvPr>
          <p:cNvSpPr>
            <a:spLocks xmlns:a="http://schemas.openxmlformats.org/drawingml/2006/main" noGrp="1"/>
          </p:cNvSpPr>
          <p:nvPr/>
        </p:nvSpPr>
        <p:spPr>
          <a:xfrm xmlns:a="http://schemas.openxmlformats.org/drawingml/2006/main">
            <a:off x="4277258" y="1828800"/>
            <a:ext cx="363717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Near-Normal</a:t>
            </a:r>
            <a:endParaRPr sz="1300"/>
          </a:p>
        </p:txBody>
      </p:sp>
      <p:sp>
        <p:nvSpPr>
          <p:cNvPr id="12" name="Shape 10">
            <a:extLst xmlns:a="http://schemas.openxmlformats.org/drawingml/2006/main">
              <a:ext uri="{FF2B5EF4-FFF2-40B4-BE49-F238E27FC236}">
                <a16:creationId xmlns:a16="http://schemas.microsoft.com/office/drawing/2014/main" id="{5085B769-76AB-4B4F-9922-2DDC3B34ECFB}"/>
              </a:ext>
            </a:extLst>
          </p:cNvPr>
          <p:cNvSpPr>
            <a:spLocks xmlns:a="http://schemas.openxmlformats.org/drawingml/2006/main" noGrp="1"/>
          </p:cNvSpPr>
          <p:nvPr/>
        </p:nvSpPr>
        <p:spPr>
          <a:xfrm xmlns:a="http://schemas.openxmlformats.org/drawingml/2006/main">
            <a:off x="7914437" y="1828800"/>
            <a:ext cx="3637178" cy="822960"/>
          </a:xfrm>
          <a:prstGeom xmlns:a="http://schemas.openxmlformats.org/drawingml/2006/main" prst="rect">
            <a:avLst/>
          </a:prstGeom>
          <a:solidFill xmlns:a="http://schemas.openxmlformats.org/drawingml/2006/main">
            <a:srgbClr val="C25B57"/>
          </a:solidFill>
        </p:spPr>
      </p:sp>
      <p:sp>
        <p:nvSpPr>
          <p:cNvPr id="13" name="Text 11">
            <a:extLst xmlns:a="http://schemas.openxmlformats.org/drawingml/2006/main">
              <a:ext uri="{FF2B5EF4-FFF2-40B4-BE49-F238E27FC236}">
                <a16:creationId xmlns:a16="http://schemas.microsoft.com/office/drawing/2014/main" id="{D66907BC-3C1E-47F2-8A56-11930E66CD87}"/>
              </a:ext>
            </a:extLst>
          </p:cNvPr>
          <p:cNvSpPr>
            <a:spLocks xmlns:a="http://schemas.openxmlformats.org/drawingml/2006/main" noGrp="1"/>
          </p:cNvSpPr>
          <p:nvPr/>
        </p:nvSpPr>
        <p:spPr>
          <a:xfrm xmlns:a="http://schemas.openxmlformats.org/drawingml/2006/main">
            <a:off x="7914437" y="1828800"/>
            <a:ext cx="363717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Global Impairment</a:t>
            </a:r>
            <a:endParaRPr sz="1300"/>
          </a:p>
        </p:txBody>
      </p:sp>
      <p:sp>
        <p:nvSpPr>
          <p:cNvPr id="14" name="Text 12">
            <a:extLst xmlns:a="http://schemas.openxmlformats.org/drawingml/2006/main">
              <a:ext uri="{FF2B5EF4-FFF2-40B4-BE49-F238E27FC236}">
                <a16:creationId xmlns:a16="http://schemas.microsoft.com/office/drawing/2014/main" id="{D1A54FCB-7F22-443F-9240-6E5497146A03}"/>
              </a:ext>
            </a:extLst>
          </p:cNvPr>
          <p:cNvSpPr>
            <a:spLocks xmlns:a="http://schemas.openxmlformats.org/drawingml/2006/main" noGrp="1"/>
          </p:cNvSpPr>
          <p:nvPr/>
        </p:nvSpPr>
        <p:spPr>
          <a:xfrm xmlns:a="http://schemas.openxmlformats.org/drawingml/2006/main">
            <a:off x="640080" y="269748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7C8A94"/>
                </a:solidFill>
                <a:latin typeface="Arial"/>
                <a:ea typeface="Arial"/>
                <a:cs typeface="Arial"/>
              </a:rPr>
              <a:t>less impaired</a:t>
            </a:r>
            <a:endParaRPr sz="1050"/>
          </a:p>
        </p:txBody>
      </p:sp>
      <p:sp>
        <p:nvSpPr>
          <p:cNvPr id="15" name="Text 13">
            <a:extLst xmlns:a="http://schemas.openxmlformats.org/drawingml/2006/main">
              <a:ext uri="{FF2B5EF4-FFF2-40B4-BE49-F238E27FC236}">
                <a16:creationId xmlns:a16="http://schemas.microsoft.com/office/drawing/2014/main" id="{9F36FE09-8058-4468-9892-48BE867B3644}"/>
              </a:ext>
            </a:extLst>
          </p:cNvPr>
          <p:cNvSpPr>
            <a:spLocks xmlns:a="http://schemas.openxmlformats.org/drawingml/2006/main" noGrp="1"/>
          </p:cNvSpPr>
          <p:nvPr/>
        </p:nvSpPr>
        <p:spPr>
          <a:xfrm xmlns:a="http://schemas.openxmlformats.org/drawingml/2006/main">
            <a:off x="8808415" y="269748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50">
                <a:solidFill>
                  <a:srgbClr val="7C8A94"/>
                </a:solidFill>
                <a:latin typeface="Arial"/>
                <a:ea typeface="Arial"/>
                <a:cs typeface="Arial"/>
              </a:rPr>
              <a:t>more impaired</a:t>
            </a:r>
            <a:endParaRPr sz="1050"/>
          </a:p>
        </p:txBody>
      </p:sp>
      <p:sp>
        <p:nvSpPr>
          <p:cNvPr id="16" name="Text 14">
            <a:extLst xmlns:a="http://schemas.openxmlformats.org/drawingml/2006/main">
              <a:ext uri="{FF2B5EF4-FFF2-40B4-BE49-F238E27FC236}">
                <a16:creationId xmlns:a16="http://schemas.microsoft.com/office/drawing/2014/main" id="{5AA2AD94-FE22-4F9B-B525-3D791F858C80}"/>
              </a:ext>
            </a:extLst>
          </p:cNvPr>
          <p:cNvSpPr>
            <a:spLocks xmlns:a="http://schemas.openxmlformats.org/drawingml/2006/main" noGrp="1"/>
          </p:cNvSpPr>
          <p:nvPr/>
        </p:nvSpPr>
        <p:spPr>
          <a:xfrm xmlns:a="http://schemas.openxmlformats.org/drawingml/2006/main">
            <a:off x="640080" y="3246120"/>
            <a:ext cx="10911554" cy="3040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100"/>
              </a:spcAft>
              <a:buSzPct val="100000"/>
              <a:buChar char="•"/>
            </a:pPr>
            <a:r>
              <a:rPr sz="1450">
                <a:solidFill>
                  <a:srgbClr val="3C4A52"/>
                </a:solidFill>
                <a:latin typeface="Arial"/>
                <a:ea typeface="Arial"/>
                <a:cs typeface="Arial"/>
              </a:rPr>
              <a:t>Subtypes would imply qualitatively different cognitive profiles.</a:t>
            </a:r>
            <a:endParaRPr sz="1450"/>
          </a:p>
          <a:p xmlns:a="http://schemas.openxmlformats.org/drawingml/2006/main">
            <a:pPr marL="203200" indent="-203200">
              <a:lnSpc>
                <a:spcPct val="122000"/>
              </a:lnSpc>
              <a:spcAft>
                <a:spcPts val="1100"/>
              </a:spcAft>
              <a:buSzPct val="100000"/>
              <a:buChar char="•"/>
            </a:pPr>
            <a:r>
              <a:rPr sz="1450">
                <a:solidFill>
                  <a:srgbClr val="3C4A52"/>
                </a:solidFill>
                <a:latin typeface="Arial"/>
                <a:ea typeface="Arial"/>
                <a:cs typeface="Arial"/>
              </a:rPr>
              <a:t>A gradient implies differences lie mostly along one severity axis.</a:t>
            </a:r>
            <a:endParaRPr sz="1450"/>
          </a:p>
          <a:p xmlns:a="http://schemas.openxmlformats.org/drawingml/2006/main">
            <a:pPr marL="203200" indent="-203200">
              <a:lnSpc>
                <a:spcPct val="122000"/>
              </a:lnSpc>
              <a:spcAft>
                <a:spcPts val="1100"/>
              </a:spcAft>
              <a:buSzPct val="100000"/>
              <a:buChar char="•"/>
            </a:pPr>
            <a:r>
              <a:rPr sz="1450">
                <a:solidFill>
                  <a:srgbClr val="3C4A52"/>
                </a:solidFill>
                <a:latin typeface="Arial"/>
                <a:ea typeface="Arial"/>
                <a:cs typeface="Arial"/>
              </a:rPr>
              <a:t>The tiers are practical bands extracted from that continuum.</a:t>
            </a:r>
            <a:endParaRPr sz="1450"/>
          </a:p>
          <a:p xmlns:a="http://schemas.openxmlformats.org/drawingml/2006/main">
            <a:pPr marL="203200" indent="-203200">
              <a:lnSpc>
                <a:spcPct val="122000"/>
              </a:lnSpc>
              <a:spcAft>
                <a:spcPts val="1100"/>
              </a:spcAft>
              <a:buSzPct val="100000"/>
              <a:buChar char="•"/>
            </a:pPr>
            <a:r>
              <a:rPr sz="1450">
                <a:solidFill>
                  <a:srgbClr val="3C4A52"/>
                </a:solidFill>
                <a:latin typeface="Arial"/>
                <a:ea typeface="Arial"/>
                <a:cs typeface="Arial"/>
              </a:rPr>
              <a:t>Domain-specific dissociations may exist — but they don't dominate here.</a:t>
            </a:r>
            <a:endParaRPr sz="1450"/>
          </a:p>
          <a:p xmlns:a="http://schemas.openxmlformats.org/drawingml/2006/main">
            <a:pPr marL="203200" indent="-203200">
              <a:lnSpc>
                <a:spcPct val="122000"/>
              </a:lnSpc>
              <a:spcAft>
                <a:spcPts val="1100"/>
              </a:spcAft>
              <a:buSzPct val="100000"/>
              <a:buChar char="•"/>
            </a:pPr>
            <a:r>
              <a:rPr sz="1450">
                <a:solidFill>
                  <a:srgbClr val="3C4A52"/>
                </a:solidFill>
                <a:latin typeface="Arial"/>
                <a:ea typeface="Arial"/>
                <a:cs typeface="Arial"/>
              </a:rPr>
              <a:t>Poor scaling, redundant or non-cognitive features, or complete-case selection can fake subtype structure.</a:t>
            </a:r>
            <a:endParaRPr sz="1450"/>
          </a:p>
        </p:txBody>
      </p:sp>
    </p:spTree>
    <p:extLst>
      <p:ext uri="{BB962C8B-B14F-4D97-AF65-F5344CB8AC3E}">
        <p14:creationId xmlns:p14="http://schemas.microsoft.com/office/powerpoint/2010/main" val="6351217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E3254F-3A17-4BEC-AEF1-E2CAE715C625}"/>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IMPLICATIONS</a:t>
            </a:r>
            <a:endParaRPr sz="1150"/>
          </a:p>
        </p:txBody>
      </p:sp>
      <p:sp>
        <p:nvSpPr>
          <p:cNvPr id="3" name="Text 1">
            <a:extLst xmlns:a="http://schemas.openxmlformats.org/drawingml/2006/main">
              <a:ext uri="{FF2B5EF4-FFF2-40B4-BE49-F238E27FC236}">
                <a16:creationId xmlns:a16="http://schemas.microsoft.com/office/drawing/2014/main" id="{486EEBCA-287D-491C-A3F4-0E6D7B989323}"/>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Clinical and analytic utility</a:t>
            </a:r>
            <a:endParaRPr sz="2600"/>
          </a:p>
        </p:txBody>
      </p:sp>
      <p:sp>
        <p:nvSpPr>
          <p:cNvPr id="4" name="Shape 2">
            <a:extLst xmlns:a="http://schemas.openxmlformats.org/drawingml/2006/main">
              <a:ext uri="{FF2B5EF4-FFF2-40B4-BE49-F238E27FC236}">
                <a16:creationId xmlns:a16="http://schemas.microsoft.com/office/drawing/2014/main" id="{7E6CF647-F385-40D5-90ED-3835B33FC1AB}"/>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14E6724D-848F-4449-A6EF-504A1F749975}"/>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E7A7F722-382A-4BB3-8DBA-F8A9988276CB}"/>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2148E8D3-673E-4A7A-AEF0-ED714DBB5381}"/>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18</a:t>
            </a:r>
            <a:endParaRPr sz="900"/>
          </a:p>
        </p:txBody>
      </p:sp>
      <p:sp>
        <p:nvSpPr>
          <p:cNvPr id="8" name="Shape 6">
            <a:extLst xmlns:a="http://schemas.openxmlformats.org/drawingml/2006/main">
              <a:ext uri="{FF2B5EF4-FFF2-40B4-BE49-F238E27FC236}">
                <a16:creationId xmlns:a16="http://schemas.microsoft.com/office/drawing/2014/main" id="{75D57F30-C7B6-4921-9927-5671EE588DA1}"/>
              </a:ext>
            </a:extLst>
          </p:cNvPr>
          <p:cNvSpPr>
            <a:spLocks xmlns:a="http://schemas.openxmlformats.org/drawingml/2006/main" noGrp="1"/>
          </p:cNvSpPr>
          <p:nvPr/>
        </p:nvSpPr>
        <p:spPr>
          <a:xfrm xmlns:a="http://schemas.openxmlformats.org/drawingml/2006/main">
            <a:off x="640080" y="1783080"/>
            <a:ext cx="5227168" cy="4023360"/>
          </a:xfrm>
          <a:prstGeom xmlns:a="http://schemas.openxmlformats.org/drawingml/2006/main" prst="roundRect">
            <a:avLst>
              <a:gd name="adj" fmla="val 1818"/>
            </a:avLst>
          </a:prstGeom>
          <a:solidFill xmlns:a="http://schemas.openxmlformats.org/drawingml/2006/main">
            <a:srgbClr val="F5F8F9"/>
          </a:solidFill>
          <a:ln xmlns:a="http://schemas.openxmlformats.org/drawingml/2006/main" w="12700">
            <a:solidFill>
              <a:srgbClr val="E3E9EC"/>
            </a:solidFill>
            <a:prstDash val="solid"/>
          </a:ln>
        </p:spPr>
      </p:sp>
      <p:sp>
        <p:nvSpPr>
          <p:cNvPr id="9" name="Shape 7">
            <a:extLst xmlns:a="http://schemas.openxmlformats.org/drawingml/2006/main">
              <a:ext uri="{FF2B5EF4-FFF2-40B4-BE49-F238E27FC236}">
                <a16:creationId xmlns:a16="http://schemas.microsoft.com/office/drawing/2014/main" id="{2742A319-FB4B-49E8-9564-30A758EEC140}"/>
              </a:ext>
            </a:extLst>
          </p:cNvPr>
          <p:cNvSpPr>
            <a:spLocks xmlns:a="http://schemas.openxmlformats.org/drawingml/2006/main" noGrp="1"/>
          </p:cNvSpPr>
          <p:nvPr/>
        </p:nvSpPr>
        <p:spPr>
          <a:xfrm xmlns:a="http://schemas.openxmlformats.org/drawingml/2006/main">
            <a:off x="640080" y="1783080"/>
            <a:ext cx="5227168" cy="128016"/>
          </a:xfrm>
          <a:prstGeom xmlns:a="http://schemas.openxmlformats.org/drawingml/2006/main" prst="rect">
            <a:avLst/>
          </a:prstGeom>
          <a:solidFill xmlns:a="http://schemas.openxmlformats.org/drawingml/2006/main">
            <a:srgbClr val="11707A"/>
          </a:solidFill>
        </p:spPr>
      </p:sp>
      <p:sp>
        <p:nvSpPr>
          <p:cNvPr id="10" name="Text 8">
            <a:extLst xmlns:a="http://schemas.openxmlformats.org/drawingml/2006/main">
              <a:ext uri="{FF2B5EF4-FFF2-40B4-BE49-F238E27FC236}">
                <a16:creationId xmlns:a16="http://schemas.microsoft.com/office/drawing/2014/main" id="{EFB58C6A-BC09-46CF-90BA-20DADA3C7471}"/>
              </a:ext>
            </a:extLst>
          </p:cNvPr>
          <p:cNvSpPr>
            <a:spLocks xmlns:a="http://schemas.openxmlformats.org/drawingml/2006/main" noGrp="1"/>
          </p:cNvSpPr>
          <p:nvPr/>
        </p:nvSpPr>
        <p:spPr>
          <a:xfrm xmlns:a="http://schemas.openxmlformats.org/drawingml/2006/main">
            <a:off x="914400" y="2057400"/>
            <a:ext cx="4678528"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1B2A30"/>
                </a:solidFill>
                <a:latin typeface="Arial"/>
                <a:ea typeface="Arial"/>
                <a:cs typeface="Arial"/>
              </a:rPr>
              <a:t>Clinical users</a:t>
            </a:r>
            <a:endParaRPr sz="1800"/>
          </a:p>
        </p:txBody>
      </p:sp>
      <p:sp>
        <p:nvSpPr>
          <p:cNvPr id="11" name="Text 9">
            <a:extLst xmlns:a="http://schemas.openxmlformats.org/drawingml/2006/main">
              <a:ext uri="{FF2B5EF4-FFF2-40B4-BE49-F238E27FC236}">
                <a16:creationId xmlns:a16="http://schemas.microsoft.com/office/drawing/2014/main" id="{A16738CE-B96D-4CDE-BD7D-CD5BA7B7A4AB}"/>
              </a:ext>
            </a:extLst>
          </p:cNvPr>
          <p:cNvSpPr>
            <a:spLocks xmlns:a="http://schemas.openxmlformats.org/drawingml/2006/main" noGrp="1"/>
          </p:cNvSpPr>
          <p:nvPr/>
        </p:nvSpPr>
        <p:spPr>
          <a:xfrm xmlns:a="http://schemas.openxmlformats.org/drawingml/2006/main">
            <a:off x="914400" y="2697480"/>
            <a:ext cx="4678528"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300"/>
              </a:spcAft>
              <a:buSzPct val="100000"/>
              <a:buChar char="•"/>
            </a:pPr>
            <a:r>
              <a:rPr sz="1400">
                <a:solidFill>
                  <a:srgbClr val="3C4A52"/>
                </a:solidFill>
                <a:latin typeface="Arial"/>
                <a:ea typeface="Arial"/>
                <a:cs typeface="Arial"/>
              </a:rPr>
              <a:t>Descriptive cognitive-score bands.</a:t>
            </a:r>
            <a:endParaRPr sz="1400"/>
          </a:p>
          <a:p xmlns:a="http://schemas.openxmlformats.org/drawingml/2006/main">
            <a:pPr marL="203200" indent="-203200">
              <a:lnSpc>
                <a:spcPct val="122000"/>
              </a:lnSpc>
              <a:spcAft>
                <a:spcPts val="1300"/>
              </a:spcAft>
              <a:buSzPct val="100000"/>
              <a:buChar char="•"/>
            </a:pPr>
            <a:r>
              <a:rPr sz="1400">
                <a:solidFill>
                  <a:srgbClr val="3C4A52"/>
                </a:solidFill>
                <a:latin typeface="Arial"/>
                <a:ea typeface="Arial"/>
                <a:cs typeface="Arial"/>
              </a:rPr>
              <a:t>Agreement scores express model consensus.</a:t>
            </a:r>
          </a:p>
          <a:p xmlns:a="http://schemas.openxmlformats.org/drawingml/2006/main">
            <a:pPr marL="203200" indent="-203200">
              <a:lnSpc>
                <a:spcPct val="122000"/>
              </a:lnSpc>
              <a:spcAft>
                <a:spcPts val="1300"/>
              </a:spcAft>
              <a:buSzPct val="100000"/>
              <a:buChar char="•"/>
            </a:pPr>
            <a:r>
              <a:rPr sz="1400">
                <a:solidFill>
                  <a:srgbClr val="3C4A52"/>
                </a:solidFill>
                <a:latin typeface="Arial"/>
                <a:ea typeface="Arial"/>
                <a:cs typeface="Arial"/>
              </a:rPr>
              <a:t>Clinical utility still requires independent validation.</a:t>
            </a:r>
          </a:p>
        </p:txBody>
      </p:sp>
      <p:sp>
        <p:nvSpPr>
          <p:cNvPr id="12" name="Shape 10">
            <a:extLst xmlns:a="http://schemas.openxmlformats.org/drawingml/2006/main">
              <a:ext uri="{FF2B5EF4-FFF2-40B4-BE49-F238E27FC236}">
                <a16:creationId xmlns:a16="http://schemas.microsoft.com/office/drawing/2014/main" id="{4AD35EED-BE24-4B45-A53E-6D97C2E84BCE}"/>
              </a:ext>
            </a:extLst>
          </p:cNvPr>
          <p:cNvSpPr>
            <a:spLocks xmlns:a="http://schemas.openxmlformats.org/drawingml/2006/main" noGrp="1"/>
          </p:cNvSpPr>
          <p:nvPr/>
        </p:nvSpPr>
        <p:spPr>
          <a:xfrm xmlns:a="http://schemas.openxmlformats.org/drawingml/2006/main">
            <a:off x="6324448" y="1783080"/>
            <a:ext cx="5227168" cy="4023360"/>
          </a:xfrm>
          <a:prstGeom xmlns:a="http://schemas.openxmlformats.org/drawingml/2006/main" prst="roundRect">
            <a:avLst>
              <a:gd name="adj" fmla="val 1818"/>
            </a:avLst>
          </a:prstGeom>
          <a:solidFill xmlns:a="http://schemas.openxmlformats.org/drawingml/2006/main">
            <a:srgbClr val="F5F8F9"/>
          </a:solidFill>
          <a:ln xmlns:a="http://schemas.openxmlformats.org/drawingml/2006/main" w="12700">
            <a:solidFill>
              <a:srgbClr val="E3E9EC"/>
            </a:solidFill>
            <a:prstDash val="solid"/>
          </a:ln>
        </p:spPr>
      </p:sp>
      <p:sp>
        <p:nvSpPr>
          <p:cNvPr id="13" name="Shape 11">
            <a:extLst xmlns:a="http://schemas.openxmlformats.org/drawingml/2006/main">
              <a:ext uri="{FF2B5EF4-FFF2-40B4-BE49-F238E27FC236}">
                <a16:creationId xmlns:a16="http://schemas.microsoft.com/office/drawing/2014/main" id="{9E0F177B-43CF-496B-BB2B-95BA9F21FCAF}"/>
              </a:ext>
            </a:extLst>
          </p:cNvPr>
          <p:cNvSpPr>
            <a:spLocks xmlns:a="http://schemas.openxmlformats.org/drawingml/2006/main" noGrp="1"/>
          </p:cNvSpPr>
          <p:nvPr/>
        </p:nvSpPr>
        <p:spPr>
          <a:xfrm xmlns:a="http://schemas.openxmlformats.org/drawingml/2006/main">
            <a:off x="6324448" y="1783080"/>
            <a:ext cx="5227168" cy="128016"/>
          </a:xfrm>
          <a:prstGeom xmlns:a="http://schemas.openxmlformats.org/drawingml/2006/main" prst="rect">
            <a:avLst/>
          </a:prstGeom>
          <a:solidFill xmlns:a="http://schemas.openxmlformats.org/drawingml/2006/main">
            <a:srgbClr val="2E8B7F"/>
          </a:solidFill>
        </p:spPr>
      </p:sp>
      <p:sp>
        <p:nvSpPr>
          <p:cNvPr id="14" name="Text 12">
            <a:extLst xmlns:a="http://schemas.openxmlformats.org/drawingml/2006/main">
              <a:ext uri="{FF2B5EF4-FFF2-40B4-BE49-F238E27FC236}">
                <a16:creationId xmlns:a16="http://schemas.microsoft.com/office/drawing/2014/main" id="{FAC06D1F-9DC4-49C6-9339-EBD0DCEE50AE}"/>
              </a:ext>
            </a:extLst>
          </p:cNvPr>
          <p:cNvSpPr>
            <a:spLocks xmlns:a="http://schemas.openxmlformats.org/drawingml/2006/main" noGrp="1"/>
          </p:cNvSpPr>
          <p:nvPr/>
        </p:nvSpPr>
        <p:spPr>
          <a:xfrm xmlns:a="http://schemas.openxmlformats.org/drawingml/2006/main">
            <a:off x="6598768" y="2057400"/>
            <a:ext cx="4678528"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1B2A30"/>
                </a:solidFill>
                <a:latin typeface="Arial"/>
                <a:ea typeface="Arial"/>
                <a:cs typeface="Arial"/>
              </a:rPr>
              <a:t>Analytic users</a:t>
            </a:r>
            <a:endParaRPr sz="1800"/>
          </a:p>
        </p:txBody>
      </p:sp>
      <p:sp>
        <p:nvSpPr>
          <p:cNvPr id="15" name="Text 13">
            <a:extLst xmlns:a="http://schemas.openxmlformats.org/drawingml/2006/main">
              <a:ext uri="{FF2B5EF4-FFF2-40B4-BE49-F238E27FC236}">
                <a16:creationId xmlns:a16="http://schemas.microsoft.com/office/drawing/2014/main" id="{FC2DA514-099A-4A44-AE5C-A5C36A7DBA26}"/>
              </a:ext>
            </a:extLst>
          </p:cNvPr>
          <p:cNvSpPr>
            <a:spLocks xmlns:a="http://schemas.openxmlformats.org/drawingml/2006/main" noGrp="1"/>
          </p:cNvSpPr>
          <p:nvPr/>
        </p:nvSpPr>
        <p:spPr>
          <a:xfrm xmlns:a="http://schemas.openxmlformats.org/drawingml/2006/main">
            <a:off x="6598768" y="2697480"/>
            <a:ext cx="4678528"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300"/>
              </a:spcAft>
              <a:buSzPct val="100000"/>
              <a:buChar char="•"/>
            </a:pPr>
            <a:r>
              <a:rPr sz="1400">
                <a:solidFill>
                  <a:srgbClr val="3C4A52"/>
                </a:solidFill>
                <a:latin typeface="Arial"/>
                <a:ea typeface="Arial"/>
                <a:cs typeface="Arial"/>
              </a:rPr>
              <a:t>Reproducible missingness-aware pipeline.</a:t>
            </a:r>
            <a:endParaRPr sz="1400"/>
          </a:p>
          <a:p xmlns:a="http://schemas.openxmlformats.org/drawingml/2006/main">
            <a:pPr marL="203200" indent="-203200">
              <a:lnSpc>
                <a:spcPct val="122000"/>
              </a:lnSpc>
              <a:spcAft>
                <a:spcPts val="1300"/>
              </a:spcAft>
              <a:buSzPct val="100000"/>
              <a:buChar char="•"/>
            </a:pPr>
            <a:r>
              <a:rPr sz="1400">
                <a:solidFill>
                  <a:srgbClr val="3C4A52"/>
                </a:solidFill>
                <a:latin typeface="Arial"/>
                <a:ea typeface="Arial"/>
                <a:cs typeface="Arial"/>
              </a:rPr>
              <a:t>Explicit, testable imputation decisions.</a:t>
            </a:r>
            <a:endParaRPr sz="1400"/>
          </a:p>
          <a:p xmlns:a="http://schemas.openxmlformats.org/drawingml/2006/main">
            <a:pPr marL="203200" indent="-203200">
              <a:lnSpc>
                <a:spcPct val="122000"/>
              </a:lnSpc>
              <a:spcAft>
                <a:spcPts val="1300"/>
              </a:spcAft>
              <a:buSzPct val="100000"/>
              <a:buChar char="•"/>
            </a:pPr>
            <a:r>
              <a:rPr sz="1400">
                <a:solidFill>
                  <a:srgbClr val="3C4A52"/>
                </a:solidFill>
                <a:latin typeface="Arial"/>
                <a:ea typeface="Arial"/>
                <a:cs typeface="Arial"/>
              </a:rPr>
              <a:t>Adaptable for linking cognition to outcomes.</a:t>
            </a:r>
            <a:endParaRPr sz="1400"/>
          </a:p>
        </p:txBody>
      </p:sp>
      <p:sp>
        <p:nvSpPr>
          <p:cNvPr id="16" name="Text 14">
            <a:extLst xmlns:a="http://schemas.openxmlformats.org/drawingml/2006/main">
              <a:ext uri="{FF2B5EF4-FFF2-40B4-BE49-F238E27FC236}">
                <a16:creationId xmlns:a16="http://schemas.microsoft.com/office/drawing/2014/main" id="{29AC10D2-74C4-4B63-8D71-852094D6C5ED}"/>
              </a:ext>
            </a:extLst>
          </p:cNvPr>
          <p:cNvSpPr>
            <a:spLocks xmlns:a="http://schemas.openxmlformats.org/drawingml/2006/main" noGrp="1"/>
          </p:cNvSpPr>
          <p:nvPr/>
        </p:nvSpPr>
        <p:spPr>
          <a:xfrm xmlns:a="http://schemas.openxmlformats.org/drawingml/2006/main">
            <a:off x="640080" y="5897880"/>
            <a:ext cx="10911535"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i="1">
                <a:solidFill>
                  <a:srgbClr val="7C8A94"/>
                </a:solidFill>
                <a:latin typeface="Arial"/>
                <a:ea typeface="Arial"/>
                <a:cs typeface="Arial"/>
              </a:rPr>
              <a:t>Long-term contribution: make missing-data decisions explicit, then test their influence — rather than hiding them.</a:t>
            </a:r>
            <a:endParaRPr sz="1250"/>
          </a:p>
        </p:txBody>
      </p:sp>
    </p:spTree>
    <p:extLst>
      <p:ext uri="{BB962C8B-B14F-4D97-AF65-F5344CB8AC3E}">
        <p14:creationId xmlns:p14="http://schemas.microsoft.com/office/powerpoint/2010/main" val="177795542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CA4EDB1-3058-4E4B-BF78-7791BAF403EB}"/>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TRANSLATION</a:t>
            </a:r>
            <a:endParaRPr sz="1150"/>
          </a:p>
        </p:txBody>
      </p:sp>
      <p:sp>
        <p:nvSpPr>
          <p:cNvPr id="3" name="Text 1">
            <a:extLst xmlns:a="http://schemas.openxmlformats.org/drawingml/2006/main">
              <a:ext uri="{FF2B5EF4-FFF2-40B4-BE49-F238E27FC236}">
                <a16:creationId xmlns:a16="http://schemas.microsoft.com/office/drawing/2014/main" id="{D678B38C-AF4C-409C-BF1D-DA2DA53DA0EB}"/>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CogDash — exploring the research findings</a:t>
            </a:r>
            <a:endParaRPr sz="2600"/>
          </a:p>
        </p:txBody>
      </p:sp>
      <p:sp>
        <p:nvSpPr>
          <p:cNvPr id="4" name="Shape 2">
            <a:extLst xmlns:a="http://schemas.openxmlformats.org/drawingml/2006/main">
              <a:ext uri="{FF2B5EF4-FFF2-40B4-BE49-F238E27FC236}">
                <a16:creationId xmlns:a16="http://schemas.microsoft.com/office/drawing/2014/main" id="{E9A1039B-95EA-42A8-A09C-06FCCAE92EDE}"/>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A3CC0887-10F6-4EC2-AF12-0A9DED811163}"/>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1395A57F-681E-4D14-8FD0-CA734FB1827E}"/>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C943BC62-D08A-4332-AF52-E67929263A82}"/>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19</a:t>
            </a:r>
            <a:endParaRPr sz="900"/>
          </a:p>
        </p:txBody>
      </p:sp>
      <p:pic>
        <p:nvPicPr>
          <p:cNvPr id="8" name="Image 0">
            <a:extLst xmlns:a="http://schemas.openxmlformats.org/drawingml/2006/main">
              <a:ext uri="{FF2B5EF4-FFF2-40B4-BE49-F238E27FC236}">
                <a16:creationId xmlns:a16="http://schemas.microsoft.com/office/drawing/2014/main" id="{A18B0621-6712-4EC7-8E2D-0906D2E4FF3C}"/>
              </a:ext>
            </a:extLst>
          </p:cNvPr>
          <p:cNvPicPr>
            <a:picLocks xmlns:a="http://schemas.openxmlformats.org/drawingml/2006/main" noChangeAspect="1"/>
          </p:cNvPicPr>
          <p:nvPr/>
        </p:nvPicPr>
        <p:blipFill>
          <a:blip xmlns:r="http://schemas.openxmlformats.org/officeDocument/2006/relationships" xmlns:a="http://schemas.openxmlformats.org/drawingml/2006/main" r:embed="R76e6bf07df4a4143"/>
          <a:stretch xmlns:a="http://schemas.openxmlformats.org/drawingml/2006/main">
            <a:fillRect l="0" t="0" r="0" b="0"/>
          </a:stretch>
        </p:blipFill>
        <p:spPr>
          <a:xfrm xmlns:a="http://schemas.openxmlformats.org/drawingml/2006/main">
            <a:off x="640080" y="1966317"/>
            <a:ext cx="5943600" cy="2925366"/>
          </a:xfrm>
          <a:prstGeom xmlns:a="http://schemas.openxmlformats.org/drawingml/2006/main" prst="rect">
            <a:avLst/>
          </a:prstGeom>
        </p:spPr>
      </p:pic>
      <p:pic>
        <p:nvPicPr>
          <p:cNvPr id="9" name="Image 1">
            <a:extLst xmlns:a="http://schemas.openxmlformats.org/drawingml/2006/main">
              <a:ext uri="{FF2B5EF4-FFF2-40B4-BE49-F238E27FC236}">
                <a16:creationId xmlns:a16="http://schemas.microsoft.com/office/drawing/2014/main" id="{7F44A37E-9747-45C1-BA7E-784DC17A56D4}"/>
              </a:ext>
            </a:extLst>
          </p:cNvPr>
          <p:cNvPicPr>
            <a:picLocks xmlns:a="http://schemas.openxmlformats.org/drawingml/2006/main" noChangeAspect="1"/>
          </p:cNvPicPr>
          <p:nvPr/>
        </p:nvPicPr>
        <p:blipFill>
          <a:blip xmlns:r="http://schemas.openxmlformats.org/officeDocument/2006/relationships" xmlns:a="http://schemas.openxmlformats.org/drawingml/2006/main" r:embed="Rf7d28cf30e4246ea"/>
          <a:stretch xmlns:a="http://schemas.openxmlformats.org/drawingml/2006/main">
            <a:fillRect l="0" t="0" r="0" b="0"/>
          </a:stretch>
        </p:blipFill>
        <p:spPr>
          <a:xfrm xmlns:a="http://schemas.openxmlformats.org/drawingml/2006/main">
            <a:off x="6400800" y="2168843"/>
            <a:ext cx="5120640" cy="2520315"/>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2262F8D6-B2FE-425E-859A-FCBF33F84786}"/>
              </a:ext>
            </a:extLst>
          </p:cNvPr>
          <p:cNvSpPr>
            <a:spLocks xmlns:a="http://schemas.openxmlformats.org/drawingml/2006/main" noGrp="1"/>
          </p:cNvSpPr>
          <p:nvPr/>
        </p:nvSpPr>
        <p:spPr>
          <a:xfrm xmlns:a="http://schemas.openxmlformats.org/drawingml/2006/main">
            <a:off x="640080" y="5303520"/>
            <a:ext cx="10911554" cy="9829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800"/>
              </a:spcAft>
              <a:buSzPct val="100000"/>
              <a:buChar char="•"/>
            </a:pPr>
            <a:r>
              <a:rPr sz="1350">
                <a:solidFill>
                  <a:srgbClr val="3C4A52"/>
                </a:solidFill>
                <a:latin typeface="Arial"/>
                <a:ea typeface="Arial"/>
                <a:cs typeface="Arial"/>
              </a:rPr>
              <a:t>Assessment-level and patient-level findings in eleven pages.</a:t>
            </a:r>
            <a:endParaRPr sz="1350"/>
          </a:p>
          <a:p xmlns:a="http://schemas.openxmlformats.org/drawingml/2006/main">
            <a:pPr marL="203200" indent="-203200">
              <a:lnSpc>
                <a:spcPct val="122000"/>
              </a:lnSpc>
              <a:spcAft>
                <a:spcPts val="800"/>
              </a:spcAft>
              <a:buSzPct val="100000"/>
              <a:buChar char="•"/>
            </a:pPr>
            <a:r>
              <a:rPr sz="1350">
                <a:solidFill>
                  <a:srgbClr val="3C4A52"/>
                </a:solidFill>
                <a:latin typeface="Arial"/>
                <a:ea typeface="Arial"/>
                <a:cs typeface="Arial"/>
              </a:rPr>
              <a:t>Saved-model profile comparison reports distances, not clinical probabilities.</a:t>
            </a:r>
          </a:p>
          <a:p xmlns:a="http://schemas.openxmlformats.org/drawingml/2006/main">
            <a:pPr marL="203200" indent="-203200">
              <a:lnSpc>
                <a:spcPct val="122000"/>
              </a:lnSpc>
              <a:spcAft>
                <a:spcPts val="800"/>
              </a:spcAft>
              <a:buSzPct val="100000"/>
              <a:buChar char="•"/>
            </a:pPr>
            <a:r>
              <a:rPr sz="1350">
                <a:solidFill>
                  <a:srgbClr val="3C4A52"/>
                </a:solidFill>
                <a:latin typeface="Arial"/>
                <a:ea typeface="Arial"/>
                <a:cs typeface="Arial"/>
              </a:rPr>
              <a:t>Research use; diagnostic and treatment utility remain unconfirmed.</a:t>
            </a:r>
          </a:p>
        </p:txBody>
      </p:sp>
    </p:spTree>
    <p:extLst>
      <p:ext uri="{BB962C8B-B14F-4D97-AF65-F5344CB8AC3E}">
        <p14:creationId xmlns:p14="http://schemas.microsoft.com/office/powerpoint/2010/main" val="45637879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8456BE-E8F7-448A-95E4-F09290FF6118}"/>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CAVEATS</a:t>
            </a:r>
            <a:endParaRPr sz="1150"/>
          </a:p>
        </p:txBody>
      </p:sp>
      <p:sp>
        <p:nvSpPr>
          <p:cNvPr id="3" name="Text 1">
            <a:extLst xmlns:a="http://schemas.openxmlformats.org/drawingml/2006/main">
              <a:ext uri="{FF2B5EF4-FFF2-40B4-BE49-F238E27FC236}">
                <a16:creationId xmlns:a16="http://schemas.microsoft.com/office/drawing/2014/main" id="{173021E3-42D9-4DFA-A576-67653FEAE3DE}"/>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Limitations</a:t>
            </a:r>
            <a:endParaRPr sz="2600"/>
          </a:p>
        </p:txBody>
      </p:sp>
      <p:sp>
        <p:nvSpPr>
          <p:cNvPr id="4" name="Shape 2">
            <a:extLst xmlns:a="http://schemas.openxmlformats.org/drawingml/2006/main">
              <a:ext uri="{FF2B5EF4-FFF2-40B4-BE49-F238E27FC236}">
                <a16:creationId xmlns:a16="http://schemas.microsoft.com/office/drawing/2014/main" id="{326658F1-1B9F-4501-9BA1-ACC1DB14AE02}"/>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E960F13B-0017-4931-A685-F0705CEFDAAC}"/>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AFB7976A-AD91-4E8B-BE08-888C01B261D0}"/>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46F1C984-3A6B-481B-8BAD-5467BDA5249B}"/>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20</a:t>
            </a:r>
            <a:endParaRPr sz="900"/>
          </a:p>
        </p:txBody>
      </p:sp>
      <p:sp>
        <p:nvSpPr>
          <p:cNvPr id="8" name="Shape 6">
            <a:extLst xmlns:a="http://schemas.openxmlformats.org/drawingml/2006/main">
              <a:ext uri="{FF2B5EF4-FFF2-40B4-BE49-F238E27FC236}">
                <a16:creationId xmlns:a16="http://schemas.microsoft.com/office/drawing/2014/main" id="{51A04BFA-C23E-43E3-AF43-0BFD071401F6}"/>
              </a:ext>
            </a:extLst>
          </p:cNvPr>
          <p:cNvSpPr>
            <a:spLocks xmlns:a="http://schemas.openxmlformats.org/drawingml/2006/main" noGrp="1"/>
          </p:cNvSpPr>
          <p:nvPr/>
        </p:nvSpPr>
        <p:spPr>
          <a:xfrm xmlns:a="http://schemas.openxmlformats.org/drawingml/2006/main">
            <a:off x="640080" y="1627632"/>
            <a:ext cx="5227168" cy="1325880"/>
          </a:xfrm>
          <a:prstGeom xmlns:a="http://schemas.openxmlformats.org/drawingml/2006/main" prst="roundRect">
            <a:avLst>
              <a:gd name="adj" fmla="val 5517"/>
            </a:avLst>
          </a:prstGeom>
          <a:solidFill xmlns:a="http://schemas.openxmlformats.org/drawingml/2006/main">
            <a:srgbClr val="F5F8F9"/>
          </a:solidFill>
          <a:ln xmlns:a="http://schemas.openxmlformats.org/drawingml/2006/main" w="12700">
            <a:solidFill>
              <a:srgbClr val="E3E9EC"/>
            </a:solidFill>
            <a:prstDash val="solid"/>
          </a:ln>
        </p:spPr>
      </p:sp>
      <p:sp>
        <p:nvSpPr>
          <p:cNvPr id="9" name="Shape 7">
            <a:extLst xmlns:a="http://schemas.openxmlformats.org/drawingml/2006/main">
              <a:ext uri="{FF2B5EF4-FFF2-40B4-BE49-F238E27FC236}">
                <a16:creationId xmlns:a16="http://schemas.microsoft.com/office/drawing/2014/main" id="{1D18AE43-D333-43AB-AFCB-53C7B1FBF20E}"/>
              </a:ext>
            </a:extLst>
          </p:cNvPr>
          <p:cNvSpPr>
            <a:spLocks xmlns:a="http://schemas.openxmlformats.org/drawingml/2006/main" noGrp="1"/>
          </p:cNvSpPr>
          <p:nvPr/>
        </p:nvSpPr>
        <p:spPr>
          <a:xfrm xmlns:a="http://schemas.openxmlformats.org/drawingml/2006/main">
            <a:off x="640080" y="1627632"/>
            <a:ext cx="128016" cy="1325880"/>
          </a:xfrm>
          <a:prstGeom xmlns:a="http://schemas.openxmlformats.org/drawingml/2006/main" prst="rect">
            <a:avLst/>
          </a:prstGeom>
          <a:solidFill xmlns:a="http://schemas.openxmlformats.org/drawingml/2006/main">
            <a:srgbClr val="D49A4E"/>
          </a:solidFill>
        </p:spPr>
      </p:sp>
      <p:sp>
        <p:nvSpPr>
          <p:cNvPr id="10" name="Text 8">
            <a:extLst xmlns:a="http://schemas.openxmlformats.org/drawingml/2006/main">
              <a:ext uri="{FF2B5EF4-FFF2-40B4-BE49-F238E27FC236}">
                <a16:creationId xmlns:a16="http://schemas.microsoft.com/office/drawing/2014/main" id="{CFE8CED0-D97F-4B32-B651-70C218BC4145}"/>
              </a:ext>
            </a:extLst>
          </p:cNvPr>
          <p:cNvSpPr>
            <a:spLocks xmlns:a="http://schemas.openxmlformats.org/drawingml/2006/main" noGrp="1"/>
          </p:cNvSpPr>
          <p:nvPr/>
        </p:nvSpPr>
        <p:spPr>
          <a:xfrm xmlns:a="http://schemas.openxmlformats.org/drawingml/2006/main">
            <a:off x="960120" y="1792224"/>
            <a:ext cx="4678528"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B2A30"/>
                </a:solidFill>
                <a:latin typeface="Arial"/>
                <a:ea typeface="Arial"/>
                <a:cs typeface="Arial"/>
              </a:rPr>
              <a:t>Single site</a:t>
            </a:r>
            <a:endParaRPr sz="1500"/>
          </a:p>
        </p:txBody>
      </p:sp>
      <p:sp>
        <p:nvSpPr>
          <p:cNvPr id="11" name="Text 9">
            <a:extLst xmlns:a="http://schemas.openxmlformats.org/drawingml/2006/main">
              <a:ext uri="{FF2B5EF4-FFF2-40B4-BE49-F238E27FC236}">
                <a16:creationId xmlns:a16="http://schemas.microsoft.com/office/drawing/2014/main" id="{2AFCEED1-4742-4DA7-B107-1F2E0CCC06A1}"/>
              </a:ext>
            </a:extLst>
          </p:cNvPr>
          <p:cNvSpPr>
            <a:spLocks xmlns:a="http://schemas.openxmlformats.org/drawingml/2006/main" noGrp="1"/>
          </p:cNvSpPr>
          <p:nvPr/>
        </p:nvSpPr>
        <p:spPr>
          <a:xfrm xmlns:a="http://schemas.openxmlformats.org/drawingml/2006/main">
            <a:off x="960120" y="2194560"/>
            <a:ext cx="4632808"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250">
                <a:solidFill>
                  <a:srgbClr val="3C4A52"/>
                </a:solidFill>
                <a:latin typeface="Arial"/>
                <a:ea typeface="Arial"/>
                <a:cs typeface="Arial"/>
              </a:rPr>
              <a:t>One rehabilitation centre — external replication is required.</a:t>
            </a:r>
            <a:endParaRPr sz="1250"/>
          </a:p>
        </p:txBody>
      </p:sp>
      <p:sp>
        <p:nvSpPr>
          <p:cNvPr id="12" name="Shape 10">
            <a:extLst xmlns:a="http://schemas.openxmlformats.org/drawingml/2006/main">
              <a:ext uri="{FF2B5EF4-FFF2-40B4-BE49-F238E27FC236}">
                <a16:creationId xmlns:a16="http://schemas.microsoft.com/office/drawing/2014/main" id="{17757EFD-C389-48BD-86C7-D312CE117502}"/>
              </a:ext>
            </a:extLst>
          </p:cNvPr>
          <p:cNvSpPr>
            <a:spLocks xmlns:a="http://schemas.openxmlformats.org/drawingml/2006/main" noGrp="1"/>
          </p:cNvSpPr>
          <p:nvPr/>
        </p:nvSpPr>
        <p:spPr>
          <a:xfrm xmlns:a="http://schemas.openxmlformats.org/drawingml/2006/main">
            <a:off x="6324448" y="1627632"/>
            <a:ext cx="5227168" cy="1325880"/>
          </a:xfrm>
          <a:prstGeom xmlns:a="http://schemas.openxmlformats.org/drawingml/2006/main" prst="roundRect">
            <a:avLst>
              <a:gd name="adj" fmla="val 5517"/>
            </a:avLst>
          </a:prstGeom>
          <a:solidFill xmlns:a="http://schemas.openxmlformats.org/drawingml/2006/main">
            <a:srgbClr val="F5F8F9"/>
          </a:solidFill>
          <a:ln xmlns:a="http://schemas.openxmlformats.org/drawingml/2006/main" w="12700">
            <a:solidFill>
              <a:srgbClr val="E3E9EC"/>
            </a:solidFill>
            <a:prstDash val="solid"/>
          </a:ln>
        </p:spPr>
      </p:sp>
      <p:sp>
        <p:nvSpPr>
          <p:cNvPr id="13" name="Shape 11">
            <a:extLst xmlns:a="http://schemas.openxmlformats.org/drawingml/2006/main">
              <a:ext uri="{FF2B5EF4-FFF2-40B4-BE49-F238E27FC236}">
                <a16:creationId xmlns:a16="http://schemas.microsoft.com/office/drawing/2014/main" id="{AE51F2CE-F9E6-4E42-B2F4-87DB434A4A28}"/>
              </a:ext>
            </a:extLst>
          </p:cNvPr>
          <p:cNvSpPr>
            <a:spLocks xmlns:a="http://schemas.openxmlformats.org/drawingml/2006/main" noGrp="1"/>
          </p:cNvSpPr>
          <p:nvPr/>
        </p:nvSpPr>
        <p:spPr>
          <a:xfrm xmlns:a="http://schemas.openxmlformats.org/drawingml/2006/main">
            <a:off x="6324448" y="1627632"/>
            <a:ext cx="128016" cy="1325880"/>
          </a:xfrm>
          <a:prstGeom xmlns:a="http://schemas.openxmlformats.org/drawingml/2006/main" prst="rect">
            <a:avLst/>
          </a:prstGeom>
          <a:solidFill xmlns:a="http://schemas.openxmlformats.org/drawingml/2006/main">
            <a:srgbClr val="D49A4E"/>
          </a:solidFill>
        </p:spPr>
      </p:sp>
      <p:sp>
        <p:nvSpPr>
          <p:cNvPr id="14" name="Text 12">
            <a:extLst xmlns:a="http://schemas.openxmlformats.org/drawingml/2006/main">
              <a:ext uri="{FF2B5EF4-FFF2-40B4-BE49-F238E27FC236}">
                <a16:creationId xmlns:a16="http://schemas.microsoft.com/office/drawing/2014/main" id="{F2E937E2-BA88-41B8-9C18-E9FD7E0E5D75}"/>
              </a:ext>
            </a:extLst>
          </p:cNvPr>
          <p:cNvSpPr>
            <a:spLocks xmlns:a="http://schemas.openxmlformats.org/drawingml/2006/main" noGrp="1"/>
          </p:cNvSpPr>
          <p:nvPr/>
        </p:nvSpPr>
        <p:spPr>
          <a:xfrm xmlns:a="http://schemas.openxmlformats.org/drawingml/2006/main">
            <a:off x="6644488" y="1792224"/>
            <a:ext cx="4678528"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B2A30"/>
                </a:solidFill>
                <a:latin typeface="Arial"/>
                <a:ea typeface="Arial"/>
                <a:cs typeface="Arial"/>
              </a:rPr>
              <a:t>Longitudinal selection</a:t>
            </a:r>
            <a:endParaRPr sz="1500"/>
          </a:p>
        </p:txBody>
      </p:sp>
      <p:sp>
        <p:nvSpPr>
          <p:cNvPr id="15" name="Text 13">
            <a:extLst xmlns:a="http://schemas.openxmlformats.org/drawingml/2006/main">
              <a:ext uri="{FF2B5EF4-FFF2-40B4-BE49-F238E27FC236}">
                <a16:creationId xmlns:a16="http://schemas.microsoft.com/office/drawing/2014/main" id="{5384DE33-2648-438B-985D-E714558900A9}"/>
              </a:ext>
            </a:extLst>
          </p:cNvPr>
          <p:cNvSpPr>
            <a:spLocks xmlns:a="http://schemas.openxmlformats.org/drawingml/2006/main" noGrp="1"/>
          </p:cNvSpPr>
          <p:nvPr/>
        </p:nvSpPr>
        <p:spPr>
          <a:xfrm xmlns:a="http://schemas.openxmlformats.org/drawingml/2006/main">
            <a:off x="6644488" y="2194560"/>
            <a:ext cx="4632808"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250">
                <a:solidFill>
                  <a:srgbClr val="3C4A52"/>
                </a:solidFill>
                <a:latin typeface="Arial"/>
                <a:ea typeface="Arial"/>
                <a:cs typeface="Arial"/>
              </a:rPr>
              <a:t>One trajectory class meets the 5% size rule; nonlinear change and informative dropout remain unresolved.</a:t>
            </a:r>
            <a:endParaRPr sz="1250"/>
          </a:p>
        </p:txBody>
      </p:sp>
      <p:sp>
        <p:nvSpPr>
          <p:cNvPr id="16" name="Shape 14">
            <a:extLst xmlns:a="http://schemas.openxmlformats.org/drawingml/2006/main">
              <a:ext uri="{FF2B5EF4-FFF2-40B4-BE49-F238E27FC236}">
                <a16:creationId xmlns:a16="http://schemas.microsoft.com/office/drawing/2014/main" id="{C635214C-55CB-4E15-A113-41CF0BFBD070}"/>
              </a:ext>
            </a:extLst>
          </p:cNvPr>
          <p:cNvSpPr>
            <a:spLocks xmlns:a="http://schemas.openxmlformats.org/drawingml/2006/main" noGrp="1"/>
          </p:cNvSpPr>
          <p:nvPr/>
        </p:nvSpPr>
        <p:spPr>
          <a:xfrm xmlns:a="http://schemas.openxmlformats.org/drawingml/2006/main">
            <a:off x="640080" y="3182112"/>
            <a:ext cx="5227168" cy="1325880"/>
          </a:xfrm>
          <a:prstGeom xmlns:a="http://schemas.openxmlformats.org/drawingml/2006/main" prst="roundRect">
            <a:avLst>
              <a:gd name="adj" fmla="val 5517"/>
            </a:avLst>
          </a:prstGeom>
          <a:solidFill xmlns:a="http://schemas.openxmlformats.org/drawingml/2006/main">
            <a:srgbClr val="F5F8F9"/>
          </a:solidFill>
          <a:ln xmlns:a="http://schemas.openxmlformats.org/drawingml/2006/main" w="12700">
            <a:solidFill>
              <a:srgbClr val="E3E9EC"/>
            </a:solidFill>
            <a:prstDash val="solid"/>
          </a:ln>
        </p:spPr>
      </p:sp>
      <p:sp>
        <p:nvSpPr>
          <p:cNvPr id="17" name="Shape 15">
            <a:extLst xmlns:a="http://schemas.openxmlformats.org/drawingml/2006/main">
              <a:ext uri="{FF2B5EF4-FFF2-40B4-BE49-F238E27FC236}">
                <a16:creationId xmlns:a16="http://schemas.microsoft.com/office/drawing/2014/main" id="{F94C89C6-9C3B-4502-A371-A83413795229}"/>
              </a:ext>
            </a:extLst>
          </p:cNvPr>
          <p:cNvSpPr>
            <a:spLocks xmlns:a="http://schemas.openxmlformats.org/drawingml/2006/main" noGrp="1"/>
          </p:cNvSpPr>
          <p:nvPr/>
        </p:nvSpPr>
        <p:spPr>
          <a:xfrm xmlns:a="http://schemas.openxmlformats.org/drawingml/2006/main">
            <a:off x="640080" y="3182112"/>
            <a:ext cx="128016" cy="1325880"/>
          </a:xfrm>
          <a:prstGeom xmlns:a="http://schemas.openxmlformats.org/drawingml/2006/main" prst="rect">
            <a:avLst/>
          </a:prstGeom>
          <a:solidFill xmlns:a="http://schemas.openxmlformats.org/drawingml/2006/main">
            <a:srgbClr val="D49A4E"/>
          </a:solidFill>
        </p:spPr>
      </p:sp>
      <p:sp>
        <p:nvSpPr>
          <p:cNvPr id="18" name="Text 16">
            <a:extLst xmlns:a="http://schemas.openxmlformats.org/drawingml/2006/main">
              <a:ext uri="{FF2B5EF4-FFF2-40B4-BE49-F238E27FC236}">
                <a16:creationId xmlns:a16="http://schemas.microsoft.com/office/drawing/2014/main" id="{FEE2647E-2780-46FA-B130-86B6ACC3233A}"/>
              </a:ext>
            </a:extLst>
          </p:cNvPr>
          <p:cNvSpPr>
            <a:spLocks xmlns:a="http://schemas.openxmlformats.org/drawingml/2006/main" noGrp="1"/>
          </p:cNvSpPr>
          <p:nvPr/>
        </p:nvSpPr>
        <p:spPr>
          <a:xfrm xmlns:a="http://schemas.openxmlformats.org/drawingml/2006/main">
            <a:off x="960120" y="3346704"/>
            <a:ext cx="4678528"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B2A30"/>
                </a:solidFill>
                <a:latin typeface="Arial"/>
                <a:ea typeface="Arial"/>
                <a:cs typeface="Arial"/>
              </a:rPr>
              <a:t>Missing-data assumptions</a:t>
            </a:r>
            <a:endParaRPr sz="1500"/>
          </a:p>
        </p:txBody>
      </p:sp>
      <p:sp>
        <p:nvSpPr>
          <p:cNvPr id="19" name="Text 17">
            <a:extLst xmlns:a="http://schemas.openxmlformats.org/drawingml/2006/main">
              <a:ext uri="{FF2B5EF4-FFF2-40B4-BE49-F238E27FC236}">
                <a16:creationId xmlns:a16="http://schemas.microsoft.com/office/drawing/2014/main" id="{EC8DA394-B377-4CAA-9F45-97974D6A1442}"/>
              </a:ext>
            </a:extLst>
          </p:cNvPr>
          <p:cNvSpPr>
            <a:spLocks xmlns:a="http://schemas.openxmlformats.org/drawingml/2006/main" noGrp="1"/>
          </p:cNvSpPr>
          <p:nvPr/>
        </p:nvSpPr>
        <p:spPr>
          <a:xfrm xmlns:a="http://schemas.openxmlformats.org/drawingml/2006/main">
            <a:off x="960120" y="3749040"/>
            <a:ext cx="4632808"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250">
                <a:solidFill>
                  <a:srgbClr val="3C4A52"/>
                </a:solidFill>
                <a:latin typeface="Arial"/>
                <a:ea typeface="Arial"/>
                <a:cs typeface="Arial"/>
              </a:rPr>
              <a:t>MAR is a working assumption; MNAR cannot be excluded.</a:t>
            </a:r>
            <a:endParaRPr sz="1250"/>
          </a:p>
        </p:txBody>
      </p:sp>
      <p:sp>
        <p:nvSpPr>
          <p:cNvPr id="20" name="Shape 18">
            <a:extLst xmlns:a="http://schemas.openxmlformats.org/drawingml/2006/main">
              <a:ext uri="{FF2B5EF4-FFF2-40B4-BE49-F238E27FC236}">
                <a16:creationId xmlns:a16="http://schemas.microsoft.com/office/drawing/2014/main" id="{73B890F4-E5B9-4D02-8354-C86CDBD8263F}"/>
              </a:ext>
            </a:extLst>
          </p:cNvPr>
          <p:cNvSpPr>
            <a:spLocks xmlns:a="http://schemas.openxmlformats.org/drawingml/2006/main" noGrp="1"/>
          </p:cNvSpPr>
          <p:nvPr/>
        </p:nvSpPr>
        <p:spPr>
          <a:xfrm xmlns:a="http://schemas.openxmlformats.org/drawingml/2006/main">
            <a:off x="6324448" y="3182112"/>
            <a:ext cx="5227168" cy="1325880"/>
          </a:xfrm>
          <a:prstGeom xmlns:a="http://schemas.openxmlformats.org/drawingml/2006/main" prst="roundRect">
            <a:avLst>
              <a:gd name="adj" fmla="val 5517"/>
            </a:avLst>
          </a:prstGeom>
          <a:solidFill xmlns:a="http://schemas.openxmlformats.org/drawingml/2006/main">
            <a:srgbClr val="F5F8F9"/>
          </a:solidFill>
          <a:ln xmlns:a="http://schemas.openxmlformats.org/drawingml/2006/main" w="12700">
            <a:solidFill>
              <a:srgbClr val="E3E9EC"/>
            </a:solidFill>
            <a:prstDash val="solid"/>
          </a:ln>
        </p:spPr>
      </p:sp>
      <p:sp>
        <p:nvSpPr>
          <p:cNvPr id="21" name="Shape 19">
            <a:extLst xmlns:a="http://schemas.openxmlformats.org/drawingml/2006/main">
              <a:ext uri="{FF2B5EF4-FFF2-40B4-BE49-F238E27FC236}">
                <a16:creationId xmlns:a16="http://schemas.microsoft.com/office/drawing/2014/main" id="{B1DBB809-CFBD-425F-AC74-C51B24BE2BA7}"/>
              </a:ext>
            </a:extLst>
          </p:cNvPr>
          <p:cNvSpPr>
            <a:spLocks xmlns:a="http://schemas.openxmlformats.org/drawingml/2006/main" noGrp="1"/>
          </p:cNvSpPr>
          <p:nvPr/>
        </p:nvSpPr>
        <p:spPr>
          <a:xfrm xmlns:a="http://schemas.openxmlformats.org/drawingml/2006/main">
            <a:off x="6324448" y="3182112"/>
            <a:ext cx="128016" cy="1325880"/>
          </a:xfrm>
          <a:prstGeom xmlns:a="http://schemas.openxmlformats.org/drawingml/2006/main" prst="rect">
            <a:avLst/>
          </a:prstGeom>
          <a:solidFill xmlns:a="http://schemas.openxmlformats.org/drawingml/2006/main">
            <a:srgbClr val="D49A4E"/>
          </a:solidFill>
        </p:spPr>
      </p:sp>
      <p:sp>
        <p:nvSpPr>
          <p:cNvPr id="22" name="Text 20">
            <a:extLst xmlns:a="http://schemas.openxmlformats.org/drawingml/2006/main">
              <a:ext uri="{FF2B5EF4-FFF2-40B4-BE49-F238E27FC236}">
                <a16:creationId xmlns:a16="http://schemas.microsoft.com/office/drawing/2014/main" id="{BD003DB5-75E4-4D20-B6C2-FE37B03095FA}"/>
              </a:ext>
            </a:extLst>
          </p:cNvPr>
          <p:cNvSpPr>
            <a:spLocks xmlns:a="http://schemas.openxmlformats.org/drawingml/2006/main" noGrp="1"/>
          </p:cNvSpPr>
          <p:nvPr/>
        </p:nvSpPr>
        <p:spPr>
          <a:xfrm xmlns:a="http://schemas.openxmlformats.org/drawingml/2006/main">
            <a:off x="6644488" y="3346704"/>
            <a:ext cx="4678528"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B2A30"/>
                </a:solidFill>
                <a:latin typeface="Arial"/>
                <a:ea typeface="Arial"/>
                <a:cs typeface="Arial"/>
              </a:rPr>
              <a:t>No functional outcomes</a:t>
            </a:r>
            <a:endParaRPr sz="1500"/>
          </a:p>
        </p:txBody>
      </p:sp>
      <p:sp>
        <p:nvSpPr>
          <p:cNvPr id="23" name="Text 21">
            <a:extLst xmlns:a="http://schemas.openxmlformats.org/drawingml/2006/main">
              <a:ext uri="{FF2B5EF4-FFF2-40B4-BE49-F238E27FC236}">
                <a16:creationId xmlns:a16="http://schemas.microsoft.com/office/drawing/2014/main" id="{652452A7-1405-4200-AEDF-A1FDAD210204}"/>
              </a:ext>
            </a:extLst>
          </p:cNvPr>
          <p:cNvSpPr>
            <a:spLocks xmlns:a="http://schemas.openxmlformats.org/drawingml/2006/main" noGrp="1"/>
          </p:cNvSpPr>
          <p:nvPr/>
        </p:nvSpPr>
        <p:spPr>
          <a:xfrm xmlns:a="http://schemas.openxmlformats.org/drawingml/2006/main">
            <a:off x="6644488" y="3749040"/>
            <a:ext cx="4632808"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250">
                <a:solidFill>
                  <a:srgbClr val="3C4A52"/>
                </a:solidFill>
                <a:latin typeface="Arial"/>
                <a:ea typeface="Arial"/>
                <a:cs typeface="Arial"/>
              </a:rPr>
              <a:t>Return-to-work, length-of-stay and independence were unavailable.</a:t>
            </a:r>
            <a:endParaRPr sz="1250"/>
          </a:p>
        </p:txBody>
      </p:sp>
      <p:sp>
        <p:nvSpPr>
          <p:cNvPr id="24" name="Shape 22">
            <a:extLst xmlns:a="http://schemas.openxmlformats.org/drawingml/2006/main">
              <a:ext uri="{FF2B5EF4-FFF2-40B4-BE49-F238E27FC236}">
                <a16:creationId xmlns:a16="http://schemas.microsoft.com/office/drawing/2014/main" id="{CB6E160E-DDAE-4A03-BB95-53C78B85EC65}"/>
              </a:ext>
            </a:extLst>
          </p:cNvPr>
          <p:cNvSpPr>
            <a:spLocks xmlns:a="http://schemas.openxmlformats.org/drawingml/2006/main" noGrp="1"/>
          </p:cNvSpPr>
          <p:nvPr/>
        </p:nvSpPr>
        <p:spPr>
          <a:xfrm xmlns:a="http://schemas.openxmlformats.org/drawingml/2006/main">
            <a:off x="640080" y="4736592"/>
            <a:ext cx="5227168" cy="1325880"/>
          </a:xfrm>
          <a:prstGeom xmlns:a="http://schemas.openxmlformats.org/drawingml/2006/main" prst="roundRect">
            <a:avLst>
              <a:gd name="adj" fmla="val 5517"/>
            </a:avLst>
          </a:prstGeom>
          <a:solidFill xmlns:a="http://schemas.openxmlformats.org/drawingml/2006/main">
            <a:srgbClr val="F5F8F9"/>
          </a:solidFill>
          <a:ln xmlns:a="http://schemas.openxmlformats.org/drawingml/2006/main" w="12700">
            <a:solidFill>
              <a:srgbClr val="E3E9EC"/>
            </a:solidFill>
            <a:prstDash val="solid"/>
          </a:ln>
        </p:spPr>
      </p:sp>
      <p:sp>
        <p:nvSpPr>
          <p:cNvPr id="25" name="Shape 23">
            <a:extLst xmlns:a="http://schemas.openxmlformats.org/drawingml/2006/main">
              <a:ext uri="{FF2B5EF4-FFF2-40B4-BE49-F238E27FC236}">
                <a16:creationId xmlns:a16="http://schemas.microsoft.com/office/drawing/2014/main" id="{5B6A323B-14E5-4814-BC61-A85DDC05DB7B}"/>
              </a:ext>
            </a:extLst>
          </p:cNvPr>
          <p:cNvSpPr>
            <a:spLocks xmlns:a="http://schemas.openxmlformats.org/drawingml/2006/main" noGrp="1"/>
          </p:cNvSpPr>
          <p:nvPr/>
        </p:nvSpPr>
        <p:spPr>
          <a:xfrm xmlns:a="http://schemas.openxmlformats.org/drawingml/2006/main">
            <a:off x="640080" y="4736592"/>
            <a:ext cx="128016" cy="1325880"/>
          </a:xfrm>
          <a:prstGeom xmlns:a="http://schemas.openxmlformats.org/drawingml/2006/main" prst="rect">
            <a:avLst/>
          </a:prstGeom>
          <a:solidFill xmlns:a="http://schemas.openxmlformats.org/drawingml/2006/main">
            <a:srgbClr val="D49A4E"/>
          </a:solidFill>
        </p:spPr>
      </p:sp>
      <p:sp>
        <p:nvSpPr>
          <p:cNvPr id="26" name="Text 24">
            <a:extLst xmlns:a="http://schemas.openxmlformats.org/drawingml/2006/main">
              <a:ext uri="{FF2B5EF4-FFF2-40B4-BE49-F238E27FC236}">
                <a16:creationId xmlns:a16="http://schemas.microsoft.com/office/drawing/2014/main" id="{12DBB0DD-4A9A-4884-BC17-2818DEEDDA00}"/>
              </a:ext>
            </a:extLst>
          </p:cNvPr>
          <p:cNvSpPr>
            <a:spLocks xmlns:a="http://schemas.openxmlformats.org/drawingml/2006/main" noGrp="1"/>
          </p:cNvSpPr>
          <p:nvPr/>
        </p:nvSpPr>
        <p:spPr>
          <a:xfrm xmlns:a="http://schemas.openxmlformats.org/drawingml/2006/main">
            <a:off x="960120" y="4901184"/>
            <a:ext cx="4678528"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B2A30"/>
                </a:solidFill>
                <a:latin typeface="Arial"/>
                <a:ea typeface="Arial"/>
                <a:cs typeface="Arial"/>
              </a:rPr>
              <a:t>Embedding-based validation</a:t>
            </a:r>
            <a:endParaRPr sz="1500"/>
          </a:p>
        </p:txBody>
      </p:sp>
      <p:sp>
        <p:nvSpPr>
          <p:cNvPr id="27" name="Text 25">
            <a:extLst xmlns:a="http://schemas.openxmlformats.org/drawingml/2006/main">
              <a:ext uri="{FF2B5EF4-FFF2-40B4-BE49-F238E27FC236}">
                <a16:creationId xmlns:a16="http://schemas.microsoft.com/office/drawing/2014/main" id="{23CB3834-7D52-48BE-BBFB-9B28561CA092}"/>
              </a:ext>
            </a:extLst>
          </p:cNvPr>
          <p:cNvSpPr>
            <a:spLocks xmlns:a="http://schemas.openxmlformats.org/drawingml/2006/main" noGrp="1"/>
          </p:cNvSpPr>
          <p:nvPr/>
        </p:nvSpPr>
        <p:spPr>
          <a:xfrm xmlns:a="http://schemas.openxmlformats.org/drawingml/2006/main">
            <a:off x="960120" y="5303520"/>
            <a:ext cx="4632808"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250">
                <a:solidFill>
                  <a:srgbClr val="3C4A52"/>
                </a:solidFill>
                <a:latin typeface="Arial"/>
                <a:ea typeface="Arial"/>
                <a:cs typeface="Arial"/>
              </a:rPr>
              <a:t>UMAP-space silhouette may overstate separation.</a:t>
            </a:r>
            <a:endParaRPr sz="1250"/>
          </a:p>
        </p:txBody>
      </p:sp>
      <p:sp>
        <p:nvSpPr>
          <p:cNvPr id="28" name="Shape 26">
            <a:extLst xmlns:a="http://schemas.openxmlformats.org/drawingml/2006/main">
              <a:ext uri="{FF2B5EF4-FFF2-40B4-BE49-F238E27FC236}">
                <a16:creationId xmlns:a16="http://schemas.microsoft.com/office/drawing/2014/main" id="{0AFF62F0-AA0C-44E9-A486-0F661FDF1EFB}"/>
              </a:ext>
            </a:extLst>
          </p:cNvPr>
          <p:cNvSpPr>
            <a:spLocks xmlns:a="http://schemas.openxmlformats.org/drawingml/2006/main" noGrp="1"/>
          </p:cNvSpPr>
          <p:nvPr/>
        </p:nvSpPr>
        <p:spPr>
          <a:xfrm xmlns:a="http://schemas.openxmlformats.org/drawingml/2006/main">
            <a:off x="6324448" y="4736592"/>
            <a:ext cx="5227168" cy="1325880"/>
          </a:xfrm>
          <a:prstGeom xmlns:a="http://schemas.openxmlformats.org/drawingml/2006/main" prst="roundRect">
            <a:avLst>
              <a:gd name="adj" fmla="val 5517"/>
            </a:avLst>
          </a:prstGeom>
          <a:solidFill xmlns:a="http://schemas.openxmlformats.org/drawingml/2006/main">
            <a:srgbClr val="F5F8F9"/>
          </a:solidFill>
          <a:ln xmlns:a="http://schemas.openxmlformats.org/drawingml/2006/main" w="12700">
            <a:solidFill>
              <a:srgbClr val="E3E9EC"/>
            </a:solidFill>
            <a:prstDash val="solid"/>
          </a:ln>
        </p:spPr>
      </p:sp>
      <p:sp>
        <p:nvSpPr>
          <p:cNvPr id="29" name="Shape 27">
            <a:extLst xmlns:a="http://schemas.openxmlformats.org/drawingml/2006/main">
              <a:ext uri="{FF2B5EF4-FFF2-40B4-BE49-F238E27FC236}">
                <a16:creationId xmlns:a16="http://schemas.microsoft.com/office/drawing/2014/main" id="{306B020D-F1F4-4716-9EBD-1DA0B57D4E83}"/>
              </a:ext>
            </a:extLst>
          </p:cNvPr>
          <p:cNvSpPr>
            <a:spLocks xmlns:a="http://schemas.openxmlformats.org/drawingml/2006/main" noGrp="1"/>
          </p:cNvSpPr>
          <p:nvPr/>
        </p:nvSpPr>
        <p:spPr>
          <a:xfrm xmlns:a="http://schemas.openxmlformats.org/drawingml/2006/main">
            <a:off x="6324448" y="4736592"/>
            <a:ext cx="128016" cy="1325880"/>
          </a:xfrm>
          <a:prstGeom xmlns:a="http://schemas.openxmlformats.org/drawingml/2006/main" prst="rect">
            <a:avLst/>
          </a:prstGeom>
          <a:solidFill xmlns:a="http://schemas.openxmlformats.org/drawingml/2006/main">
            <a:srgbClr val="D49A4E"/>
          </a:solidFill>
        </p:spPr>
      </p:sp>
      <p:sp>
        <p:nvSpPr>
          <p:cNvPr id="30" name="Text 28">
            <a:extLst xmlns:a="http://schemas.openxmlformats.org/drawingml/2006/main">
              <a:ext uri="{FF2B5EF4-FFF2-40B4-BE49-F238E27FC236}">
                <a16:creationId xmlns:a16="http://schemas.microsoft.com/office/drawing/2014/main" id="{28399B69-0F2B-4ED8-BE02-BD9F5FA51A7D}"/>
              </a:ext>
            </a:extLst>
          </p:cNvPr>
          <p:cNvSpPr>
            <a:spLocks xmlns:a="http://schemas.openxmlformats.org/drawingml/2006/main" noGrp="1"/>
          </p:cNvSpPr>
          <p:nvPr/>
        </p:nvSpPr>
        <p:spPr>
          <a:xfrm xmlns:a="http://schemas.openxmlformats.org/drawingml/2006/main">
            <a:off x="6644488" y="4901184"/>
            <a:ext cx="4678528"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1B2A30"/>
                </a:solidFill>
                <a:latin typeface="Arial"/>
                <a:ea typeface="Arial"/>
                <a:cs typeface="Arial"/>
              </a:rPr>
              <a:t>Pipeline sensitivity</a:t>
            </a:r>
            <a:endParaRPr sz="1500"/>
          </a:p>
        </p:txBody>
      </p:sp>
      <p:sp>
        <p:nvSpPr>
          <p:cNvPr id="31" name="Text 29">
            <a:extLst xmlns:a="http://schemas.openxmlformats.org/drawingml/2006/main">
              <a:ext uri="{FF2B5EF4-FFF2-40B4-BE49-F238E27FC236}">
                <a16:creationId xmlns:a16="http://schemas.microsoft.com/office/drawing/2014/main" id="{A228C60C-DC93-4249-B5CF-7FA8391C40E6}"/>
              </a:ext>
            </a:extLst>
          </p:cNvPr>
          <p:cNvSpPr>
            <a:spLocks xmlns:a="http://schemas.openxmlformats.org/drawingml/2006/main" noGrp="1"/>
          </p:cNvSpPr>
          <p:nvPr/>
        </p:nvSpPr>
        <p:spPr>
          <a:xfrm xmlns:a="http://schemas.openxmlformats.org/drawingml/2006/main">
            <a:off x="6644488" y="5303520"/>
            <a:ext cx="4632808"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250">
                <a:solidFill>
                  <a:srgbClr val="3C4A52"/>
                </a:solidFill>
                <a:latin typeface="Arial"/>
                <a:ea typeface="Arial"/>
                <a:cs typeface="Arial"/>
              </a:rPr>
              <a:t>Scaling changes patient-level membership substantially (ARI 0.243).</a:t>
            </a:r>
            <a:endParaRPr sz="1250"/>
          </a:p>
        </p:txBody>
      </p:sp>
    </p:spTree>
    <p:extLst>
      <p:ext uri="{BB962C8B-B14F-4D97-AF65-F5344CB8AC3E}">
        <p14:creationId xmlns:p14="http://schemas.microsoft.com/office/powerpoint/2010/main" val="19517621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86965C5-39A8-47FC-8450-8C2638369FF6}"/>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IN SUMMARY</a:t>
            </a:r>
            <a:endParaRPr sz="1150"/>
          </a:p>
        </p:txBody>
      </p:sp>
      <p:sp>
        <p:nvSpPr>
          <p:cNvPr id="3" name="Text 1">
            <a:extLst xmlns:a="http://schemas.openxmlformats.org/drawingml/2006/main">
              <a:ext uri="{FF2B5EF4-FFF2-40B4-BE49-F238E27FC236}">
                <a16:creationId xmlns:a16="http://schemas.microsoft.com/office/drawing/2014/main" id="{F61D9F74-A177-4CF0-8533-37A2A0CC0347}"/>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Three conclusions</a:t>
            </a:r>
            <a:endParaRPr sz="2600"/>
          </a:p>
        </p:txBody>
      </p:sp>
      <p:sp>
        <p:nvSpPr>
          <p:cNvPr id="4" name="Shape 2">
            <a:extLst xmlns:a="http://schemas.openxmlformats.org/drawingml/2006/main">
              <a:ext uri="{FF2B5EF4-FFF2-40B4-BE49-F238E27FC236}">
                <a16:creationId xmlns:a16="http://schemas.microsoft.com/office/drawing/2014/main" id="{C6C7D20C-D4C6-4389-833C-4C2ADEB56DC1}"/>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D6D8DAFB-0309-400F-AE52-E40C8C2B7422}"/>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D83ED265-47AE-4679-9A09-E0EC9631F884}"/>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AEF0E67A-2A83-4670-A643-2BAD6A70930E}"/>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21</a:t>
            </a:r>
            <a:endParaRPr sz="900"/>
          </a:p>
        </p:txBody>
      </p:sp>
      <p:sp>
        <p:nvSpPr>
          <p:cNvPr id="8" name="Shape 6">
            <a:extLst xmlns:a="http://schemas.openxmlformats.org/drawingml/2006/main">
              <a:ext uri="{FF2B5EF4-FFF2-40B4-BE49-F238E27FC236}">
                <a16:creationId xmlns:a16="http://schemas.microsoft.com/office/drawing/2014/main" id="{3C87CB70-97B7-4FE4-AB02-F005F0B8B4EB}"/>
              </a:ext>
            </a:extLst>
          </p:cNvPr>
          <p:cNvSpPr>
            <a:spLocks xmlns:a="http://schemas.openxmlformats.org/drawingml/2006/main" noGrp="1"/>
          </p:cNvSpPr>
          <p:nvPr/>
        </p:nvSpPr>
        <p:spPr>
          <a:xfrm xmlns:a="http://schemas.openxmlformats.org/drawingml/2006/main">
            <a:off x="640080" y="1627632"/>
            <a:ext cx="10911535" cy="1188720"/>
          </a:xfrm>
          <a:prstGeom xmlns:a="http://schemas.openxmlformats.org/drawingml/2006/main" prst="roundRect">
            <a:avLst>
              <a:gd name="adj" fmla="val 6154"/>
            </a:avLst>
          </a:prstGeom>
          <a:solidFill xmlns:a="http://schemas.openxmlformats.org/drawingml/2006/main">
            <a:srgbClr val="F5F8F9"/>
          </a:solidFill>
          <a:ln xmlns:a="http://schemas.openxmlformats.org/drawingml/2006/main" w="12700">
            <a:solidFill>
              <a:srgbClr val="E3E9EC"/>
            </a:solidFill>
            <a:prstDash val="solid"/>
          </a:ln>
        </p:spPr>
      </p:sp>
      <p:sp>
        <p:nvSpPr>
          <p:cNvPr id="9" name="Text 7">
            <a:extLst xmlns:a="http://schemas.openxmlformats.org/drawingml/2006/main">
              <a:ext uri="{FF2B5EF4-FFF2-40B4-BE49-F238E27FC236}">
                <a16:creationId xmlns:a16="http://schemas.microsoft.com/office/drawing/2014/main" id="{ECF97644-41FA-4B00-8A3E-81723BCF3233}"/>
              </a:ext>
            </a:extLst>
          </p:cNvPr>
          <p:cNvSpPr>
            <a:spLocks xmlns:a="http://schemas.openxmlformats.org/drawingml/2006/main" noGrp="1"/>
          </p:cNvSpPr>
          <p:nvPr/>
        </p:nvSpPr>
        <p:spPr>
          <a:xfrm xmlns:a="http://schemas.openxmlformats.org/drawingml/2006/main">
            <a:off x="868680" y="1627632"/>
            <a:ext cx="822960" cy="11887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200" b="1">
                <a:solidFill>
                  <a:srgbClr val="2E8B7F"/>
                </a:solidFill>
                <a:latin typeface="Arial"/>
                <a:ea typeface="Arial"/>
                <a:cs typeface="Arial"/>
              </a:rPr>
              <a:t>1</a:t>
            </a:r>
            <a:endParaRPr sz="3200"/>
          </a:p>
        </p:txBody>
      </p:sp>
      <p:sp>
        <p:nvSpPr>
          <p:cNvPr id="10" name="Text 8">
            <a:extLst xmlns:a="http://schemas.openxmlformats.org/drawingml/2006/main">
              <a:ext uri="{FF2B5EF4-FFF2-40B4-BE49-F238E27FC236}">
                <a16:creationId xmlns:a16="http://schemas.microsoft.com/office/drawing/2014/main" id="{9251C9EF-F549-409E-AA74-7B7605CD1128}"/>
              </a:ext>
            </a:extLst>
          </p:cNvPr>
          <p:cNvSpPr>
            <a:spLocks xmlns:a="http://schemas.openxmlformats.org/drawingml/2006/main" noGrp="1"/>
          </p:cNvSpPr>
          <p:nvPr/>
        </p:nvSpPr>
        <p:spPr>
          <a:xfrm xmlns:a="http://schemas.openxmlformats.org/drawingml/2006/main">
            <a:off x="1828800" y="1810512"/>
            <a:ext cx="3108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1B2A30"/>
                </a:solidFill>
                <a:latin typeface="Arial"/>
                <a:ea typeface="Arial"/>
                <a:cs typeface="Arial"/>
              </a:rPr>
              <a:t>Empirical</a:t>
            </a:r>
            <a:endParaRPr sz="1700"/>
          </a:p>
        </p:txBody>
      </p:sp>
      <p:sp>
        <p:nvSpPr>
          <p:cNvPr id="11" name="Text 9">
            <a:extLst xmlns:a="http://schemas.openxmlformats.org/drawingml/2006/main">
              <a:ext uri="{FF2B5EF4-FFF2-40B4-BE49-F238E27FC236}">
                <a16:creationId xmlns:a16="http://schemas.microsoft.com/office/drawing/2014/main" id="{4D6BA8C1-83A5-48AE-AE0D-F6F590621ED6}"/>
              </a:ext>
            </a:extLst>
          </p:cNvPr>
          <p:cNvSpPr>
            <a:spLocks xmlns:a="http://schemas.openxmlformats.org/drawingml/2006/main" noGrp="1"/>
          </p:cNvSpPr>
          <p:nvPr/>
        </p:nvSpPr>
        <p:spPr>
          <a:xfrm xmlns:a="http://schemas.openxmlformats.org/drawingml/2006/main">
            <a:off x="5029200" y="1810512"/>
            <a:ext cx="6248095"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300">
                <a:solidFill>
                  <a:srgbClr val="3C4A52"/>
                </a:solidFill>
                <a:latin typeface="Arial"/>
                <a:ea typeface="Arial"/>
                <a:cs typeface="Arial"/>
              </a:rPr>
              <a:t>Repeatable score groups exist under specified choices. Distinct clinical phenotypes remain unconfirmed.</a:t>
            </a:r>
            <a:endParaRPr sz="1300"/>
          </a:p>
        </p:txBody>
      </p:sp>
      <p:sp>
        <p:nvSpPr>
          <p:cNvPr id="12" name="Shape 10">
            <a:extLst xmlns:a="http://schemas.openxmlformats.org/drawingml/2006/main">
              <a:ext uri="{FF2B5EF4-FFF2-40B4-BE49-F238E27FC236}">
                <a16:creationId xmlns:a16="http://schemas.microsoft.com/office/drawing/2014/main" id="{F90DF19D-DA96-490F-B806-4BA3E9D8BFA2}"/>
              </a:ext>
            </a:extLst>
          </p:cNvPr>
          <p:cNvSpPr>
            <a:spLocks xmlns:a="http://schemas.openxmlformats.org/drawingml/2006/main" noGrp="1"/>
          </p:cNvSpPr>
          <p:nvPr/>
        </p:nvSpPr>
        <p:spPr>
          <a:xfrm xmlns:a="http://schemas.openxmlformats.org/drawingml/2006/main">
            <a:off x="640080" y="3017520"/>
            <a:ext cx="10911535" cy="1188720"/>
          </a:xfrm>
          <a:prstGeom xmlns:a="http://schemas.openxmlformats.org/drawingml/2006/main" prst="roundRect">
            <a:avLst>
              <a:gd name="adj" fmla="val 6154"/>
            </a:avLst>
          </a:prstGeom>
          <a:solidFill xmlns:a="http://schemas.openxmlformats.org/drawingml/2006/main">
            <a:srgbClr val="F5F8F9"/>
          </a:solidFill>
          <a:ln xmlns:a="http://schemas.openxmlformats.org/drawingml/2006/main" w="12700">
            <a:solidFill>
              <a:srgbClr val="E3E9EC"/>
            </a:solidFill>
            <a:prstDash val="solid"/>
          </a:ln>
        </p:spPr>
      </p:sp>
      <p:sp>
        <p:nvSpPr>
          <p:cNvPr id="13" name="Text 11">
            <a:extLst xmlns:a="http://schemas.openxmlformats.org/drawingml/2006/main">
              <a:ext uri="{FF2B5EF4-FFF2-40B4-BE49-F238E27FC236}">
                <a16:creationId xmlns:a16="http://schemas.microsoft.com/office/drawing/2014/main" id="{8B318F75-9514-4039-824F-4C0FBBDBE38F}"/>
              </a:ext>
            </a:extLst>
          </p:cNvPr>
          <p:cNvSpPr>
            <a:spLocks xmlns:a="http://schemas.openxmlformats.org/drawingml/2006/main" noGrp="1"/>
          </p:cNvSpPr>
          <p:nvPr/>
        </p:nvSpPr>
        <p:spPr>
          <a:xfrm xmlns:a="http://schemas.openxmlformats.org/drawingml/2006/main">
            <a:off x="868680" y="3017520"/>
            <a:ext cx="822960" cy="11887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200" b="1">
                <a:solidFill>
                  <a:srgbClr val="11707A"/>
                </a:solidFill>
                <a:latin typeface="Arial"/>
                <a:ea typeface="Arial"/>
                <a:cs typeface="Arial"/>
              </a:rPr>
              <a:t>2</a:t>
            </a:r>
            <a:endParaRPr sz="3200"/>
          </a:p>
        </p:txBody>
      </p:sp>
      <p:sp>
        <p:nvSpPr>
          <p:cNvPr id="14" name="Text 12">
            <a:extLst xmlns:a="http://schemas.openxmlformats.org/drawingml/2006/main">
              <a:ext uri="{FF2B5EF4-FFF2-40B4-BE49-F238E27FC236}">
                <a16:creationId xmlns:a16="http://schemas.microsoft.com/office/drawing/2014/main" id="{6BFA7937-BFD1-4A66-8E84-C88F20193862}"/>
              </a:ext>
            </a:extLst>
          </p:cNvPr>
          <p:cNvSpPr>
            <a:spLocks xmlns:a="http://schemas.openxmlformats.org/drawingml/2006/main" noGrp="1"/>
          </p:cNvSpPr>
          <p:nvPr/>
        </p:nvSpPr>
        <p:spPr>
          <a:xfrm xmlns:a="http://schemas.openxmlformats.org/drawingml/2006/main">
            <a:off x="1828800" y="3200400"/>
            <a:ext cx="3108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1B2A30"/>
                </a:solidFill>
                <a:latin typeface="Arial"/>
                <a:ea typeface="Arial"/>
                <a:cs typeface="Arial"/>
              </a:rPr>
              <a:t>Methodological</a:t>
            </a:r>
            <a:endParaRPr sz="1700"/>
          </a:p>
        </p:txBody>
      </p:sp>
      <p:sp>
        <p:nvSpPr>
          <p:cNvPr id="15" name="Text 13">
            <a:extLst xmlns:a="http://schemas.openxmlformats.org/drawingml/2006/main">
              <a:ext uri="{FF2B5EF4-FFF2-40B4-BE49-F238E27FC236}">
                <a16:creationId xmlns:a16="http://schemas.microsoft.com/office/drawing/2014/main" id="{A241C90D-DADA-4577-8C5F-27CBF9E201AC}"/>
              </a:ext>
            </a:extLst>
          </p:cNvPr>
          <p:cNvSpPr>
            <a:spLocks xmlns:a="http://schemas.openxmlformats.org/drawingml/2006/main" noGrp="1"/>
          </p:cNvSpPr>
          <p:nvPr/>
        </p:nvSpPr>
        <p:spPr>
          <a:xfrm xmlns:a="http://schemas.openxmlformats.org/drawingml/2006/main">
            <a:off x="5029200" y="3200400"/>
            <a:ext cx="6248095"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300">
                <a:solidFill>
                  <a:srgbClr val="3C4A52"/>
                </a:solidFill>
                <a:latin typeface="Arial"/>
                <a:ea typeface="Arial"/>
                <a:cs typeface="Arial"/>
              </a:rPr>
              <a:t>Scaling, imputation and test availability materially affect group membership.</a:t>
            </a:r>
            <a:endParaRPr sz="1300"/>
          </a:p>
        </p:txBody>
      </p:sp>
      <p:sp>
        <p:nvSpPr>
          <p:cNvPr id="16" name="Shape 14">
            <a:extLst xmlns:a="http://schemas.openxmlformats.org/drawingml/2006/main">
              <a:ext uri="{FF2B5EF4-FFF2-40B4-BE49-F238E27FC236}">
                <a16:creationId xmlns:a16="http://schemas.microsoft.com/office/drawing/2014/main" id="{F5B0173E-BE8E-4142-AFA9-B2D31B4EE14E}"/>
              </a:ext>
            </a:extLst>
          </p:cNvPr>
          <p:cNvSpPr>
            <a:spLocks xmlns:a="http://schemas.openxmlformats.org/drawingml/2006/main" noGrp="1"/>
          </p:cNvSpPr>
          <p:nvPr/>
        </p:nvSpPr>
        <p:spPr>
          <a:xfrm xmlns:a="http://schemas.openxmlformats.org/drawingml/2006/main">
            <a:off x="640080" y="4407408"/>
            <a:ext cx="10911535" cy="1188720"/>
          </a:xfrm>
          <a:prstGeom xmlns:a="http://schemas.openxmlformats.org/drawingml/2006/main" prst="roundRect">
            <a:avLst>
              <a:gd name="adj" fmla="val 6154"/>
            </a:avLst>
          </a:prstGeom>
          <a:solidFill xmlns:a="http://schemas.openxmlformats.org/drawingml/2006/main">
            <a:srgbClr val="F5F8F9"/>
          </a:solidFill>
          <a:ln xmlns:a="http://schemas.openxmlformats.org/drawingml/2006/main" w="12700">
            <a:solidFill>
              <a:srgbClr val="E3E9EC"/>
            </a:solidFill>
            <a:prstDash val="solid"/>
          </a:ln>
        </p:spPr>
      </p:sp>
      <p:sp>
        <p:nvSpPr>
          <p:cNvPr id="17" name="Text 15">
            <a:extLst xmlns:a="http://schemas.openxmlformats.org/drawingml/2006/main">
              <a:ext uri="{FF2B5EF4-FFF2-40B4-BE49-F238E27FC236}">
                <a16:creationId xmlns:a16="http://schemas.microsoft.com/office/drawing/2014/main" id="{96E84C44-AB52-4FF5-8F96-E9A60AE71764}"/>
              </a:ext>
            </a:extLst>
          </p:cNvPr>
          <p:cNvSpPr>
            <a:spLocks xmlns:a="http://schemas.openxmlformats.org/drawingml/2006/main" noGrp="1"/>
          </p:cNvSpPr>
          <p:nvPr/>
        </p:nvSpPr>
        <p:spPr>
          <a:xfrm xmlns:a="http://schemas.openxmlformats.org/drawingml/2006/main">
            <a:off x="868680" y="4407408"/>
            <a:ext cx="822960" cy="11887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algn="ctr">
              <a:buNone/>
            </a:pPr>
            <a:r>
              <a:rPr sz="3200" b="1">
                <a:solidFill>
                  <a:srgbClr val="11707A"/>
                </a:solidFill>
                <a:latin typeface="Arial"/>
                <a:ea typeface="Arial"/>
                <a:cs typeface="Arial"/>
              </a:rPr>
              <a:t>3</a:t>
            </a:r>
            <a:endParaRPr sz="3200"/>
          </a:p>
        </p:txBody>
      </p:sp>
      <p:sp>
        <p:nvSpPr>
          <p:cNvPr id="18" name="Text 16">
            <a:extLst xmlns:a="http://schemas.openxmlformats.org/drawingml/2006/main">
              <a:ext uri="{FF2B5EF4-FFF2-40B4-BE49-F238E27FC236}">
                <a16:creationId xmlns:a16="http://schemas.microsoft.com/office/drawing/2014/main" id="{8DD32F44-DBAF-4042-B083-A1A0DF287D5A}"/>
              </a:ext>
            </a:extLst>
          </p:cNvPr>
          <p:cNvSpPr>
            <a:spLocks xmlns:a="http://schemas.openxmlformats.org/drawingml/2006/main" noGrp="1"/>
          </p:cNvSpPr>
          <p:nvPr/>
        </p:nvSpPr>
        <p:spPr>
          <a:xfrm xmlns:a="http://schemas.openxmlformats.org/drawingml/2006/main">
            <a:off x="1828800" y="4590288"/>
            <a:ext cx="3108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1B2A30"/>
                </a:solidFill>
                <a:latin typeface="Arial"/>
                <a:ea typeface="Arial"/>
                <a:cs typeface="Arial"/>
              </a:rPr>
              <a:t>Practical</a:t>
            </a:r>
            <a:endParaRPr sz="1700"/>
          </a:p>
        </p:txBody>
      </p:sp>
      <p:sp>
        <p:nvSpPr>
          <p:cNvPr id="19" name="Text 17">
            <a:extLst xmlns:a="http://schemas.openxmlformats.org/drawingml/2006/main">
              <a:ext uri="{FF2B5EF4-FFF2-40B4-BE49-F238E27FC236}">
                <a16:creationId xmlns:a16="http://schemas.microsoft.com/office/drawing/2014/main" id="{8B542146-5CA7-423F-B064-28CB09CD1349}"/>
              </a:ext>
            </a:extLst>
          </p:cNvPr>
          <p:cNvSpPr>
            <a:spLocks xmlns:a="http://schemas.openxmlformats.org/drawingml/2006/main" noGrp="1"/>
          </p:cNvSpPr>
          <p:nvPr/>
        </p:nvSpPr>
        <p:spPr>
          <a:xfrm xmlns:a="http://schemas.openxmlformats.org/drawingml/2006/main">
            <a:off x="5029200" y="4590288"/>
            <a:ext cx="6248095"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1300">
                <a:solidFill>
                  <a:srgbClr val="3C4A52"/>
                </a:solidFill>
                <a:latin typeface="Arial"/>
                <a:ea typeface="Arial"/>
                <a:cs typeface="Arial"/>
              </a:rPr>
              <a:t>Domain aggregation improves conditioning. Clinical utility requires independent outcomes and external replication.</a:t>
            </a:r>
            <a:endParaRPr sz="1300"/>
          </a:p>
        </p:txBody>
      </p:sp>
      <p:sp>
        <p:nvSpPr>
          <p:cNvPr id="20" name="Text 18">
            <a:extLst xmlns:a="http://schemas.openxmlformats.org/drawingml/2006/main">
              <a:ext uri="{FF2B5EF4-FFF2-40B4-BE49-F238E27FC236}">
                <a16:creationId xmlns:a16="http://schemas.microsoft.com/office/drawing/2014/main" id="{FA6A472C-C420-44D8-B6E9-E0EBD37385D8}"/>
              </a:ext>
            </a:extLst>
          </p:cNvPr>
          <p:cNvSpPr>
            <a:spLocks xmlns:a="http://schemas.openxmlformats.org/drawingml/2006/main" noGrp="1"/>
          </p:cNvSpPr>
          <p:nvPr/>
        </p:nvSpPr>
        <p:spPr>
          <a:xfrm xmlns:a="http://schemas.openxmlformats.org/drawingml/2006/main">
            <a:off x="640080" y="5943600"/>
            <a:ext cx="10911535"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endParaRPr sz="1350"/>
          </a:p>
        </p:txBody>
      </p:sp>
    </p:spTree>
    <p:extLst>
      <p:ext uri="{BB962C8B-B14F-4D97-AF65-F5344CB8AC3E}">
        <p14:creationId xmlns:p14="http://schemas.microsoft.com/office/powerpoint/2010/main" val="30204799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7C6EF20-5377-45F6-8772-75B14B880CA3}"/>
              </a:ext>
            </a:extLst>
          </p:cNvPr>
          <p:cNvSpPr>
            <a:spLocks xmlns:a="http://schemas.openxmlformats.org/drawingml/2006/main" noGrp="1"/>
          </p:cNvSpPr>
          <p:nvPr/>
        </p:nvSpPr>
        <p:spPr>
          <a:xfrm xmlns:a="http://schemas.openxmlformats.org/drawingml/2006/main">
            <a:off x="0" y="0"/>
            <a:ext cx="256032" cy="6858000"/>
          </a:xfrm>
          <a:prstGeom xmlns:a="http://schemas.openxmlformats.org/drawingml/2006/main" prst="rect">
            <a:avLst/>
          </a:prstGeom>
          <a:solidFill xmlns:a="http://schemas.openxmlformats.org/drawingml/2006/main">
            <a:srgbClr val="11707A"/>
          </a:solidFill>
        </p:spPr>
      </p:sp>
      <p:sp>
        <p:nvSpPr>
          <p:cNvPr id="3" name="Text 1">
            <a:extLst xmlns:a="http://schemas.openxmlformats.org/drawingml/2006/main">
              <a:ext uri="{FF2B5EF4-FFF2-40B4-BE49-F238E27FC236}">
                <a16:creationId xmlns:a16="http://schemas.microsoft.com/office/drawing/2014/main" id="{EB0F4C33-389E-4006-A196-5DAE4560281A}"/>
              </a:ext>
            </a:extLst>
          </p:cNvPr>
          <p:cNvSpPr>
            <a:spLocks xmlns:a="http://schemas.openxmlformats.org/drawingml/2006/main" noGrp="1"/>
          </p:cNvSpPr>
          <p:nvPr/>
        </p:nvSpPr>
        <p:spPr>
          <a:xfrm xmlns:a="http://schemas.openxmlformats.org/drawingml/2006/main">
            <a:off x="914400" y="2103120"/>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spc="400">
                <a:solidFill>
                  <a:srgbClr val="11707A"/>
                </a:solidFill>
                <a:latin typeface="Arial"/>
                <a:ea typeface="Arial"/>
                <a:cs typeface="Arial"/>
              </a:rPr>
              <a:t>THANK YOU</a:t>
            </a:r>
            <a:endParaRPr sz="1400"/>
          </a:p>
        </p:txBody>
      </p:sp>
      <p:sp>
        <p:nvSpPr>
          <p:cNvPr id="4" name="Text 2">
            <a:extLst xmlns:a="http://schemas.openxmlformats.org/drawingml/2006/main">
              <a:ext uri="{FF2B5EF4-FFF2-40B4-BE49-F238E27FC236}">
                <a16:creationId xmlns:a16="http://schemas.microsoft.com/office/drawing/2014/main" id="{CDFABABA-E141-4465-A8BF-D6095BE857F6}"/>
              </a:ext>
            </a:extLst>
          </p:cNvPr>
          <p:cNvSpPr>
            <a:spLocks xmlns:a="http://schemas.openxmlformats.org/drawingml/2006/main" noGrp="1"/>
          </p:cNvSpPr>
          <p:nvPr/>
        </p:nvSpPr>
        <p:spPr>
          <a:xfrm xmlns:a="http://schemas.openxmlformats.org/drawingml/2006/main">
            <a:off x="914400" y="2560320"/>
            <a:ext cx="104241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000" b="1">
                <a:solidFill>
                  <a:srgbClr val="1B2A30"/>
                </a:solidFill>
                <a:latin typeface="Arial"/>
                <a:ea typeface="Arial"/>
                <a:cs typeface="Arial"/>
              </a:rPr>
              <a:t>Questions &amp; discussion</a:t>
            </a:r>
            <a:endParaRPr sz="4000"/>
          </a:p>
        </p:txBody>
      </p:sp>
      <p:sp>
        <p:nvSpPr>
          <p:cNvPr id="5" name="Text 3">
            <a:extLst xmlns:a="http://schemas.openxmlformats.org/drawingml/2006/main">
              <a:ext uri="{FF2B5EF4-FFF2-40B4-BE49-F238E27FC236}">
                <a16:creationId xmlns:a16="http://schemas.microsoft.com/office/drawing/2014/main" id="{FCD050AE-741C-4D85-B23B-950205A5B441}"/>
              </a:ext>
            </a:extLst>
          </p:cNvPr>
          <p:cNvSpPr>
            <a:spLocks xmlns:a="http://schemas.openxmlformats.org/drawingml/2006/main" noGrp="1"/>
          </p:cNvSpPr>
          <p:nvPr/>
        </p:nvSpPr>
        <p:spPr>
          <a:xfrm xmlns:a="http://schemas.openxmlformats.org/drawingml/2006/main">
            <a:off x="914400" y="3657600"/>
            <a:ext cx="96012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20000"/>
              </a:lnSpc>
              <a:buNone/>
            </a:pPr>
            <a:r>
              <a:rPr sz="1600" i="1">
                <a:solidFill>
                  <a:srgbClr val="3C4A52"/>
                </a:solidFill>
                <a:latin typeface="Arial"/>
                <a:ea typeface="Arial"/>
                <a:cs typeface="Arial"/>
              </a:rPr>
              <a:t>Reproducible cognitive score groupings, with sensitivity to scaling and missingness. Clinical phenotypes remain unconfirmed.</a:t>
            </a:r>
            <a:endParaRPr sz="1600"/>
          </a:p>
        </p:txBody>
      </p:sp>
      <p:sp>
        <p:nvSpPr>
          <p:cNvPr id="6" name="Shape 4">
            <a:extLst xmlns:a="http://schemas.openxmlformats.org/drawingml/2006/main">
              <a:ext uri="{FF2B5EF4-FFF2-40B4-BE49-F238E27FC236}">
                <a16:creationId xmlns:a16="http://schemas.microsoft.com/office/drawing/2014/main" id="{4856A744-9583-4936-A310-7ACA55330022}"/>
              </a:ext>
            </a:extLst>
          </p:cNvPr>
          <p:cNvSpPr>
            <a:spLocks xmlns:a="http://schemas.openxmlformats.org/drawingml/2006/main" noGrp="1"/>
          </p:cNvSpPr>
          <p:nvPr/>
        </p:nvSpPr>
        <p:spPr>
          <a:xfrm xmlns:a="http://schemas.openxmlformats.org/drawingml/2006/main">
            <a:off x="914400" y="4663440"/>
            <a:ext cx="5029200" cy="0"/>
          </a:xfrm>
          <a:prstGeom xmlns:a="http://schemas.openxmlformats.org/drawingml/2006/main" prst="line">
            <a:avLst/>
          </a:prstGeom>
          <a:noFill xmlns:a="http://schemas.openxmlformats.org/drawingml/2006/main"/>
          <a:ln xmlns:a="http://schemas.openxmlformats.org/drawingml/2006/main" w="19050">
            <a:solidFill>
              <a:srgbClr val="E3E9EC"/>
            </a:solidFill>
            <a:prstDash val="solid"/>
          </a:ln>
        </p:spPr>
      </p:sp>
      <p:sp>
        <p:nvSpPr>
          <p:cNvPr id="7" name="Text 5">
            <a:extLst xmlns:a="http://schemas.openxmlformats.org/drawingml/2006/main">
              <a:ext uri="{FF2B5EF4-FFF2-40B4-BE49-F238E27FC236}">
                <a16:creationId xmlns:a16="http://schemas.microsoft.com/office/drawing/2014/main" id="{AAA7EF2A-40A5-4BAA-B5D2-E52A84DBF424}"/>
              </a:ext>
            </a:extLst>
          </p:cNvPr>
          <p:cNvSpPr>
            <a:spLocks xmlns:a="http://schemas.openxmlformats.org/drawingml/2006/main" noGrp="1"/>
          </p:cNvSpPr>
          <p:nvPr/>
        </p:nvSpPr>
        <p:spPr>
          <a:xfrm xmlns:a="http://schemas.openxmlformats.org/drawingml/2006/main">
            <a:off x="914400" y="4846320"/>
            <a:ext cx="1005840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20000"/>
              </a:lnSpc>
              <a:buNone/>
            </a:pPr>
            <a:r>
              <a:rPr sz="1500" b="1">
                <a:solidFill>
                  <a:srgbClr val="1B2A30"/>
                </a:solidFill>
                <a:latin typeface="Arial"/>
                <a:ea typeface="Arial"/>
                <a:cs typeface="Arial"/>
              </a:rPr>
              <a:t>Zoltan Kunos</a:t>
            </a:r>
            <a:r>
              <a:rPr sz="1300">
                <a:solidFill>
                  <a:srgbClr val="3C4A52"/>
                </a:solidFill>
                <a:latin typeface="Arial"/>
                <a:ea typeface="Arial"/>
                <a:cs typeface="Arial"/>
              </a:rPr>
              <a:t>   ·   Supervisor: Dr. Alejandro García-Rudolph</a:t>
            </a:r>
            <a:endParaRPr sz="1500"/>
          </a:p>
          <a:p xmlns:a="http://schemas.openxmlformats.org/drawingml/2006/main">
            <a:pPr marL="0" indent="0">
              <a:lnSpc>
                <a:spcPct val="120000"/>
              </a:lnSpc>
              <a:buNone/>
            </a:pPr>
            <a:r>
              <a:rPr sz="1200">
                <a:solidFill>
                  <a:srgbClr val="7C8A94"/>
                </a:solidFill>
                <a:latin typeface="Arial"/>
                <a:ea typeface="Arial"/>
                <a:cs typeface="Arial"/>
              </a:rPr>
              <a:t>MSc Fundamental Principles of Data Science · Universitat de Barcelona</a:t>
            </a:r>
            <a:endParaRPr sz="1500"/>
          </a:p>
        </p:txBody>
      </p:sp>
    </p:spTree>
    <p:extLst>
      <p:ext uri="{BB962C8B-B14F-4D97-AF65-F5344CB8AC3E}">
        <p14:creationId xmlns:p14="http://schemas.microsoft.com/office/powerpoint/2010/main" val="71890600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ED51E7-4C76-48FF-8F77-C768D1241FA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1707A"/>
          </a:solidFill>
        </p:spPr>
      </p:sp>
      <p:sp>
        <p:nvSpPr>
          <p:cNvPr id="3" name="Text 1">
            <a:extLst xmlns:a="http://schemas.openxmlformats.org/drawingml/2006/main">
              <a:ext uri="{FF2B5EF4-FFF2-40B4-BE49-F238E27FC236}">
                <a16:creationId xmlns:a16="http://schemas.microsoft.com/office/drawing/2014/main" id="{C1CCEFA6-0599-411A-BD9D-1BF046C251D0}"/>
              </a:ext>
            </a:extLst>
          </p:cNvPr>
          <p:cNvSpPr>
            <a:spLocks xmlns:a="http://schemas.openxmlformats.org/drawingml/2006/main" noGrp="1"/>
          </p:cNvSpPr>
          <p:nvPr/>
        </p:nvSpPr>
        <p:spPr>
          <a:xfrm xmlns:a="http://schemas.openxmlformats.org/drawingml/2006/main">
            <a:off x="914400" y="2651760"/>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spc="400">
                <a:solidFill>
                  <a:srgbClr val="BFE0E2"/>
                </a:solidFill>
                <a:latin typeface="Arial"/>
                <a:ea typeface="Arial"/>
                <a:cs typeface="Arial"/>
              </a:rPr>
              <a:t>APPENDIX</a:t>
            </a:r>
            <a:endParaRPr sz="1500"/>
          </a:p>
        </p:txBody>
      </p:sp>
      <p:sp>
        <p:nvSpPr>
          <p:cNvPr id="4" name="Text 2">
            <a:extLst xmlns:a="http://schemas.openxmlformats.org/drawingml/2006/main">
              <a:ext uri="{FF2B5EF4-FFF2-40B4-BE49-F238E27FC236}">
                <a16:creationId xmlns:a16="http://schemas.microsoft.com/office/drawing/2014/main" id="{4DD4650B-F546-4114-8B7A-CB091BEB9D9B}"/>
              </a:ext>
            </a:extLst>
          </p:cNvPr>
          <p:cNvSpPr>
            <a:spLocks xmlns:a="http://schemas.openxmlformats.org/drawingml/2006/main" noGrp="1"/>
          </p:cNvSpPr>
          <p:nvPr/>
        </p:nvSpPr>
        <p:spPr>
          <a:xfrm xmlns:a="http://schemas.openxmlformats.org/drawingml/2006/main">
            <a:off x="914400" y="3108960"/>
            <a:ext cx="100584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400" b="1">
                <a:solidFill>
                  <a:srgbClr val="FFFFFF"/>
                </a:solidFill>
                <a:latin typeface="Arial"/>
                <a:ea typeface="Arial"/>
                <a:cs typeface="Arial"/>
              </a:rPr>
              <a:t>Backup slides for examiner questions</a:t>
            </a:r>
            <a:endParaRPr sz="3400"/>
          </a:p>
        </p:txBody>
      </p:sp>
    </p:spTree>
    <p:extLst>
      <p:ext uri="{BB962C8B-B14F-4D97-AF65-F5344CB8AC3E}">
        <p14:creationId xmlns:p14="http://schemas.microsoft.com/office/powerpoint/2010/main" val="190658318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657013-1F38-4D85-842C-1DD1612DEC30}"/>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spc="200">
                <a:solidFill>
                  <a:srgbClr val="11707A"/>
                </a:solidFill>
                <a:latin typeface="Arial"/>
                <a:ea typeface="Arial"/>
                <a:cs typeface="Arial"/>
              </a:rPr>
              <a:t>PATIENT-LEVEL EXTENSION</a:t>
            </a:r>
            <a:endParaRPr sz="1150"/>
          </a:p>
        </p:txBody>
      </p:sp>
      <p:sp>
        <p:nvSpPr>
          <p:cNvPr id="3" name="Text 1">
            <a:extLst xmlns:a="http://schemas.openxmlformats.org/drawingml/2006/main">
              <a:ext uri="{FF2B5EF4-FFF2-40B4-BE49-F238E27FC236}">
                <a16:creationId xmlns:a16="http://schemas.microsoft.com/office/drawing/2014/main" id="{80D74B79-6C36-4729-A378-6A7CB4AB7376}"/>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B2A30"/>
                </a:solidFill>
                <a:latin typeface="Arial"/>
                <a:ea typeface="Arial"/>
                <a:cs typeface="Arial"/>
              </a:rPr>
              <a:t>Independent refitting and sensitivity</a:t>
            </a:r>
            <a:endParaRPr sz="2600"/>
          </a:p>
        </p:txBody>
      </p:sp>
      <p:sp>
        <p:nvSpPr>
          <p:cNvPr id="4" name="Shape 2">
            <a:extLst xmlns:a="http://schemas.openxmlformats.org/drawingml/2006/main">
              <a:ext uri="{FF2B5EF4-FFF2-40B4-BE49-F238E27FC236}">
                <a16:creationId xmlns:a16="http://schemas.microsoft.com/office/drawing/2014/main" id="{20A2C690-C2AD-45E3-B353-A0C5CF13734F}"/>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11707A"/>
          </a:solidFill>
        </p:spPr>
      </p:sp>
      <p:sp>
        <p:nvSpPr>
          <p:cNvPr id="5" name="Shape 3">
            <a:extLst xmlns:a="http://schemas.openxmlformats.org/drawingml/2006/main">
              <a:ext uri="{FF2B5EF4-FFF2-40B4-BE49-F238E27FC236}">
                <a16:creationId xmlns:a16="http://schemas.microsoft.com/office/drawing/2014/main" id="{7B690173-1E80-43E7-83EE-6D9EFDF31191}"/>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73F8D56F-BB9B-49D9-AD98-377DE50362F1}"/>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8BA08BD5-2C03-4EFA-9A57-61307BFB66B4}"/>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24</a:t>
            </a:r>
            <a:endParaRPr sz="900"/>
          </a:p>
        </p:txBody>
      </p:sp>
      <p:sp>
        <p:nvSpPr>
          <p:cNvPr id="8" name="Shape 6">
            <a:extLst xmlns:a="http://schemas.openxmlformats.org/drawingml/2006/main">
              <a:ext uri="{FF2B5EF4-FFF2-40B4-BE49-F238E27FC236}">
                <a16:creationId xmlns:a16="http://schemas.microsoft.com/office/drawing/2014/main" id="{71B67AD2-FD29-4B9C-A900-36341BF9F5A3}"/>
              </a:ext>
            </a:extLst>
          </p:cNvPr>
          <p:cNvSpPr>
            <a:spLocks xmlns:a="http://schemas.openxmlformats.org/drawingml/2006/main" noGrp="1"/>
          </p:cNvSpPr>
          <p:nvPr/>
        </p:nvSpPr>
        <p:spPr>
          <a:xfrm xmlns:a="http://schemas.openxmlformats.org/drawingml/2006/main">
            <a:off x="640080" y="1691640"/>
            <a:ext cx="10911535" cy="768096"/>
          </a:xfrm>
          <a:prstGeom xmlns:a="http://schemas.openxmlformats.org/drawingml/2006/main" prst="roundRect">
            <a:avLst>
              <a:gd name="adj" fmla="val 5952"/>
            </a:avLst>
          </a:prstGeom>
          <a:solidFill xmlns:a="http://schemas.openxmlformats.org/drawingml/2006/main">
            <a:srgbClr val="F5F8F9"/>
          </a:solidFill>
          <a:ln xmlns:a="http://schemas.openxmlformats.org/drawingml/2006/main" w="12700">
            <a:solidFill>
              <a:srgbClr val="E3E9EC"/>
            </a:solidFill>
            <a:prstDash val="solid"/>
          </a:ln>
        </p:spPr>
      </p:sp>
      <p:sp>
        <p:nvSpPr>
          <p:cNvPr id="9" name="Text 7">
            <a:extLst xmlns:a="http://schemas.openxmlformats.org/drawingml/2006/main">
              <a:ext uri="{FF2B5EF4-FFF2-40B4-BE49-F238E27FC236}">
                <a16:creationId xmlns:a16="http://schemas.microsoft.com/office/drawing/2014/main" id="{B57211B0-5CDC-4D10-BE86-37D446B4DD77}"/>
              </a:ext>
            </a:extLst>
          </p:cNvPr>
          <p:cNvSpPr>
            <a:spLocks xmlns:a="http://schemas.openxmlformats.org/drawingml/2006/main" noGrp="1"/>
          </p:cNvSpPr>
          <p:nvPr/>
        </p:nvSpPr>
        <p:spPr>
          <a:xfrm xmlns:a="http://schemas.openxmlformats.org/drawingml/2006/main">
            <a:off x="868680" y="1691640"/>
            <a:ext cx="731520" cy="7680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11707A"/>
                </a:solidFill>
                <a:latin typeface="Arial"/>
                <a:ea typeface="Arial"/>
                <a:cs typeface="Arial"/>
              </a:rPr>
              <a:t>1</a:t>
            </a:r>
            <a:endParaRPr sz="2600"/>
          </a:p>
        </p:txBody>
      </p:sp>
      <p:sp>
        <p:nvSpPr>
          <p:cNvPr id="10" name="Text 8">
            <a:extLst xmlns:a="http://schemas.openxmlformats.org/drawingml/2006/main">
              <a:ext uri="{FF2B5EF4-FFF2-40B4-BE49-F238E27FC236}">
                <a16:creationId xmlns:a16="http://schemas.microsoft.com/office/drawing/2014/main" id="{0E30BA8F-CD6B-4FCC-AB95-968DA0855458}"/>
              </a:ext>
            </a:extLst>
          </p:cNvPr>
          <p:cNvSpPr>
            <a:spLocks xmlns:a="http://schemas.openxmlformats.org/drawingml/2006/main" noGrp="1"/>
          </p:cNvSpPr>
          <p:nvPr/>
        </p:nvSpPr>
        <p:spPr>
          <a:xfrm xmlns:a="http://schemas.openxmlformats.org/drawingml/2006/main">
            <a:off x="1828800" y="1691640"/>
            <a:ext cx="9448495" cy="7680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1B2A30"/>
                </a:solidFill>
                <a:latin typeface="Arial"/>
                <a:ea typeface="Arial"/>
                <a:cs typeface="Arial"/>
              </a:rPr>
              <a:t>5,828 discovery patients · 1,457 validation patients</a:t>
            </a:r>
            <a:endParaRPr sz="1700"/>
          </a:p>
        </p:txBody>
      </p:sp>
      <p:sp>
        <p:nvSpPr>
          <p:cNvPr id="11" name="Shape 9">
            <a:extLst xmlns:a="http://schemas.openxmlformats.org/drawingml/2006/main">
              <a:ext uri="{FF2B5EF4-FFF2-40B4-BE49-F238E27FC236}">
                <a16:creationId xmlns:a16="http://schemas.microsoft.com/office/drawing/2014/main" id="{B5A3DA49-D6FB-4034-ACCC-1BF30BC70686}"/>
              </a:ext>
            </a:extLst>
          </p:cNvPr>
          <p:cNvSpPr>
            <a:spLocks xmlns:a="http://schemas.openxmlformats.org/drawingml/2006/main" noGrp="1"/>
          </p:cNvSpPr>
          <p:nvPr/>
        </p:nvSpPr>
        <p:spPr>
          <a:xfrm xmlns:a="http://schemas.openxmlformats.org/drawingml/2006/main">
            <a:off x="640080" y="2606040"/>
            <a:ext cx="10911535" cy="768096"/>
          </a:xfrm>
          <a:prstGeom xmlns:a="http://schemas.openxmlformats.org/drawingml/2006/main" prst="roundRect">
            <a:avLst>
              <a:gd name="adj" fmla="val 5952"/>
            </a:avLst>
          </a:prstGeom>
          <a:solidFill xmlns:a="http://schemas.openxmlformats.org/drawingml/2006/main">
            <a:srgbClr val="F5F8F9"/>
          </a:solidFill>
          <a:ln xmlns:a="http://schemas.openxmlformats.org/drawingml/2006/main" w="12700">
            <a:solidFill>
              <a:srgbClr val="E3E9EC"/>
            </a:solidFill>
            <a:prstDash val="solid"/>
          </a:ln>
        </p:spPr>
      </p:sp>
      <p:sp>
        <p:nvSpPr>
          <p:cNvPr id="12" name="Text 10">
            <a:extLst xmlns:a="http://schemas.openxmlformats.org/drawingml/2006/main">
              <a:ext uri="{FF2B5EF4-FFF2-40B4-BE49-F238E27FC236}">
                <a16:creationId xmlns:a16="http://schemas.microsoft.com/office/drawing/2014/main" id="{B22B8498-B8BF-4D70-A856-D21D3DF7A705}"/>
              </a:ext>
            </a:extLst>
          </p:cNvPr>
          <p:cNvSpPr>
            <a:spLocks xmlns:a="http://schemas.openxmlformats.org/drawingml/2006/main" noGrp="1"/>
          </p:cNvSpPr>
          <p:nvPr/>
        </p:nvSpPr>
        <p:spPr>
          <a:xfrm xmlns:a="http://schemas.openxmlformats.org/drawingml/2006/main">
            <a:off x="868680" y="2606040"/>
            <a:ext cx="731520" cy="7680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11707A"/>
                </a:solidFill>
                <a:latin typeface="Arial"/>
                <a:ea typeface="Arial"/>
                <a:cs typeface="Arial"/>
              </a:rPr>
              <a:t>2</a:t>
            </a:r>
            <a:endParaRPr sz="2600"/>
          </a:p>
        </p:txBody>
      </p:sp>
      <p:sp>
        <p:nvSpPr>
          <p:cNvPr id="13" name="Text 11">
            <a:extLst xmlns:a="http://schemas.openxmlformats.org/drawingml/2006/main">
              <a:ext uri="{FF2B5EF4-FFF2-40B4-BE49-F238E27FC236}">
                <a16:creationId xmlns:a16="http://schemas.microsoft.com/office/drawing/2014/main" id="{38A4A447-3E6A-4DFE-94B1-FD1D4C19C55B}"/>
              </a:ext>
            </a:extLst>
          </p:cNvPr>
          <p:cNvSpPr>
            <a:spLocks xmlns:a="http://schemas.openxmlformats.org/drawingml/2006/main" noGrp="1"/>
          </p:cNvSpPr>
          <p:nvPr/>
        </p:nvSpPr>
        <p:spPr>
          <a:xfrm xmlns:a="http://schemas.openxmlformats.org/drawingml/2006/main">
            <a:off x="1828800" y="2606040"/>
            <a:ext cx="9448495" cy="7680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1B2A30"/>
                </a:solidFill>
                <a:latin typeface="Arial"/>
                <a:ea typeface="Arial"/>
                <a:cs typeface="Arial"/>
              </a:rPr>
              <a:t>20 independent imputations: ARI 0.959 (2 groups), 0.935 (3 groups)</a:t>
            </a:r>
            <a:endParaRPr sz="1700"/>
          </a:p>
        </p:txBody>
      </p:sp>
      <p:sp>
        <p:nvSpPr>
          <p:cNvPr id="14" name="Shape 12">
            <a:extLst xmlns:a="http://schemas.openxmlformats.org/drawingml/2006/main">
              <a:ext uri="{FF2B5EF4-FFF2-40B4-BE49-F238E27FC236}">
                <a16:creationId xmlns:a16="http://schemas.microsoft.com/office/drawing/2014/main" id="{9C6736B4-6E41-45E0-9B95-BF7351DC092E}"/>
              </a:ext>
            </a:extLst>
          </p:cNvPr>
          <p:cNvSpPr>
            <a:spLocks xmlns:a="http://schemas.openxmlformats.org/drawingml/2006/main" noGrp="1"/>
          </p:cNvSpPr>
          <p:nvPr/>
        </p:nvSpPr>
        <p:spPr>
          <a:xfrm xmlns:a="http://schemas.openxmlformats.org/drawingml/2006/main">
            <a:off x="640080" y="3520440"/>
            <a:ext cx="10911535" cy="768096"/>
          </a:xfrm>
          <a:prstGeom xmlns:a="http://schemas.openxmlformats.org/drawingml/2006/main" prst="roundRect">
            <a:avLst>
              <a:gd name="adj" fmla="val 5952"/>
            </a:avLst>
          </a:prstGeom>
          <a:solidFill xmlns:a="http://schemas.openxmlformats.org/drawingml/2006/main">
            <a:srgbClr val="F5F8F9"/>
          </a:solidFill>
          <a:ln xmlns:a="http://schemas.openxmlformats.org/drawingml/2006/main" w="12700">
            <a:solidFill>
              <a:srgbClr val="E3E9EC"/>
            </a:solidFill>
            <a:prstDash val="solid"/>
          </a:ln>
        </p:spPr>
      </p:sp>
      <p:sp>
        <p:nvSpPr>
          <p:cNvPr id="15" name="Text 13">
            <a:extLst xmlns:a="http://schemas.openxmlformats.org/drawingml/2006/main">
              <a:ext uri="{FF2B5EF4-FFF2-40B4-BE49-F238E27FC236}">
                <a16:creationId xmlns:a16="http://schemas.microsoft.com/office/drawing/2014/main" id="{045D4938-2DEB-41B7-8DB3-C06C4C639BCE}"/>
              </a:ext>
            </a:extLst>
          </p:cNvPr>
          <p:cNvSpPr>
            <a:spLocks xmlns:a="http://schemas.openxmlformats.org/drawingml/2006/main" noGrp="1"/>
          </p:cNvSpPr>
          <p:nvPr/>
        </p:nvSpPr>
        <p:spPr>
          <a:xfrm xmlns:a="http://schemas.openxmlformats.org/drawingml/2006/main">
            <a:off x="868680" y="3520440"/>
            <a:ext cx="731520" cy="7680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11707A"/>
                </a:solidFill>
                <a:latin typeface="Arial"/>
                <a:ea typeface="Arial"/>
                <a:cs typeface="Arial"/>
              </a:rPr>
              <a:t>3</a:t>
            </a:r>
            <a:endParaRPr sz="2600"/>
          </a:p>
        </p:txBody>
      </p:sp>
      <p:sp>
        <p:nvSpPr>
          <p:cNvPr id="16" name="Text 14">
            <a:extLst xmlns:a="http://schemas.openxmlformats.org/drawingml/2006/main">
              <a:ext uri="{FF2B5EF4-FFF2-40B4-BE49-F238E27FC236}">
                <a16:creationId xmlns:a16="http://schemas.microsoft.com/office/drawing/2014/main" id="{6F8D9211-8860-4405-9BB5-3E92222E526A}"/>
              </a:ext>
            </a:extLst>
          </p:cNvPr>
          <p:cNvSpPr>
            <a:spLocks xmlns:a="http://schemas.openxmlformats.org/drawingml/2006/main" noGrp="1"/>
          </p:cNvSpPr>
          <p:nvPr/>
        </p:nvSpPr>
        <p:spPr>
          <a:xfrm xmlns:a="http://schemas.openxmlformats.org/drawingml/2006/main">
            <a:off x="1828800" y="3520440"/>
            <a:ext cx="9448495" cy="7680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1B2A30"/>
                </a:solidFill>
                <a:latin typeface="Arial"/>
                <a:ea typeface="Arial"/>
                <a:cs typeface="Arial"/>
              </a:rPr>
              <a:t>Robust versus equal-domain scaling: ARI 0.243</a:t>
            </a:r>
            <a:endParaRPr sz="1700"/>
          </a:p>
        </p:txBody>
      </p:sp>
      <p:sp>
        <p:nvSpPr>
          <p:cNvPr id="17" name="Shape 15">
            <a:extLst xmlns:a="http://schemas.openxmlformats.org/drawingml/2006/main">
              <a:ext uri="{FF2B5EF4-FFF2-40B4-BE49-F238E27FC236}">
                <a16:creationId xmlns:a16="http://schemas.microsoft.com/office/drawing/2014/main" id="{B2C45FEC-27D6-405C-979F-8E683EA19F30}"/>
              </a:ext>
            </a:extLst>
          </p:cNvPr>
          <p:cNvSpPr>
            <a:spLocks xmlns:a="http://schemas.openxmlformats.org/drawingml/2006/main" noGrp="1"/>
          </p:cNvSpPr>
          <p:nvPr/>
        </p:nvSpPr>
        <p:spPr>
          <a:xfrm xmlns:a="http://schemas.openxmlformats.org/drawingml/2006/main">
            <a:off x="640080" y="4434840"/>
            <a:ext cx="10911535" cy="768096"/>
          </a:xfrm>
          <a:prstGeom xmlns:a="http://schemas.openxmlformats.org/drawingml/2006/main" prst="roundRect">
            <a:avLst>
              <a:gd name="adj" fmla="val 5952"/>
            </a:avLst>
          </a:prstGeom>
          <a:solidFill xmlns:a="http://schemas.openxmlformats.org/drawingml/2006/main">
            <a:srgbClr val="F5F8F9"/>
          </a:solidFill>
          <a:ln xmlns:a="http://schemas.openxmlformats.org/drawingml/2006/main" w="12700">
            <a:solidFill>
              <a:srgbClr val="E3E9EC"/>
            </a:solidFill>
            <a:prstDash val="solid"/>
          </a:ln>
        </p:spPr>
      </p:sp>
      <p:sp>
        <p:nvSpPr>
          <p:cNvPr id="18" name="Text 16">
            <a:extLst xmlns:a="http://schemas.openxmlformats.org/drawingml/2006/main">
              <a:ext uri="{FF2B5EF4-FFF2-40B4-BE49-F238E27FC236}">
                <a16:creationId xmlns:a16="http://schemas.microsoft.com/office/drawing/2014/main" id="{1EC2A55C-A932-4573-9DD9-0D5FD79E757B}"/>
              </a:ext>
            </a:extLst>
          </p:cNvPr>
          <p:cNvSpPr>
            <a:spLocks xmlns:a="http://schemas.openxmlformats.org/drawingml/2006/main" noGrp="1"/>
          </p:cNvSpPr>
          <p:nvPr/>
        </p:nvSpPr>
        <p:spPr>
          <a:xfrm xmlns:a="http://schemas.openxmlformats.org/drawingml/2006/main">
            <a:off x="868680" y="4434840"/>
            <a:ext cx="731520" cy="7680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11707A"/>
                </a:solidFill>
                <a:latin typeface="Arial"/>
                <a:ea typeface="Arial"/>
                <a:cs typeface="Arial"/>
              </a:rPr>
              <a:t>4</a:t>
            </a:r>
            <a:endParaRPr sz="2600"/>
          </a:p>
        </p:txBody>
      </p:sp>
      <p:sp>
        <p:nvSpPr>
          <p:cNvPr id="19" name="Text 17">
            <a:extLst xmlns:a="http://schemas.openxmlformats.org/drawingml/2006/main">
              <a:ext uri="{FF2B5EF4-FFF2-40B4-BE49-F238E27FC236}">
                <a16:creationId xmlns:a16="http://schemas.microsoft.com/office/drawing/2014/main" id="{2FDD2F7D-387E-4F87-A7FF-EF15E2D9208F}"/>
              </a:ext>
            </a:extLst>
          </p:cNvPr>
          <p:cNvSpPr>
            <a:spLocks xmlns:a="http://schemas.openxmlformats.org/drawingml/2006/main" noGrp="1"/>
          </p:cNvSpPr>
          <p:nvPr/>
        </p:nvSpPr>
        <p:spPr>
          <a:xfrm xmlns:a="http://schemas.openxmlformats.org/drawingml/2006/main">
            <a:off x="1828800" y="4434840"/>
            <a:ext cx="9448495" cy="7680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1B2A30"/>
                </a:solidFill>
                <a:latin typeface="Arial"/>
                <a:ea typeface="Arial"/>
                <a:cs typeface="Arial"/>
              </a:rPr>
              <a:t>Student t mixtures select 8 components at the search boundary</a:t>
            </a:r>
            <a:endParaRPr sz="1700"/>
          </a:p>
        </p:txBody>
      </p:sp>
      <p:sp>
        <p:nvSpPr>
          <p:cNvPr id="20" name="Shape 18">
            <a:extLst xmlns:a="http://schemas.openxmlformats.org/drawingml/2006/main">
              <a:ext uri="{FF2B5EF4-FFF2-40B4-BE49-F238E27FC236}">
                <a16:creationId xmlns:a16="http://schemas.microsoft.com/office/drawing/2014/main" id="{053151A9-05CB-42E5-B747-75A2B7F1CDE4}"/>
              </a:ext>
            </a:extLst>
          </p:cNvPr>
          <p:cNvSpPr>
            <a:spLocks xmlns:a="http://schemas.openxmlformats.org/drawingml/2006/main" noGrp="1"/>
          </p:cNvSpPr>
          <p:nvPr/>
        </p:nvSpPr>
        <p:spPr>
          <a:xfrm xmlns:a="http://schemas.openxmlformats.org/drawingml/2006/main">
            <a:off x="640080" y="5349240"/>
            <a:ext cx="10911535" cy="768096"/>
          </a:xfrm>
          <a:prstGeom xmlns:a="http://schemas.openxmlformats.org/drawingml/2006/main" prst="roundRect">
            <a:avLst>
              <a:gd name="adj" fmla="val 5952"/>
            </a:avLst>
          </a:prstGeom>
          <a:solidFill xmlns:a="http://schemas.openxmlformats.org/drawingml/2006/main">
            <a:srgbClr val="F5F8F9"/>
          </a:solidFill>
          <a:ln xmlns:a="http://schemas.openxmlformats.org/drawingml/2006/main" w="12700">
            <a:solidFill>
              <a:srgbClr val="E3E9EC"/>
            </a:solidFill>
            <a:prstDash val="solid"/>
          </a:ln>
        </p:spPr>
      </p:sp>
      <p:sp>
        <p:nvSpPr>
          <p:cNvPr id="21" name="Text 19">
            <a:extLst xmlns:a="http://schemas.openxmlformats.org/drawingml/2006/main">
              <a:ext uri="{FF2B5EF4-FFF2-40B4-BE49-F238E27FC236}">
                <a16:creationId xmlns:a16="http://schemas.microsoft.com/office/drawing/2014/main" id="{D9085588-3F86-42D1-A959-5C42B3FA850C}"/>
              </a:ext>
            </a:extLst>
          </p:cNvPr>
          <p:cNvSpPr>
            <a:spLocks xmlns:a="http://schemas.openxmlformats.org/drawingml/2006/main" noGrp="1"/>
          </p:cNvSpPr>
          <p:nvPr/>
        </p:nvSpPr>
        <p:spPr>
          <a:xfrm xmlns:a="http://schemas.openxmlformats.org/drawingml/2006/main">
            <a:off x="868680" y="5349240"/>
            <a:ext cx="731520" cy="7680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11707A"/>
                </a:solidFill>
                <a:latin typeface="Arial"/>
                <a:ea typeface="Arial"/>
                <a:cs typeface="Arial"/>
              </a:rPr>
              <a:t>5</a:t>
            </a:r>
            <a:endParaRPr sz="2600"/>
          </a:p>
        </p:txBody>
      </p:sp>
      <p:sp>
        <p:nvSpPr>
          <p:cNvPr id="22" name="Text 20">
            <a:extLst xmlns:a="http://schemas.openxmlformats.org/drawingml/2006/main">
              <a:ext uri="{FF2B5EF4-FFF2-40B4-BE49-F238E27FC236}">
                <a16:creationId xmlns:a16="http://schemas.microsoft.com/office/drawing/2014/main" id="{40178F0F-990A-4333-9FB1-DA2A29BF4AAE}"/>
              </a:ext>
            </a:extLst>
          </p:cNvPr>
          <p:cNvSpPr>
            <a:spLocks xmlns:a="http://schemas.openxmlformats.org/drawingml/2006/main" noGrp="1"/>
          </p:cNvSpPr>
          <p:nvPr/>
        </p:nvSpPr>
        <p:spPr>
          <a:xfrm xmlns:a="http://schemas.openxmlformats.org/drawingml/2006/main">
            <a:off x="1828800" y="5349240"/>
            <a:ext cx="9448495" cy="7680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1B2A30"/>
                </a:solidFill>
                <a:latin typeface="Arial"/>
                <a:ea typeface="Arial"/>
                <a:cs typeface="Arial"/>
              </a:rPr>
              <a:t>2,013 longitudinal patients: one class meets the 5% size rule</a:t>
            </a:r>
            <a:endParaRPr sz="1700"/>
          </a:p>
        </p:txBody>
      </p:sp>
    </p:spTree>
    <p:extLst>
      <p:ext uri="{BB962C8B-B14F-4D97-AF65-F5344CB8AC3E}">
        <p14:creationId xmlns:p14="http://schemas.microsoft.com/office/powerpoint/2010/main" val="6521185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BFC7166-E680-4DCF-9FD9-57BF0DD3DF24}"/>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7C8A94"/>
                </a:solidFill>
                <a:latin typeface="Arial"/>
                <a:ea typeface="Arial"/>
                <a:cs typeface="Arial"/>
              </a:rPr>
              <a:t>APPENDIX · A</a:t>
            </a:r>
            <a:endParaRPr sz="1100"/>
          </a:p>
        </p:txBody>
      </p:sp>
      <p:sp>
        <p:nvSpPr>
          <p:cNvPr id="3" name="Text 1">
            <a:extLst xmlns:a="http://schemas.openxmlformats.org/drawingml/2006/main">
              <a:ext uri="{FF2B5EF4-FFF2-40B4-BE49-F238E27FC236}">
                <a16:creationId xmlns:a16="http://schemas.microsoft.com/office/drawing/2014/main" id="{F6E85529-863C-4F5D-A417-F37200B8FD22}"/>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B2A30"/>
                </a:solidFill>
                <a:latin typeface="Arial"/>
                <a:ea typeface="Arial"/>
                <a:cs typeface="Arial"/>
              </a:rPr>
              <a:t>Imputation hyperparameters</a:t>
            </a:r>
            <a:endParaRPr sz="2400"/>
          </a:p>
        </p:txBody>
      </p:sp>
      <p:sp>
        <p:nvSpPr>
          <p:cNvPr id="4" name="Shape 2">
            <a:extLst xmlns:a="http://schemas.openxmlformats.org/drawingml/2006/main">
              <a:ext uri="{FF2B5EF4-FFF2-40B4-BE49-F238E27FC236}">
                <a16:creationId xmlns:a16="http://schemas.microsoft.com/office/drawing/2014/main" id="{640052A2-97F3-4AF5-A3F6-9B1F4782CE5D}"/>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7C8A94"/>
          </a:solidFill>
        </p:spPr>
      </p:sp>
      <p:sp>
        <p:nvSpPr>
          <p:cNvPr id="5" name="Shape 3">
            <a:extLst xmlns:a="http://schemas.openxmlformats.org/drawingml/2006/main">
              <a:ext uri="{FF2B5EF4-FFF2-40B4-BE49-F238E27FC236}">
                <a16:creationId xmlns:a16="http://schemas.microsoft.com/office/drawing/2014/main" id="{0B080215-DFB9-4615-8C75-CB02F85C018A}"/>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A0846071-F9B2-4216-804B-7DFBABCEA459}"/>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CEE1BF97-99DA-4DA1-A39D-CDB07CFF9B67}"/>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25</a:t>
            </a:r>
            <a:endParaRPr sz="900"/>
          </a:p>
        </p:txBody>
      </p:sp>
      <p:graphicFrame>
        <p:nvGraphicFramePr>
          <p:cNvPr id="26" name="Table 0">
            <a:extLst xmlns:a="http://schemas.openxmlformats.org/drawingml/2006/main">
              <a:ext uri="{FF2B5EF4-FFF2-40B4-BE49-F238E27FC236}">
                <a16:creationId xmlns:a16="http://schemas.microsoft.com/office/drawing/2014/main" id="{28363629-CDD9-4373-986D-59829CF5B01A}"/>
              </a:ext>
            </a:extLst>
          </p:cNvPr>
          <p:cNvGraphicFramePr/>
          <p:nvPr/>
        </p:nvGraphicFramePr>
        <p:xfrm>
          <a:off xmlns:a="http://schemas.openxmlformats.org/drawingml/2006/main" x="640080" y="1554480"/>
          <a:ext xmlns:a="http://schemas.openxmlformats.org/drawingml/2006/main" cx="10911535" cy="2758440"/>
        </p:xfrm>
        <a:graphic xmlns:a="http://schemas.openxmlformats.org/drawingml/2006/main">
          <a:graphicData uri="http://schemas.openxmlformats.org/drawingml/2006/table">
            <a:tbl>
              <a:tblPr/>
              <a:tblGrid>
                <a:gridCol w="1737360"/>
                <a:gridCol w="9174175"/>
              </a:tblGrid>
              <a:tr h="0">
                <a:tc>
                  <a:txBody>
                    <a:bodyPr/>
                    <a:lstStyle/>
                    <a:p>
                      <a:pPr marL="0" indent="0" algn="l">
                        <a:buNone/>
                      </a:pPr>
                      <a:r>
                        <a:rPr sz="1050" b="1">
                          <a:solidFill>
                            <a:srgbClr val="FFFFFF"/>
                          </a:solidFill>
                          <a:latin typeface="Arial"/>
                          <a:ea typeface="Arial"/>
                          <a:cs typeface="Arial"/>
                        </a:rPr>
                        <a:t>Method</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11707A"/>
                    </a:solidFill>
                  </a:tcPr>
                </a:tc>
                <a:tc>
                  <a:txBody>
                    <a:bodyPr/>
                    <a:lstStyle/>
                    <a:p>
                      <a:pPr marL="0" indent="0" algn="l">
                        <a:buNone/>
                      </a:pPr>
                      <a:r>
                        <a:rPr sz="1050" b="1">
                          <a:solidFill>
                            <a:srgbClr val="FFFFFF"/>
                          </a:solidFill>
                          <a:latin typeface="Arial"/>
                          <a:ea typeface="Arial"/>
                          <a:cs typeface="Arial"/>
                        </a:rPr>
                        <a:t>Hyperparameters</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11707A"/>
                    </a:solidFill>
                  </a:tcPr>
                </a:tc>
              </a:tr>
              <a:tr h="0">
                <a:tc>
                  <a:txBody>
                    <a:bodyPr/>
                    <a:lstStyle/>
                    <a:p>
                      <a:pPr marL="0" indent="0" algn="l">
                        <a:buNone/>
                      </a:pPr>
                      <a:r>
                        <a:rPr sz="1050" b="1">
                          <a:solidFill>
                            <a:srgbClr val="1B2A30"/>
                          </a:solidFill>
                          <a:latin typeface="Arial"/>
                          <a:ea typeface="Arial"/>
                          <a:cs typeface="Arial"/>
                        </a:rPr>
                        <a:t>Mean</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050">
                          <a:solidFill>
                            <a:srgbClr val="3C4A52"/>
                          </a:solidFill>
                          <a:latin typeface="Arial"/>
                          <a:ea typeface="Arial"/>
                          <a:cs typeface="Arial"/>
                        </a:rPr>
                        <a:t>Single-pass arithmetic mean per variable.</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0">
                <a:tc>
                  <a:txBody>
                    <a:bodyPr/>
                    <a:lstStyle/>
                    <a:p>
                      <a:pPr marL="0" indent="0" algn="l">
                        <a:buNone/>
                      </a:pPr>
                      <a:r>
                        <a:rPr sz="1050" b="1">
                          <a:solidFill>
                            <a:srgbClr val="1B2A30"/>
                          </a:solidFill>
                          <a:latin typeface="Arial"/>
                          <a:ea typeface="Arial"/>
                          <a:cs typeface="Arial"/>
                        </a:rPr>
                        <a:t>EM</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050">
                          <a:solidFill>
                            <a:srgbClr val="3C4A52"/>
                          </a:solidFill>
                          <a:latin typeface="Arial"/>
                          <a:ea typeface="Arial"/>
                          <a:cs typeface="Arial"/>
                        </a:rPr>
                        <a:t>Multivariate normal model; convergence 1e−6; max 500 iterations.</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0">
                <a:tc>
                  <a:txBody>
                    <a:bodyPr/>
                    <a:lstStyle/>
                    <a:p>
                      <a:pPr marL="0" indent="0" algn="l">
                        <a:buNone/>
                      </a:pPr>
                      <a:r>
                        <a:rPr sz="1050" b="1">
                          <a:solidFill>
                            <a:srgbClr val="1B2A30"/>
                          </a:solidFill>
                          <a:latin typeface="Arial"/>
                          <a:ea typeface="Arial"/>
                          <a:cs typeface="Arial"/>
                        </a:rPr>
                        <a:t>MICE</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050">
                          <a:solidFill>
                            <a:srgbClr val="3C4A52"/>
                          </a:solidFill>
                          <a:latin typeface="Arial"/>
                          <a:ea typeface="Arial"/>
                          <a:cs typeface="Arial"/>
                        </a:rPr>
                        <a:t>Linear regression per variable; 10 iterations; single imputed dataset for clustering.</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0">
                <a:tc>
                  <a:txBody>
                    <a:bodyPr/>
                    <a:lstStyle/>
                    <a:p>
                      <a:pPr marL="0" indent="0" algn="l">
                        <a:buNone/>
                      </a:pPr>
                      <a:r>
                        <a:rPr sz="1050" b="1">
                          <a:solidFill>
                            <a:srgbClr val="1B2A30"/>
                          </a:solidFill>
                          <a:latin typeface="Arial"/>
                          <a:ea typeface="Arial"/>
                          <a:cs typeface="Arial"/>
                        </a:rPr>
                        <a:t>KNN</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050">
                          <a:solidFill>
                            <a:srgbClr val="3C4A52"/>
                          </a:solidFill>
                          <a:latin typeface="Arial"/>
                          <a:ea typeface="Arial"/>
                          <a:cs typeface="Arial"/>
                        </a:rPr>
                        <a:t>k = 5; inverse-distance weighting; Euclidean distance.</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0">
                <a:tc>
                  <a:txBody>
                    <a:bodyPr/>
                    <a:lstStyle/>
                    <a:p>
                      <a:pPr marL="0" indent="0" algn="l">
                        <a:buNone/>
                      </a:pPr>
                      <a:r>
                        <a:rPr sz="1050" b="1">
                          <a:solidFill>
                            <a:srgbClr val="1B2A30"/>
                          </a:solidFill>
                          <a:latin typeface="Arial"/>
                          <a:ea typeface="Arial"/>
                          <a:cs typeface="Arial"/>
                        </a:rPr>
                        <a:t>MissForest</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050">
                          <a:solidFill>
                            <a:srgbClr val="3C4A52"/>
                          </a:solidFill>
                          <a:latin typeface="Arial"/>
                          <a:ea typeface="Arial"/>
                          <a:cs typeface="Arial"/>
                        </a:rPr>
                        <a:t>100 trees per forest; up to 10 iterations; variables imputed by increasing missingness.</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0">
                <a:tc>
                  <a:txBody>
                    <a:bodyPr/>
                    <a:lstStyle/>
                    <a:p>
                      <a:pPr marL="0" indent="0" algn="l">
                        <a:buNone/>
                      </a:pPr>
                      <a:r>
                        <a:rPr sz="1050" b="1">
                          <a:solidFill>
                            <a:srgbClr val="1B2A30"/>
                          </a:solidFill>
                          <a:latin typeface="Arial"/>
                          <a:ea typeface="Arial"/>
                          <a:cs typeface="Arial"/>
                        </a:rPr>
                        <a:t>PMM</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050">
                          <a:solidFill>
                            <a:srgbClr val="3C4A52"/>
                          </a:solidFill>
                          <a:latin typeface="Arial"/>
                          <a:ea typeface="Arial"/>
                          <a:cs typeface="Arial"/>
                        </a:rPr>
                        <a:t>5 donors; 10 iterations; implemented within the MICE framework.</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0">
                <a:tc>
                  <a:txBody>
                    <a:bodyPr/>
                    <a:lstStyle/>
                    <a:p>
                      <a:pPr marL="0" indent="0" algn="l">
                        <a:buNone/>
                      </a:pPr>
                      <a:r>
                        <a:rPr sz="1050" b="1">
                          <a:solidFill>
                            <a:srgbClr val="1B2A30"/>
                          </a:solidFill>
                          <a:latin typeface="Arial"/>
                          <a:ea typeface="Arial"/>
                          <a:cs typeface="Arial"/>
                        </a:rPr>
                        <a:t>SoftImpute</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050">
                          <a:solidFill>
                            <a:srgbClr val="3C4A52"/>
                          </a:solidFill>
                          <a:latin typeface="Arial"/>
                          <a:ea typeface="Arial"/>
                          <a:cs typeface="Arial"/>
                        </a:rPr>
                        <a:t>Regularisation chosen by CV over 20 log-spaced values (1e−3 to 1e2); convergence 1e−5; max 200 iterations.</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0">
                <a:tc>
                  <a:txBody>
                    <a:bodyPr/>
                    <a:lstStyle/>
                    <a:p>
                      <a:pPr marL="0" indent="0" algn="l">
                        <a:buNone/>
                      </a:pPr>
                      <a:r>
                        <a:rPr sz="1050" b="1">
                          <a:solidFill>
                            <a:srgbClr val="1B2A30"/>
                          </a:solidFill>
                          <a:latin typeface="Arial"/>
                          <a:ea typeface="Arial"/>
                          <a:cs typeface="Arial"/>
                        </a:rPr>
                        <a:t>NMF</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050">
                          <a:solidFill>
                            <a:srgbClr val="3C4A52"/>
                          </a:solidFill>
                          <a:latin typeface="Arial"/>
                          <a:ea typeface="Arial"/>
                          <a:cs typeface="Arial"/>
                        </a:rPr>
                        <a:t>Rank r = 5 selected by grid search over {2, 3, 5, 7, 10}; multiplicative updates; max 500 iterations.</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0">
                <a:tc>
                  <a:txBody>
                    <a:bodyPr/>
                    <a:lstStyle/>
                    <a:p>
                      <a:pPr marL="0" indent="0" algn="l">
                        <a:buNone/>
                      </a:pPr>
                      <a:r>
                        <a:rPr sz="1050" b="1">
                          <a:solidFill>
                            <a:srgbClr val="1B2A30"/>
                          </a:solidFill>
                          <a:latin typeface="Arial"/>
                          <a:ea typeface="Arial"/>
                          <a:cs typeface="Arial"/>
                        </a:rPr>
                        <a:t>DAE</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050">
                          <a:solidFill>
                            <a:srgbClr val="3C4A52"/>
                          </a:solidFill>
                          <a:latin typeface="Arial"/>
                          <a:ea typeface="Arial"/>
                          <a:cs typeface="Arial"/>
                        </a:rPr>
                        <a:t>15-128-64-32 autoencoder; ReLU + batch norm; dropout 0.5/0.3; 20% pattern-aware masking; MSE on observed entries; Adam (lr 1e−3); early stopping; 5 runs averaged.</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r h="0">
                <a:tc>
                  <a:txBody>
                    <a:bodyPr/>
                    <a:lstStyle/>
                    <a:p>
                      <a:pPr marL="0" indent="0" algn="l">
                        <a:buNone/>
                      </a:pPr>
                      <a:r>
                        <a:rPr sz="1050" b="1">
                          <a:solidFill>
                            <a:srgbClr val="1B2A30"/>
                          </a:solidFill>
                          <a:latin typeface="Arial"/>
                          <a:ea typeface="Arial"/>
                          <a:cs typeface="Arial"/>
                        </a:rPr>
                        <a:t>VAE</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c>
                  <a:txBody>
                    <a:bodyPr/>
                    <a:lstStyle/>
                    <a:p>
                      <a:pPr marL="0" indent="0" algn="l">
                        <a:buNone/>
                      </a:pPr>
                      <a:r>
                        <a:rPr sz="1050">
                          <a:solidFill>
                            <a:srgbClr val="3C4A52"/>
                          </a:solidFill>
                          <a:latin typeface="Arial"/>
                          <a:ea typeface="Arial"/>
                          <a:cs typeface="Arial"/>
                        </a:rPr>
                        <a:t>Same layer dimensions as DAE; latent dim 32; loss = MSE + β-weighted KL (cyclical annealing, βmax 0.1); 20 latent samples averaged.</a:t>
                      </a:r>
                      <a:endParaRPr sz="1050">
                        <a:latin typeface="Arial"/>
                        <a:ea typeface="Arial"/>
                        <a:cs typeface="Arial"/>
                      </a:endParaRPr>
                    </a:p>
                  </a:txBody>
                  <a:tcPr marL="76200" marR="76200" marT="38100" marB="38100" anchor="ctr">
                    <a:lnL w="12700" cmpd="sng">
                      <a:solidFill>
                        <a:srgbClr val="E3E9EC"/>
                      </a:solidFill>
                      <a:prstDash val="solid"/>
                    </a:lnL>
                    <a:lnR w="12700" cmpd="sng">
                      <a:solidFill>
                        <a:srgbClr val="E3E9EC"/>
                      </a:solidFill>
                      <a:prstDash val="solid"/>
                    </a:lnR>
                    <a:lnT w="12700" cmpd="sng">
                      <a:solidFill>
                        <a:srgbClr val="E3E9EC"/>
                      </a:solidFill>
                      <a:prstDash val="solid"/>
                    </a:lnT>
                    <a:lnB w="12700" cmpd="sng">
                      <a:solidFill>
                        <a:srgbClr val="E3E9EC"/>
                      </a:solidFill>
                      <a:prstDash val="solid"/>
                    </a:lnB>
                    <a:solidFill>
                      <a:srgbClr val="FFFFFF"/>
                    </a:solidFill>
                  </a:tcPr>
                </a:tc>
              </a:tr>
            </a:tbl>
          </a:graphicData>
        </a:graphic>
      </p:graphicFrame>
    </p:spTree>
    <p:extLst>
      <p:ext uri="{BB962C8B-B14F-4D97-AF65-F5344CB8AC3E}">
        <p14:creationId xmlns:p14="http://schemas.microsoft.com/office/powerpoint/2010/main" val="184248536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4BFCC1-6420-4783-9798-4A180D6463BB}"/>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7C8A94"/>
                </a:solidFill>
                <a:latin typeface="Arial"/>
                <a:ea typeface="Arial"/>
                <a:cs typeface="Arial"/>
              </a:rPr>
              <a:t>APPENDIX · B</a:t>
            </a:r>
            <a:endParaRPr sz="1100"/>
          </a:p>
        </p:txBody>
      </p:sp>
      <p:sp>
        <p:nvSpPr>
          <p:cNvPr id="3" name="Text 1">
            <a:extLst xmlns:a="http://schemas.openxmlformats.org/drawingml/2006/main">
              <a:ext uri="{FF2B5EF4-FFF2-40B4-BE49-F238E27FC236}">
                <a16:creationId xmlns:a16="http://schemas.microsoft.com/office/drawing/2014/main" id="{25F00D12-5AC3-46E8-9E8C-72E84AC3DD39}"/>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B2A30"/>
                </a:solidFill>
                <a:latin typeface="Arial"/>
                <a:ea typeface="Arial"/>
                <a:cs typeface="Arial"/>
              </a:rPr>
              <a:t>H2 fixed-reference design</a:t>
            </a:r>
            <a:endParaRPr sz="2400"/>
          </a:p>
        </p:txBody>
      </p:sp>
      <p:sp>
        <p:nvSpPr>
          <p:cNvPr id="4" name="Shape 2">
            <a:extLst xmlns:a="http://schemas.openxmlformats.org/drawingml/2006/main">
              <a:ext uri="{FF2B5EF4-FFF2-40B4-BE49-F238E27FC236}">
                <a16:creationId xmlns:a16="http://schemas.microsoft.com/office/drawing/2014/main" id="{3ABBC99F-5905-4CD2-8CE1-C68A0186500C}"/>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7C8A94"/>
          </a:solidFill>
        </p:spPr>
      </p:sp>
      <p:sp>
        <p:nvSpPr>
          <p:cNvPr id="5" name="Shape 3">
            <a:extLst xmlns:a="http://schemas.openxmlformats.org/drawingml/2006/main">
              <a:ext uri="{FF2B5EF4-FFF2-40B4-BE49-F238E27FC236}">
                <a16:creationId xmlns:a16="http://schemas.microsoft.com/office/drawing/2014/main" id="{8D5F1329-C811-4C45-86E6-58EBDEA2AEA0}"/>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F81A4273-30F8-439B-851F-2480C5C0E32F}"/>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CD2DFEB3-FD1F-4A4D-8EFD-41EDB1C7D538}"/>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26</a:t>
            </a:r>
            <a:endParaRPr sz="900"/>
          </a:p>
        </p:txBody>
      </p:sp>
      <p:sp>
        <p:nvSpPr>
          <p:cNvPr id="8" name="Text 6">
            <a:extLst xmlns:a="http://schemas.openxmlformats.org/drawingml/2006/main">
              <a:ext uri="{FF2B5EF4-FFF2-40B4-BE49-F238E27FC236}">
                <a16:creationId xmlns:a16="http://schemas.microsoft.com/office/drawing/2014/main" id="{8DBFFBBD-4827-44AC-8294-41A38355008A}"/>
              </a:ext>
            </a:extLst>
          </p:cNvPr>
          <p:cNvSpPr>
            <a:spLocks xmlns:a="http://schemas.openxmlformats.org/drawingml/2006/main" noGrp="1"/>
          </p:cNvSpPr>
          <p:nvPr/>
        </p:nvSpPr>
        <p:spPr>
          <a:xfrm xmlns:a="http://schemas.openxmlformats.org/drawingml/2006/main">
            <a:off x="640080" y="1737360"/>
            <a:ext cx="6583680"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400"/>
              </a:spcAft>
              <a:buSzPct val="100000"/>
              <a:buChar char="•"/>
            </a:pPr>
            <a:r>
              <a:rPr sz="1600">
                <a:solidFill>
                  <a:srgbClr val="3C4A52"/>
                </a:solidFill>
                <a:latin typeface="Arial"/>
                <a:ea typeface="Arial"/>
                <a:cs typeface="Arial"/>
              </a:rPr>
              <a:t>Fit the reference scaler on MICE-imputed domain scores.</a:t>
            </a:r>
            <a:endParaRPr sz="1600"/>
          </a:p>
          <a:p xmlns:a="http://schemas.openxmlformats.org/drawingml/2006/main">
            <a:pPr marL="203200" indent="-203200">
              <a:lnSpc>
                <a:spcPct val="122000"/>
              </a:lnSpc>
              <a:spcAft>
                <a:spcPts val="1400"/>
              </a:spcAft>
              <a:buSzPct val="100000"/>
              <a:buChar char="•"/>
            </a:pPr>
            <a:r>
              <a:rPr sz="1600">
                <a:solidFill>
                  <a:srgbClr val="3C4A52"/>
                </a:solidFill>
                <a:latin typeface="Arial"/>
                <a:ea typeface="Arial"/>
                <a:cs typeface="Arial"/>
              </a:rPr>
              <a:t>Fit one UMAP embedding from the MICE reference.</a:t>
            </a:r>
          </a:p>
          <a:p xmlns:a="http://schemas.openxmlformats.org/drawingml/2006/main">
            <a:pPr marL="203200" indent="-203200">
              <a:lnSpc>
                <a:spcPct val="122000"/>
              </a:lnSpc>
              <a:spcAft>
                <a:spcPts val="1400"/>
              </a:spcAft>
              <a:buSzPct val="100000"/>
              <a:buChar char="•"/>
            </a:pPr>
            <a:r>
              <a:rPr sz="1600">
                <a:solidFill>
                  <a:srgbClr val="3C4A52"/>
                </a:solidFill>
                <a:latin typeface="Arial"/>
                <a:ea typeface="Arial"/>
                <a:cs typeface="Arial"/>
              </a:rPr>
              <a:t>Fit a three-group k-means assignment rule.</a:t>
            </a:r>
          </a:p>
          <a:p xmlns:a="http://schemas.openxmlformats.org/drawingml/2006/main">
            <a:pPr marL="203200" indent="-203200">
              <a:lnSpc>
                <a:spcPct val="122000"/>
              </a:lnSpc>
              <a:spcAft>
                <a:spcPts val="1400"/>
              </a:spcAft>
              <a:buSzPct val="100000"/>
              <a:buChar char="•"/>
            </a:pPr>
            <a:r>
              <a:rPr sz="1600">
                <a:solidFill>
                  <a:srgbClr val="3C4A52"/>
                </a:solidFill>
                <a:latin typeface="Arial"/>
                <a:ea typeface="Arial"/>
                <a:cs typeface="Arial"/>
              </a:rPr>
              <a:t>Apply the frozen transformations to other imputations.</a:t>
            </a:r>
          </a:p>
          <a:p xmlns:a="http://schemas.openxmlformats.org/drawingml/2006/main">
            <a:pPr marL="203200" indent="-203200">
              <a:lnSpc>
                <a:spcPct val="122000"/>
              </a:lnSpc>
              <a:spcAft>
                <a:spcPts val="1400"/>
              </a:spcAft>
              <a:buSzPct val="100000"/>
              <a:buChar char="•"/>
            </a:pPr>
            <a:r>
              <a:rPr sz="1600">
                <a:solidFill>
                  <a:srgbClr val="3C4A52"/>
                </a:solidFill>
                <a:latin typeface="Arial"/>
                <a:ea typeface="Arial"/>
                <a:cs typeface="Arial"/>
              </a:rPr>
              <a:t>Compare assignments using pairwise ARI and NMI.</a:t>
            </a:r>
          </a:p>
        </p:txBody>
      </p:sp>
      <p:sp>
        <p:nvSpPr>
          <p:cNvPr id="9" name="Shape 7">
            <a:extLst xmlns:a="http://schemas.openxmlformats.org/drawingml/2006/main">
              <a:ext uri="{FF2B5EF4-FFF2-40B4-BE49-F238E27FC236}">
                <a16:creationId xmlns:a16="http://schemas.microsoft.com/office/drawing/2014/main" id="{58ABBBD6-EB4F-4748-A7D7-5434E315A122}"/>
              </a:ext>
            </a:extLst>
          </p:cNvPr>
          <p:cNvSpPr>
            <a:spLocks xmlns:a="http://schemas.openxmlformats.org/drawingml/2006/main" noGrp="1"/>
          </p:cNvSpPr>
          <p:nvPr/>
        </p:nvSpPr>
        <p:spPr>
          <a:xfrm xmlns:a="http://schemas.openxmlformats.org/drawingml/2006/main">
            <a:off x="7498080" y="1737360"/>
            <a:ext cx="4053535" cy="4023360"/>
          </a:xfrm>
          <a:prstGeom xmlns:a="http://schemas.openxmlformats.org/drawingml/2006/main" prst="roundRect">
            <a:avLst>
              <a:gd name="adj" fmla="val 1818"/>
            </a:avLst>
          </a:prstGeom>
          <a:solidFill xmlns:a="http://schemas.openxmlformats.org/drawingml/2006/main">
            <a:srgbClr val="F5F8F9"/>
          </a:solidFill>
          <a:ln xmlns:a="http://schemas.openxmlformats.org/drawingml/2006/main" w="12700">
            <a:solidFill>
              <a:srgbClr val="E3E9EC"/>
            </a:solidFill>
            <a:prstDash val="solid"/>
          </a:ln>
        </p:spPr>
      </p:sp>
      <p:sp>
        <p:nvSpPr>
          <p:cNvPr id="10" name="Text 8">
            <a:extLst xmlns:a="http://schemas.openxmlformats.org/drawingml/2006/main">
              <a:ext uri="{FF2B5EF4-FFF2-40B4-BE49-F238E27FC236}">
                <a16:creationId xmlns:a16="http://schemas.microsoft.com/office/drawing/2014/main" id="{D0A2D6ED-CAB8-436D-A1E8-B1AB626AA008}"/>
              </a:ext>
            </a:extLst>
          </p:cNvPr>
          <p:cNvSpPr>
            <a:spLocks xmlns:a="http://schemas.openxmlformats.org/drawingml/2006/main" noGrp="1"/>
          </p:cNvSpPr>
          <p:nvPr/>
        </p:nvSpPr>
        <p:spPr>
          <a:xfrm xmlns:a="http://schemas.openxmlformats.org/drawingml/2006/main">
            <a:off x="7726680" y="1965960"/>
            <a:ext cx="3657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2E8B7F"/>
                </a:solidFill>
                <a:latin typeface="Arial"/>
                <a:ea typeface="Arial"/>
                <a:cs typeface="Arial"/>
              </a:rPr>
              <a:t>Tests</a:t>
            </a:r>
            <a:endParaRPr sz="1400"/>
          </a:p>
        </p:txBody>
      </p:sp>
      <p:sp>
        <p:nvSpPr>
          <p:cNvPr id="11" name="Text 9">
            <a:extLst xmlns:a="http://schemas.openxmlformats.org/drawingml/2006/main">
              <a:ext uri="{FF2B5EF4-FFF2-40B4-BE49-F238E27FC236}">
                <a16:creationId xmlns:a16="http://schemas.microsoft.com/office/drawing/2014/main" id="{7BCD08B3-6977-4BFC-9BEB-5F1466FCEA75}"/>
              </a:ext>
            </a:extLst>
          </p:cNvPr>
          <p:cNvSpPr>
            <a:spLocks xmlns:a="http://schemas.openxmlformats.org/drawingml/2006/main" noGrp="1"/>
          </p:cNvSpPr>
          <p:nvPr/>
        </p:nvSpPr>
        <p:spPr>
          <a:xfrm xmlns:a="http://schemas.openxmlformats.org/drawingml/2006/main">
            <a:off x="7726680" y="2331720"/>
            <a:ext cx="374904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20000"/>
              </a:lnSpc>
              <a:buNone/>
            </a:pPr>
            <a:r>
              <a:rPr sz="1400">
                <a:solidFill>
                  <a:srgbClr val="3C4A52"/>
                </a:solidFill>
                <a:latin typeface="Arial"/>
                <a:ea typeface="Arial"/>
                <a:cs typeface="Arial"/>
              </a:rPr>
              <a:t>Robustness of point assignments to imputed values.</a:t>
            </a:r>
            <a:endParaRPr sz="1400"/>
          </a:p>
        </p:txBody>
      </p:sp>
      <p:sp>
        <p:nvSpPr>
          <p:cNvPr id="12" name="Shape 10">
            <a:extLst xmlns:a="http://schemas.openxmlformats.org/drawingml/2006/main">
              <a:ext uri="{FF2B5EF4-FFF2-40B4-BE49-F238E27FC236}">
                <a16:creationId xmlns:a16="http://schemas.microsoft.com/office/drawing/2014/main" id="{0AA49318-133A-40AA-B894-9EE276012F05}"/>
              </a:ext>
            </a:extLst>
          </p:cNvPr>
          <p:cNvSpPr>
            <a:spLocks xmlns:a="http://schemas.openxmlformats.org/drawingml/2006/main" noGrp="1"/>
          </p:cNvSpPr>
          <p:nvPr/>
        </p:nvSpPr>
        <p:spPr>
          <a:xfrm xmlns:a="http://schemas.openxmlformats.org/drawingml/2006/main">
            <a:off x="7726680" y="3383280"/>
            <a:ext cx="3749040"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13" name="Text 11">
            <a:extLst xmlns:a="http://schemas.openxmlformats.org/drawingml/2006/main">
              <a:ext uri="{FF2B5EF4-FFF2-40B4-BE49-F238E27FC236}">
                <a16:creationId xmlns:a16="http://schemas.microsoft.com/office/drawing/2014/main" id="{27D504E5-6C8D-48FD-9C58-600F64FDEA1B}"/>
              </a:ext>
            </a:extLst>
          </p:cNvPr>
          <p:cNvSpPr>
            <a:spLocks xmlns:a="http://schemas.openxmlformats.org/drawingml/2006/main" noGrp="1"/>
          </p:cNvSpPr>
          <p:nvPr/>
        </p:nvSpPr>
        <p:spPr>
          <a:xfrm xmlns:a="http://schemas.openxmlformats.org/drawingml/2006/main">
            <a:off x="7726680" y="3566160"/>
            <a:ext cx="3657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C25B57"/>
                </a:solidFill>
                <a:latin typeface="Arial"/>
                <a:ea typeface="Arial"/>
                <a:cs typeface="Arial"/>
              </a:rPr>
              <a:t>Does not test</a:t>
            </a:r>
            <a:endParaRPr sz="1400"/>
          </a:p>
        </p:txBody>
      </p:sp>
      <p:sp>
        <p:nvSpPr>
          <p:cNvPr id="14" name="Text 12">
            <a:extLst xmlns:a="http://schemas.openxmlformats.org/drawingml/2006/main">
              <a:ext uri="{FF2B5EF4-FFF2-40B4-BE49-F238E27FC236}">
                <a16:creationId xmlns:a16="http://schemas.microsoft.com/office/drawing/2014/main" id="{A55D47D7-065E-42BA-82AF-A18D48DFA4BC}"/>
              </a:ext>
            </a:extLst>
          </p:cNvPr>
          <p:cNvSpPr>
            <a:spLocks xmlns:a="http://schemas.openxmlformats.org/drawingml/2006/main" noGrp="1"/>
          </p:cNvSpPr>
          <p:nvPr/>
        </p:nvSpPr>
        <p:spPr>
          <a:xfrm xmlns:a="http://schemas.openxmlformats.org/drawingml/2006/main">
            <a:off x="7726680" y="3931920"/>
            <a:ext cx="374904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20000"/>
              </a:lnSpc>
              <a:buNone/>
            </a:pPr>
            <a:r>
              <a:rPr sz="1400">
                <a:solidFill>
                  <a:srgbClr val="3C4A52"/>
                </a:solidFill>
                <a:latin typeface="Arial"/>
                <a:ea typeface="Arial"/>
                <a:cs typeface="Arial"/>
              </a:rPr>
              <a:t>Full invariance of independently discovered structures.</a:t>
            </a:r>
            <a:endParaRPr sz="1400"/>
          </a:p>
        </p:txBody>
      </p:sp>
    </p:spTree>
    <p:extLst>
      <p:ext uri="{BB962C8B-B14F-4D97-AF65-F5344CB8AC3E}">
        <p14:creationId xmlns:p14="http://schemas.microsoft.com/office/powerpoint/2010/main" val="161034628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9086490-68E1-4ACB-ADF7-1A02DCD5D5E0}"/>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7C8A94"/>
                </a:solidFill>
                <a:latin typeface="Arial"/>
                <a:ea typeface="Arial"/>
                <a:cs typeface="Arial"/>
              </a:rPr>
              <a:t>APPENDIX · C</a:t>
            </a:r>
            <a:endParaRPr sz="1100"/>
          </a:p>
        </p:txBody>
      </p:sp>
      <p:sp>
        <p:nvSpPr>
          <p:cNvPr id="3" name="Text 1">
            <a:extLst xmlns:a="http://schemas.openxmlformats.org/drawingml/2006/main">
              <a:ext uri="{FF2B5EF4-FFF2-40B4-BE49-F238E27FC236}">
                <a16:creationId xmlns:a16="http://schemas.microsoft.com/office/drawing/2014/main" id="{7324B074-4429-4BD9-9C25-99C4B0BD7043}"/>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B2A30"/>
                </a:solidFill>
                <a:latin typeface="Arial"/>
                <a:ea typeface="Arial"/>
                <a:cs typeface="Arial"/>
              </a:rPr>
              <a:t>HDBSCAN logic</a:t>
            </a:r>
            <a:endParaRPr sz="2400"/>
          </a:p>
        </p:txBody>
      </p:sp>
      <p:sp>
        <p:nvSpPr>
          <p:cNvPr id="4" name="Shape 2">
            <a:extLst xmlns:a="http://schemas.openxmlformats.org/drawingml/2006/main">
              <a:ext uri="{FF2B5EF4-FFF2-40B4-BE49-F238E27FC236}">
                <a16:creationId xmlns:a16="http://schemas.microsoft.com/office/drawing/2014/main" id="{F69D2F56-5671-48F9-B275-100FE120EDBC}"/>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7C8A94"/>
          </a:solidFill>
        </p:spPr>
      </p:sp>
      <p:sp>
        <p:nvSpPr>
          <p:cNvPr id="5" name="Shape 3">
            <a:extLst xmlns:a="http://schemas.openxmlformats.org/drawingml/2006/main">
              <a:ext uri="{FF2B5EF4-FFF2-40B4-BE49-F238E27FC236}">
                <a16:creationId xmlns:a16="http://schemas.microsoft.com/office/drawing/2014/main" id="{D32FD774-6B45-405C-9826-907EBF985B81}"/>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2C32CF8D-7AF2-44BA-9B29-D45D3903006C}"/>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B71383A0-0FEA-41F9-AD19-F735C40CA837}"/>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27</a:t>
            </a:r>
            <a:endParaRPr sz="900"/>
          </a:p>
        </p:txBody>
      </p:sp>
      <p:sp>
        <p:nvSpPr>
          <p:cNvPr id="8" name="Text 6">
            <a:extLst xmlns:a="http://schemas.openxmlformats.org/drawingml/2006/main">
              <a:ext uri="{FF2B5EF4-FFF2-40B4-BE49-F238E27FC236}">
                <a16:creationId xmlns:a16="http://schemas.microsoft.com/office/drawing/2014/main" id="{67247E6E-0495-4CB8-A746-FC2B1B1F021E}"/>
              </a:ext>
            </a:extLst>
          </p:cNvPr>
          <p:cNvSpPr>
            <a:spLocks xmlns:a="http://schemas.openxmlformats.org/drawingml/2006/main" noGrp="1"/>
          </p:cNvSpPr>
          <p:nvPr/>
        </p:nvSpPr>
        <p:spPr>
          <a:xfrm xmlns:a="http://schemas.openxmlformats.org/drawingml/2006/main">
            <a:off x="640080" y="1737360"/>
            <a:ext cx="6583680"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200"/>
              </a:spcAft>
              <a:buSzPct val="100000"/>
              <a:buChar char="•"/>
            </a:pPr>
            <a:r>
              <a:rPr sz="1600">
                <a:solidFill>
                  <a:srgbClr val="3C4A52"/>
                </a:solidFill>
                <a:latin typeface="Arial"/>
                <a:ea typeface="Arial"/>
                <a:cs typeface="Arial"/>
              </a:rPr>
              <a:t>Estimate local density via core distance.</a:t>
            </a:r>
            <a:endParaRPr sz="1600"/>
          </a:p>
          <a:p xmlns:a="http://schemas.openxmlformats.org/drawingml/2006/main">
            <a:pPr marL="203200" indent="-203200">
              <a:lnSpc>
                <a:spcPct val="122000"/>
              </a:lnSpc>
              <a:spcAft>
                <a:spcPts val="1200"/>
              </a:spcAft>
              <a:buSzPct val="100000"/>
              <a:buChar char="•"/>
            </a:pPr>
            <a:r>
              <a:rPr sz="1600">
                <a:solidFill>
                  <a:srgbClr val="3C4A52"/>
                </a:solidFill>
                <a:latin typeface="Arial"/>
                <a:ea typeface="Arial"/>
                <a:cs typeface="Arial"/>
              </a:rPr>
              <a:t>Construct mutual-reachability distances.</a:t>
            </a:r>
            <a:endParaRPr sz="1600"/>
          </a:p>
          <a:p xmlns:a="http://schemas.openxmlformats.org/drawingml/2006/main">
            <a:pPr marL="203200" indent="-203200">
              <a:lnSpc>
                <a:spcPct val="122000"/>
              </a:lnSpc>
              <a:spcAft>
                <a:spcPts val="1200"/>
              </a:spcAft>
              <a:buSzPct val="100000"/>
              <a:buChar char="•"/>
            </a:pPr>
            <a:r>
              <a:rPr sz="1600">
                <a:solidFill>
                  <a:srgbClr val="3C4A52"/>
                </a:solidFill>
                <a:latin typeface="Arial"/>
                <a:ea typeface="Arial"/>
                <a:cs typeface="Arial"/>
              </a:rPr>
              <a:t>Build a minimum spanning tree.</a:t>
            </a:r>
            <a:endParaRPr sz="1600"/>
          </a:p>
          <a:p xmlns:a="http://schemas.openxmlformats.org/drawingml/2006/main">
            <a:pPr marL="203200" indent="-203200">
              <a:lnSpc>
                <a:spcPct val="122000"/>
              </a:lnSpc>
              <a:spcAft>
                <a:spcPts val="1200"/>
              </a:spcAft>
              <a:buSzPct val="100000"/>
              <a:buChar char="•"/>
            </a:pPr>
            <a:r>
              <a:rPr sz="1600">
                <a:solidFill>
                  <a:srgbClr val="3C4A52"/>
                </a:solidFill>
                <a:latin typeface="Arial"/>
                <a:ea typeface="Arial"/>
                <a:cs typeface="Arial"/>
              </a:rPr>
              <a:t>Extract a hierarchy of density-connected components.</a:t>
            </a:r>
            <a:endParaRPr sz="1600"/>
          </a:p>
          <a:p xmlns:a="http://schemas.openxmlformats.org/drawingml/2006/main">
            <a:pPr marL="203200" indent="-203200">
              <a:lnSpc>
                <a:spcPct val="122000"/>
              </a:lnSpc>
              <a:spcAft>
                <a:spcPts val="1200"/>
              </a:spcAft>
              <a:buSzPct val="100000"/>
              <a:buChar char="•"/>
            </a:pPr>
            <a:r>
              <a:rPr sz="1600">
                <a:solidFill>
                  <a:srgbClr val="3C4A52"/>
                </a:solidFill>
                <a:latin typeface="Arial"/>
                <a:ea typeface="Arial"/>
                <a:cs typeface="Arial"/>
              </a:rPr>
              <a:t>Select persistent clusters by stability.</a:t>
            </a:r>
            <a:endParaRPr sz="1600"/>
          </a:p>
          <a:p xmlns:a="http://schemas.openxmlformats.org/drawingml/2006/main">
            <a:pPr marL="203200" indent="-203200">
              <a:lnSpc>
                <a:spcPct val="122000"/>
              </a:lnSpc>
              <a:spcAft>
                <a:spcPts val="1200"/>
              </a:spcAft>
              <a:buSzPct val="100000"/>
              <a:buChar char="•"/>
            </a:pPr>
            <a:r>
              <a:rPr sz="1600">
                <a:solidFill>
                  <a:srgbClr val="3C4A52"/>
                </a:solidFill>
                <a:latin typeface="Arial"/>
                <a:ea typeface="Arial"/>
                <a:cs typeface="Arial"/>
              </a:rPr>
              <a:t>Label points outside persistent regions as noise.</a:t>
            </a:r>
            <a:endParaRPr sz="1600"/>
          </a:p>
        </p:txBody>
      </p:sp>
      <p:sp>
        <p:nvSpPr>
          <p:cNvPr id="9" name="Shape 7">
            <a:extLst xmlns:a="http://schemas.openxmlformats.org/drawingml/2006/main">
              <a:ext uri="{FF2B5EF4-FFF2-40B4-BE49-F238E27FC236}">
                <a16:creationId xmlns:a16="http://schemas.microsoft.com/office/drawing/2014/main" id="{405769D2-CA55-46C6-A65E-15658B938866}"/>
              </a:ext>
            </a:extLst>
          </p:cNvPr>
          <p:cNvSpPr>
            <a:spLocks xmlns:a="http://schemas.openxmlformats.org/drawingml/2006/main" noGrp="1"/>
          </p:cNvSpPr>
          <p:nvPr/>
        </p:nvSpPr>
        <p:spPr>
          <a:xfrm xmlns:a="http://schemas.openxmlformats.org/drawingml/2006/main">
            <a:off x="7498080" y="1737360"/>
            <a:ext cx="4053535" cy="4023360"/>
          </a:xfrm>
          <a:prstGeom xmlns:a="http://schemas.openxmlformats.org/drawingml/2006/main" prst="roundRect">
            <a:avLst>
              <a:gd name="adj" fmla="val 1818"/>
            </a:avLst>
          </a:prstGeom>
          <a:solidFill xmlns:a="http://schemas.openxmlformats.org/drawingml/2006/main">
            <a:srgbClr val="FDF6EC"/>
          </a:solidFill>
          <a:ln xmlns:a="http://schemas.openxmlformats.org/drawingml/2006/main" w="12700">
            <a:solidFill>
              <a:srgbClr val="E3E9EC"/>
            </a:solidFill>
            <a:prstDash val="solid"/>
          </a:ln>
        </p:spPr>
      </p:sp>
      <p:sp>
        <p:nvSpPr>
          <p:cNvPr id="10" name="Text 8">
            <a:extLst xmlns:a="http://schemas.openxmlformats.org/drawingml/2006/main">
              <a:ext uri="{FF2B5EF4-FFF2-40B4-BE49-F238E27FC236}">
                <a16:creationId xmlns:a16="http://schemas.microsoft.com/office/drawing/2014/main" id="{46FA1DB2-D14F-40AA-91F6-8CE662C79E0C}"/>
              </a:ext>
            </a:extLst>
          </p:cNvPr>
          <p:cNvSpPr>
            <a:spLocks xmlns:a="http://schemas.openxmlformats.org/drawingml/2006/main" noGrp="1"/>
          </p:cNvSpPr>
          <p:nvPr/>
        </p:nvSpPr>
        <p:spPr>
          <a:xfrm xmlns:a="http://schemas.openxmlformats.org/drawingml/2006/main">
            <a:off x="7726680" y="2011680"/>
            <a:ext cx="3749040" cy="2743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30000"/>
              </a:lnSpc>
              <a:buNone/>
            </a:pPr>
            <a:r>
              <a:rPr sz="1450" i="1">
                <a:solidFill>
                  <a:srgbClr val="8A6D2B"/>
                </a:solidFill>
                <a:latin typeface="Arial"/>
                <a:ea typeface="Arial"/>
                <a:cs typeface="Arial"/>
              </a:rPr>
              <a:t>Unlike DBSCAN, HDBSCAN does not reduce to a single fixed-ε DBSCAN solution — it integrates across density levels.</a:t>
            </a:r>
            <a:endParaRPr sz="1450"/>
          </a:p>
        </p:txBody>
      </p:sp>
    </p:spTree>
    <p:extLst>
      <p:ext uri="{BB962C8B-B14F-4D97-AF65-F5344CB8AC3E}">
        <p14:creationId xmlns:p14="http://schemas.microsoft.com/office/powerpoint/2010/main" val="135481030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3B71D3D-890B-422F-AC68-83D8F9BDF144}"/>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7C8A94"/>
                </a:solidFill>
                <a:latin typeface="Arial"/>
                <a:ea typeface="Arial"/>
                <a:cs typeface="Arial"/>
              </a:rPr>
              <a:t>APPENDIX · D</a:t>
            </a:r>
            <a:endParaRPr sz="1100"/>
          </a:p>
        </p:txBody>
      </p:sp>
      <p:sp>
        <p:nvSpPr>
          <p:cNvPr id="3" name="Text 1">
            <a:extLst xmlns:a="http://schemas.openxmlformats.org/drawingml/2006/main">
              <a:ext uri="{FF2B5EF4-FFF2-40B4-BE49-F238E27FC236}">
                <a16:creationId xmlns:a16="http://schemas.microsoft.com/office/drawing/2014/main" id="{C612B347-8A43-481F-BC83-6AC4E8D7C8D9}"/>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B2A30"/>
                </a:solidFill>
                <a:latin typeface="Arial"/>
                <a:ea typeface="Arial"/>
                <a:cs typeface="Arial"/>
              </a:rPr>
              <a:t>Silhouette caveats</a:t>
            </a:r>
            <a:endParaRPr sz="2400"/>
          </a:p>
        </p:txBody>
      </p:sp>
      <p:sp>
        <p:nvSpPr>
          <p:cNvPr id="4" name="Shape 2">
            <a:extLst xmlns:a="http://schemas.openxmlformats.org/drawingml/2006/main">
              <a:ext uri="{FF2B5EF4-FFF2-40B4-BE49-F238E27FC236}">
                <a16:creationId xmlns:a16="http://schemas.microsoft.com/office/drawing/2014/main" id="{C1964559-9795-4DE2-A19D-FA457D018984}"/>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7C8A94"/>
          </a:solidFill>
        </p:spPr>
      </p:sp>
      <p:sp>
        <p:nvSpPr>
          <p:cNvPr id="5" name="Shape 3">
            <a:extLst xmlns:a="http://schemas.openxmlformats.org/drawingml/2006/main">
              <a:ext uri="{FF2B5EF4-FFF2-40B4-BE49-F238E27FC236}">
                <a16:creationId xmlns:a16="http://schemas.microsoft.com/office/drawing/2014/main" id="{D8407F15-5C77-4F77-8B4E-39AC155315A5}"/>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C973C5B8-E3BC-4E8B-A601-163CEE28806A}"/>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58569295-240D-47FD-89D2-BB8A51DC4A96}"/>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28</a:t>
            </a:r>
            <a:endParaRPr sz="900"/>
          </a:p>
        </p:txBody>
      </p:sp>
      <p:sp>
        <p:nvSpPr>
          <p:cNvPr id="8" name="Text 6">
            <a:extLst xmlns:a="http://schemas.openxmlformats.org/drawingml/2006/main">
              <a:ext uri="{FF2B5EF4-FFF2-40B4-BE49-F238E27FC236}">
                <a16:creationId xmlns:a16="http://schemas.microsoft.com/office/drawing/2014/main" id="{A7BDC964-0E11-4CAF-BFF3-C9274AF831C7}"/>
              </a:ext>
            </a:extLst>
          </p:cNvPr>
          <p:cNvSpPr>
            <a:spLocks xmlns:a="http://schemas.openxmlformats.org/drawingml/2006/main" noGrp="1"/>
          </p:cNvSpPr>
          <p:nvPr/>
        </p:nvSpPr>
        <p:spPr>
          <a:xfrm xmlns:a="http://schemas.openxmlformats.org/drawingml/2006/main">
            <a:off x="640080" y="1737360"/>
            <a:ext cx="10911535"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400"/>
              </a:spcAft>
              <a:buSzPct val="100000"/>
              <a:buChar char="•"/>
            </a:pPr>
            <a:r>
              <a:rPr sz="1600">
                <a:solidFill>
                  <a:srgbClr val="3C4A52"/>
                </a:solidFill>
                <a:latin typeface="Arial"/>
                <a:ea typeface="Arial"/>
                <a:cs typeface="Arial"/>
              </a:rPr>
              <a:t>UMAP emphasizes neighbourhood structure.</a:t>
            </a:r>
            <a:endParaRPr sz="1600"/>
          </a:p>
          <a:p xmlns:a="http://schemas.openxmlformats.org/drawingml/2006/main">
            <a:pPr marL="203200" indent="-203200">
              <a:lnSpc>
                <a:spcPct val="122000"/>
              </a:lnSpc>
              <a:spcAft>
                <a:spcPts val="1400"/>
              </a:spcAft>
              <a:buSzPct val="100000"/>
              <a:buChar char="•"/>
            </a:pPr>
            <a:r>
              <a:rPr sz="1600">
                <a:solidFill>
                  <a:srgbClr val="3C4A52"/>
                </a:solidFill>
                <a:latin typeface="Arial"/>
                <a:ea typeface="Arial"/>
                <a:cs typeface="Arial"/>
              </a:rPr>
              <a:t>Embedding silhouette can overstate measured-domain separation.</a:t>
            </a:r>
          </a:p>
          <a:p xmlns:a="http://schemas.openxmlformats.org/drawingml/2006/main">
            <a:pPr marL="203200" indent="-203200">
              <a:lnSpc>
                <a:spcPct val="122000"/>
              </a:lnSpc>
              <a:spcAft>
                <a:spcPts val="1400"/>
              </a:spcAft>
              <a:buSzPct val="100000"/>
              <a:buChar char="•"/>
            </a:pPr>
            <a:r>
              <a:rPr sz="1600">
                <a:solidFill>
                  <a:srgbClr val="3C4A52"/>
                </a:solidFill>
                <a:latin typeface="Arial"/>
                <a:ea typeface="Arial"/>
                <a:cs typeface="Arial"/>
              </a:rPr>
              <a:t>Hyperparameter and seed selection make the chosen score optimistic.</a:t>
            </a:r>
          </a:p>
          <a:p xmlns:a="http://schemas.openxmlformats.org/drawingml/2006/main">
            <a:pPr marL="203200" indent="-203200">
              <a:lnSpc>
                <a:spcPct val="122000"/>
              </a:lnSpc>
              <a:spcAft>
                <a:spcPts val="1400"/>
              </a:spcAft>
              <a:buSzPct val="100000"/>
              <a:buChar char="•"/>
            </a:pPr>
            <a:r>
              <a:rPr sz="1600">
                <a:solidFill>
                  <a:srgbClr val="3C4A52"/>
                </a:solidFill>
                <a:latin typeface="Arial"/>
                <a:ea typeface="Arial"/>
                <a:cs typeface="Arial"/>
              </a:rPr>
              <a:t>Historical assessment subsampling gives mean ARI 0.273.</a:t>
            </a:r>
          </a:p>
        </p:txBody>
      </p:sp>
      <p:sp>
        <p:nvSpPr>
          <p:cNvPr id="9" name="Shape 7">
            <a:extLst xmlns:a="http://schemas.openxmlformats.org/drawingml/2006/main">
              <a:ext uri="{FF2B5EF4-FFF2-40B4-BE49-F238E27FC236}">
                <a16:creationId xmlns:a16="http://schemas.microsoft.com/office/drawing/2014/main" id="{F3877ABF-1DDB-47A7-9FEC-BEE266E08AE0}"/>
              </a:ext>
            </a:extLst>
          </p:cNvPr>
          <p:cNvSpPr>
            <a:spLocks xmlns:a="http://schemas.openxmlformats.org/drawingml/2006/main" noGrp="1"/>
          </p:cNvSpPr>
          <p:nvPr/>
        </p:nvSpPr>
        <p:spPr>
          <a:xfrm xmlns:a="http://schemas.openxmlformats.org/drawingml/2006/main">
            <a:off x="640080" y="4937760"/>
            <a:ext cx="10911535" cy="1005840"/>
          </a:xfrm>
          <a:prstGeom xmlns:a="http://schemas.openxmlformats.org/drawingml/2006/main" prst="roundRect">
            <a:avLst>
              <a:gd name="adj" fmla="val 7273"/>
            </a:avLst>
          </a:prstGeom>
          <a:solidFill xmlns:a="http://schemas.openxmlformats.org/drawingml/2006/main">
            <a:srgbClr val="F5F8F9"/>
          </a:solidFill>
          <a:ln xmlns:a="http://schemas.openxmlformats.org/drawingml/2006/main" w="12700">
            <a:solidFill>
              <a:srgbClr val="E3E9EC"/>
            </a:solidFill>
            <a:prstDash val="solid"/>
          </a:ln>
        </p:spPr>
      </p:sp>
      <p:sp>
        <p:nvSpPr>
          <p:cNvPr id="10" name="Text 8">
            <a:extLst xmlns:a="http://schemas.openxmlformats.org/drawingml/2006/main">
              <a:ext uri="{FF2B5EF4-FFF2-40B4-BE49-F238E27FC236}">
                <a16:creationId xmlns:a16="http://schemas.microsoft.com/office/drawing/2014/main" id="{415666CC-AF85-49C6-8197-825180BEDCB7}"/>
              </a:ext>
            </a:extLst>
          </p:cNvPr>
          <p:cNvSpPr>
            <a:spLocks xmlns:a="http://schemas.openxmlformats.org/drawingml/2006/main" noGrp="1"/>
          </p:cNvSpPr>
          <p:nvPr/>
        </p:nvSpPr>
        <p:spPr>
          <a:xfrm xmlns:a="http://schemas.openxmlformats.org/drawingml/2006/main">
            <a:off x="960120" y="4937760"/>
            <a:ext cx="10271455"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500" b="1">
                <a:solidFill>
                  <a:srgbClr val="11707A"/>
                </a:solidFill>
                <a:latin typeface="Arial"/>
                <a:ea typeface="Arial"/>
                <a:cs typeface="Arial"/>
              </a:rPr>
              <a:t>Interpret silhouette as an internal pipeline-quality metric — not proof of natural categories.</a:t>
            </a:r>
            <a:endParaRPr sz="1500"/>
          </a:p>
        </p:txBody>
      </p:sp>
    </p:spTree>
    <p:extLst>
      <p:ext uri="{BB962C8B-B14F-4D97-AF65-F5344CB8AC3E}">
        <p14:creationId xmlns:p14="http://schemas.microsoft.com/office/powerpoint/2010/main" val="165878089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208573-FB1D-4332-9882-15BD2EFD63C3}"/>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7C8A94"/>
                </a:solidFill>
                <a:latin typeface="Arial"/>
                <a:ea typeface="Arial"/>
                <a:cs typeface="Arial"/>
              </a:rPr>
              <a:t>APPENDIX · E</a:t>
            </a:r>
            <a:endParaRPr sz="1100"/>
          </a:p>
        </p:txBody>
      </p:sp>
      <p:sp>
        <p:nvSpPr>
          <p:cNvPr id="3" name="Text 1">
            <a:extLst xmlns:a="http://schemas.openxmlformats.org/drawingml/2006/main">
              <a:ext uri="{FF2B5EF4-FFF2-40B4-BE49-F238E27FC236}">
                <a16:creationId xmlns:a16="http://schemas.microsoft.com/office/drawing/2014/main" id="{8BA06C97-0B2E-4E81-9D7E-74BAC75087B0}"/>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B2A30"/>
                </a:solidFill>
                <a:latin typeface="Arial"/>
                <a:ea typeface="Arial"/>
                <a:cs typeface="Arial"/>
              </a:rPr>
              <a:t>Missing-not-at-random sensitivity</a:t>
            </a:r>
            <a:endParaRPr sz="2400"/>
          </a:p>
        </p:txBody>
      </p:sp>
      <p:sp>
        <p:nvSpPr>
          <p:cNvPr id="4" name="Shape 2">
            <a:extLst xmlns:a="http://schemas.openxmlformats.org/drawingml/2006/main">
              <a:ext uri="{FF2B5EF4-FFF2-40B4-BE49-F238E27FC236}">
                <a16:creationId xmlns:a16="http://schemas.microsoft.com/office/drawing/2014/main" id="{73B0C810-C105-4A46-88F1-45AD251CE15B}"/>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7C8A94"/>
          </a:solidFill>
        </p:spPr>
      </p:sp>
      <p:sp>
        <p:nvSpPr>
          <p:cNvPr id="5" name="Shape 3">
            <a:extLst xmlns:a="http://schemas.openxmlformats.org/drawingml/2006/main">
              <a:ext uri="{FF2B5EF4-FFF2-40B4-BE49-F238E27FC236}">
                <a16:creationId xmlns:a16="http://schemas.microsoft.com/office/drawing/2014/main" id="{80267F17-92AF-4262-B959-2D99D8F618F9}"/>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6B9C1175-BA6A-42C8-A865-C7332CEE8E6B}"/>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E8F75275-4B3F-4226-98F3-74A92C0A54D2}"/>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29</a:t>
            </a:r>
            <a:endParaRPr sz="900"/>
          </a:p>
        </p:txBody>
      </p:sp>
      <p:sp>
        <p:nvSpPr>
          <p:cNvPr id="8" name="Text 6">
            <a:extLst xmlns:a="http://schemas.openxmlformats.org/drawingml/2006/main">
              <a:ext uri="{FF2B5EF4-FFF2-40B4-BE49-F238E27FC236}">
                <a16:creationId xmlns:a16="http://schemas.microsoft.com/office/drawing/2014/main" id="{62C585E5-04E1-4C89-978C-6679F6901797}"/>
              </a:ext>
            </a:extLst>
          </p:cNvPr>
          <p:cNvSpPr>
            <a:spLocks xmlns:a="http://schemas.openxmlformats.org/drawingml/2006/main" noGrp="1"/>
          </p:cNvSpPr>
          <p:nvPr/>
        </p:nvSpPr>
        <p:spPr>
          <a:xfrm xmlns:a="http://schemas.openxmlformats.org/drawingml/2006/main">
            <a:off x="640080" y="1783080"/>
            <a:ext cx="10911535"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600"/>
              </a:spcAft>
              <a:buSzPct val="100000"/>
              <a:buChar char="•"/>
            </a:pPr>
            <a:r>
              <a:rPr sz="1600">
                <a:solidFill>
                  <a:srgbClr val="3C4A52"/>
                </a:solidFill>
                <a:latin typeface="Arial"/>
                <a:ea typeface="Arial"/>
                <a:cs typeface="Arial"/>
              </a:rPr>
              <a:t>MAR is a working assumption.</a:t>
            </a:r>
            <a:endParaRPr sz="1600"/>
          </a:p>
          <a:p xmlns:a="http://schemas.openxmlformats.org/drawingml/2006/main">
            <a:pPr marL="203200" indent="-203200">
              <a:lnSpc>
                <a:spcPct val="122000"/>
              </a:lnSpc>
              <a:spcAft>
                <a:spcPts val="1600"/>
              </a:spcAft>
              <a:buSzPct val="100000"/>
              <a:buChar char="•"/>
            </a:pPr>
            <a:r>
              <a:rPr sz="1600">
                <a:solidFill>
                  <a:srgbClr val="3C4A52"/>
                </a:solidFill>
                <a:latin typeface="Arial"/>
                <a:ea typeface="Arial"/>
                <a:cs typeface="Arial"/>
              </a:rPr>
              <a:t>Observed data alone cannot rule out MNAR mechanisms.</a:t>
            </a:r>
          </a:p>
          <a:p xmlns:a="http://schemas.openxmlformats.org/drawingml/2006/main">
            <a:pPr marL="203200" indent="-203200">
              <a:lnSpc>
                <a:spcPct val="122000"/>
              </a:lnSpc>
              <a:spcAft>
                <a:spcPts val="1600"/>
              </a:spcAft>
              <a:buSzPct val="100000"/>
              <a:buChar char="•"/>
            </a:pPr>
            <a:r>
              <a:rPr sz="1600">
                <a:solidFill>
                  <a:srgbClr val="3C4A52"/>
                </a:solidFill>
                <a:latin typeface="Arial"/>
                <a:ea typeface="Arial"/>
                <a:cs typeface="Arial"/>
              </a:rPr>
              <a:t>Agreement across imputations does not establish MNAR robustness.</a:t>
            </a:r>
          </a:p>
          <a:p xmlns:a="http://schemas.openxmlformats.org/drawingml/2006/main">
            <a:pPr marL="203200" indent="-203200">
              <a:lnSpc>
                <a:spcPct val="122000"/>
              </a:lnSpc>
              <a:spcAft>
                <a:spcPts val="1600"/>
              </a:spcAft>
              <a:buSzPct val="100000"/>
              <a:buChar char="•"/>
            </a:pPr>
            <a:r>
              <a:rPr sz="1600">
                <a:solidFill>
                  <a:srgbClr val="3C4A52"/>
                </a:solidFill>
                <a:latin typeface="Arial"/>
                <a:ea typeface="Arial"/>
                <a:cs typeface="Arial"/>
              </a:rPr>
              <a:t>Clinically justified delta-shift sensitivity remains future work.</a:t>
            </a:r>
          </a:p>
        </p:txBody>
      </p:sp>
    </p:spTree>
    <p:extLst>
      <p:ext uri="{BB962C8B-B14F-4D97-AF65-F5344CB8AC3E}">
        <p14:creationId xmlns:p14="http://schemas.microsoft.com/office/powerpoint/2010/main" val="159060015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793BED-0962-4A61-853E-4A940DE849CD}"/>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7C8A94"/>
                </a:solidFill>
                <a:latin typeface="Arial"/>
                <a:ea typeface="Arial"/>
                <a:cs typeface="Arial"/>
              </a:rPr>
              <a:t>APPENDIX · F</a:t>
            </a:r>
            <a:endParaRPr sz="1100"/>
          </a:p>
        </p:txBody>
      </p:sp>
      <p:sp>
        <p:nvSpPr>
          <p:cNvPr id="3" name="Text 1">
            <a:extLst xmlns:a="http://schemas.openxmlformats.org/drawingml/2006/main">
              <a:ext uri="{FF2B5EF4-FFF2-40B4-BE49-F238E27FC236}">
                <a16:creationId xmlns:a16="http://schemas.microsoft.com/office/drawing/2014/main" id="{DAE681D6-8A0C-460D-BB79-20998634C1FB}"/>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B2A30"/>
                </a:solidFill>
                <a:latin typeface="Arial"/>
                <a:ea typeface="Arial"/>
                <a:cs typeface="Arial"/>
              </a:rPr>
              <a:t>Clinical interpretation boundary</a:t>
            </a:r>
            <a:endParaRPr sz="2400"/>
          </a:p>
        </p:txBody>
      </p:sp>
      <p:sp>
        <p:nvSpPr>
          <p:cNvPr id="4" name="Shape 2">
            <a:extLst xmlns:a="http://schemas.openxmlformats.org/drawingml/2006/main">
              <a:ext uri="{FF2B5EF4-FFF2-40B4-BE49-F238E27FC236}">
                <a16:creationId xmlns:a16="http://schemas.microsoft.com/office/drawing/2014/main" id="{19CDD688-8F51-4D35-B5BF-4570345DD27A}"/>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7C8A94"/>
          </a:solidFill>
        </p:spPr>
      </p:sp>
      <p:sp>
        <p:nvSpPr>
          <p:cNvPr id="5" name="Shape 3">
            <a:extLst xmlns:a="http://schemas.openxmlformats.org/drawingml/2006/main">
              <a:ext uri="{FF2B5EF4-FFF2-40B4-BE49-F238E27FC236}">
                <a16:creationId xmlns:a16="http://schemas.microsoft.com/office/drawing/2014/main" id="{0BF71E37-B2C9-4F47-91B0-7B6F2DB70369}"/>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504B648D-8AEC-4042-990D-7BC301F7285C}"/>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D085E8C1-7B07-4443-B57A-FFBB1A540B8D}"/>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30</a:t>
            </a:r>
            <a:endParaRPr sz="900"/>
          </a:p>
        </p:txBody>
      </p:sp>
      <p:sp>
        <p:nvSpPr>
          <p:cNvPr id="8" name="Shape 6">
            <a:extLst xmlns:a="http://schemas.openxmlformats.org/drawingml/2006/main">
              <a:ext uri="{FF2B5EF4-FFF2-40B4-BE49-F238E27FC236}">
                <a16:creationId xmlns:a16="http://schemas.microsoft.com/office/drawing/2014/main" id="{E78788BC-FE3D-4DA8-AD4E-3EF562A6E163}"/>
              </a:ext>
            </a:extLst>
          </p:cNvPr>
          <p:cNvSpPr>
            <a:spLocks xmlns:a="http://schemas.openxmlformats.org/drawingml/2006/main" noGrp="1"/>
          </p:cNvSpPr>
          <p:nvPr/>
        </p:nvSpPr>
        <p:spPr>
          <a:xfrm xmlns:a="http://schemas.openxmlformats.org/drawingml/2006/main">
            <a:off x="640080" y="1691640"/>
            <a:ext cx="5227168" cy="4023360"/>
          </a:xfrm>
          <a:prstGeom xmlns:a="http://schemas.openxmlformats.org/drawingml/2006/main" prst="roundRect">
            <a:avLst>
              <a:gd name="adj" fmla="val 1818"/>
            </a:avLst>
          </a:prstGeom>
          <a:solidFill xmlns:a="http://schemas.openxmlformats.org/drawingml/2006/main">
            <a:srgbClr val="F5F8F9"/>
          </a:solidFill>
          <a:ln xmlns:a="http://schemas.openxmlformats.org/drawingml/2006/main" w="12700">
            <a:solidFill>
              <a:srgbClr val="E3E9EC"/>
            </a:solidFill>
            <a:prstDash val="solid"/>
          </a:ln>
        </p:spPr>
      </p:sp>
      <p:sp>
        <p:nvSpPr>
          <p:cNvPr id="9" name="Shape 7">
            <a:extLst xmlns:a="http://schemas.openxmlformats.org/drawingml/2006/main">
              <a:ext uri="{FF2B5EF4-FFF2-40B4-BE49-F238E27FC236}">
                <a16:creationId xmlns:a16="http://schemas.microsoft.com/office/drawing/2014/main" id="{BB205ED0-70C4-4357-8073-B5D35DC2FCD2}"/>
              </a:ext>
            </a:extLst>
          </p:cNvPr>
          <p:cNvSpPr>
            <a:spLocks xmlns:a="http://schemas.openxmlformats.org/drawingml/2006/main" noGrp="1"/>
          </p:cNvSpPr>
          <p:nvPr/>
        </p:nvSpPr>
        <p:spPr>
          <a:xfrm xmlns:a="http://schemas.openxmlformats.org/drawingml/2006/main">
            <a:off x="640080" y="1691640"/>
            <a:ext cx="5227168" cy="128016"/>
          </a:xfrm>
          <a:prstGeom xmlns:a="http://schemas.openxmlformats.org/drawingml/2006/main" prst="rect">
            <a:avLst/>
          </a:prstGeom>
          <a:solidFill xmlns:a="http://schemas.openxmlformats.org/drawingml/2006/main">
            <a:srgbClr val="2E8B7F"/>
          </a:solidFill>
        </p:spPr>
      </p:sp>
      <p:sp>
        <p:nvSpPr>
          <p:cNvPr id="10" name="Text 8">
            <a:extLst xmlns:a="http://schemas.openxmlformats.org/drawingml/2006/main">
              <a:ext uri="{FF2B5EF4-FFF2-40B4-BE49-F238E27FC236}">
                <a16:creationId xmlns:a16="http://schemas.microsoft.com/office/drawing/2014/main" id="{9DA539F1-94F3-4771-A9B1-822C74F75055}"/>
              </a:ext>
            </a:extLst>
          </p:cNvPr>
          <p:cNvSpPr>
            <a:spLocks xmlns:a="http://schemas.openxmlformats.org/drawingml/2006/main" noGrp="1"/>
          </p:cNvSpPr>
          <p:nvPr/>
        </p:nvSpPr>
        <p:spPr>
          <a:xfrm xmlns:a="http://schemas.openxmlformats.org/drawingml/2006/main">
            <a:off x="914400" y="1947672"/>
            <a:ext cx="4678528"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B2A30"/>
                </a:solidFill>
                <a:latin typeface="Arial"/>
                <a:ea typeface="Arial"/>
                <a:cs typeface="Arial"/>
              </a:rPr>
              <a:t>Research summaries provide</a:t>
            </a:r>
            <a:endParaRPr sz="1600"/>
          </a:p>
        </p:txBody>
      </p:sp>
      <p:sp>
        <p:nvSpPr>
          <p:cNvPr id="11" name="Text 9">
            <a:extLst xmlns:a="http://schemas.openxmlformats.org/drawingml/2006/main">
              <a:ext uri="{FF2B5EF4-FFF2-40B4-BE49-F238E27FC236}">
                <a16:creationId xmlns:a16="http://schemas.microsoft.com/office/drawing/2014/main" id="{DEB2CD76-F87D-4E23-9705-42D1DE8666EA}"/>
              </a:ext>
            </a:extLst>
          </p:cNvPr>
          <p:cNvSpPr>
            <a:spLocks xmlns:a="http://schemas.openxmlformats.org/drawingml/2006/main" noGrp="1"/>
          </p:cNvSpPr>
          <p:nvPr/>
        </p:nvSpPr>
        <p:spPr>
          <a:xfrm xmlns:a="http://schemas.openxmlformats.org/drawingml/2006/main">
            <a:off x="914400" y="2560320"/>
            <a:ext cx="4678528"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400"/>
              </a:spcAft>
              <a:buSzPct val="100000"/>
              <a:buChar char="•"/>
            </a:pPr>
            <a:r>
              <a:rPr sz="1450">
                <a:solidFill>
                  <a:srgbClr val="3C4A52"/>
                </a:solidFill>
                <a:latin typeface="Arial"/>
                <a:ea typeface="Arial"/>
                <a:cs typeface="Arial"/>
              </a:rPr>
              <a:t>cohort-relative score bands;</a:t>
            </a:r>
            <a:endParaRPr sz="1450"/>
          </a:p>
          <a:p xmlns:a="http://schemas.openxmlformats.org/drawingml/2006/main">
            <a:pPr marL="203200" indent="-203200">
              <a:lnSpc>
                <a:spcPct val="122000"/>
              </a:lnSpc>
              <a:spcAft>
                <a:spcPts val="1400"/>
              </a:spcAft>
              <a:buSzPct val="100000"/>
              <a:buChar char="•"/>
            </a:pPr>
            <a:r>
              <a:rPr sz="1450">
                <a:solidFill>
                  <a:srgbClr val="3C4A52"/>
                </a:solidFill>
                <a:latin typeface="Arial"/>
                <a:ea typeface="Arial"/>
                <a:cs typeface="Arial"/>
              </a:rPr>
              <a:t>assignment agreement across methods;</a:t>
            </a:r>
          </a:p>
          <a:p xmlns:a="http://schemas.openxmlformats.org/drawingml/2006/main">
            <a:pPr marL="203200" indent="-203200">
              <a:lnSpc>
                <a:spcPct val="122000"/>
              </a:lnSpc>
              <a:spcAft>
                <a:spcPts val="1400"/>
              </a:spcAft>
              <a:buSzPct val="100000"/>
              <a:buChar char="•"/>
            </a:pPr>
            <a:r>
              <a:rPr sz="1450">
                <a:solidFill>
                  <a:srgbClr val="3C4A52"/>
                </a:solidFill>
                <a:latin typeface="Arial"/>
                <a:ea typeface="Arial"/>
                <a:cs typeface="Arial"/>
              </a:rPr>
              <a:t>exploratory profile comparison;</a:t>
            </a:r>
          </a:p>
          <a:p xmlns:a="http://schemas.openxmlformats.org/drawingml/2006/main">
            <a:pPr marL="203200" indent="-203200">
              <a:lnSpc>
                <a:spcPct val="122000"/>
              </a:lnSpc>
              <a:spcAft>
                <a:spcPts val="1400"/>
              </a:spcAft>
              <a:buSzPct val="100000"/>
              <a:buChar char="•"/>
            </a:pPr>
            <a:r>
              <a:rPr sz="1450">
                <a:solidFill>
                  <a:srgbClr val="3C4A52"/>
                </a:solidFill>
                <a:latin typeface="Arial"/>
                <a:ea typeface="Arial"/>
                <a:cs typeface="Arial"/>
              </a:rPr>
              <a:t>candidates for outcome validation.</a:t>
            </a:r>
          </a:p>
        </p:txBody>
      </p:sp>
      <p:sp>
        <p:nvSpPr>
          <p:cNvPr id="12" name="Shape 10">
            <a:extLst xmlns:a="http://schemas.openxmlformats.org/drawingml/2006/main">
              <a:ext uri="{FF2B5EF4-FFF2-40B4-BE49-F238E27FC236}">
                <a16:creationId xmlns:a16="http://schemas.microsoft.com/office/drawing/2014/main" id="{FE472ED3-8B10-476A-97EA-E2B3733D51FB}"/>
              </a:ext>
            </a:extLst>
          </p:cNvPr>
          <p:cNvSpPr>
            <a:spLocks xmlns:a="http://schemas.openxmlformats.org/drawingml/2006/main" noGrp="1"/>
          </p:cNvSpPr>
          <p:nvPr/>
        </p:nvSpPr>
        <p:spPr>
          <a:xfrm xmlns:a="http://schemas.openxmlformats.org/drawingml/2006/main">
            <a:off x="6324448" y="1691640"/>
            <a:ext cx="5227168" cy="4023360"/>
          </a:xfrm>
          <a:prstGeom xmlns:a="http://schemas.openxmlformats.org/drawingml/2006/main" prst="roundRect">
            <a:avLst>
              <a:gd name="adj" fmla="val 1818"/>
            </a:avLst>
          </a:prstGeom>
          <a:solidFill xmlns:a="http://schemas.openxmlformats.org/drawingml/2006/main">
            <a:srgbClr val="F5F8F9"/>
          </a:solidFill>
          <a:ln xmlns:a="http://schemas.openxmlformats.org/drawingml/2006/main" w="12700">
            <a:solidFill>
              <a:srgbClr val="E3E9EC"/>
            </a:solidFill>
            <a:prstDash val="solid"/>
          </a:ln>
        </p:spPr>
      </p:sp>
      <p:sp>
        <p:nvSpPr>
          <p:cNvPr id="13" name="Shape 11">
            <a:extLst xmlns:a="http://schemas.openxmlformats.org/drawingml/2006/main">
              <a:ext uri="{FF2B5EF4-FFF2-40B4-BE49-F238E27FC236}">
                <a16:creationId xmlns:a16="http://schemas.microsoft.com/office/drawing/2014/main" id="{B713BFD8-F639-4498-9592-4FD4AFAFC1E9}"/>
              </a:ext>
            </a:extLst>
          </p:cNvPr>
          <p:cNvSpPr>
            <a:spLocks xmlns:a="http://schemas.openxmlformats.org/drawingml/2006/main" noGrp="1"/>
          </p:cNvSpPr>
          <p:nvPr/>
        </p:nvSpPr>
        <p:spPr>
          <a:xfrm xmlns:a="http://schemas.openxmlformats.org/drawingml/2006/main">
            <a:off x="6324448" y="1691640"/>
            <a:ext cx="5227168" cy="128016"/>
          </a:xfrm>
          <a:prstGeom xmlns:a="http://schemas.openxmlformats.org/drawingml/2006/main" prst="rect">
            <a:avLst/>
          </a:prstGeom>
          <a:solidFill xmlns:a="http://schemas.openxmlformats.org/drawingml/2006/main">
            <a:srgbClr val="C25B57"/>
          </a:solidFill>
        </p:spPr>
      </p:sp>
      <p:sp>
        <p:nvSpPr>
          <p:cNvPr id="14" name="Text 12">
            <a:extLst xmlns:a="http://schemas.openxmlformats.org/drawingml/2006/main">
              <a:ext uri="{FF2B5EF4-FFF2-40B4-BE49-F238E27FC236}">
                <a16:creationId xmlns:a16="http://schemas.microsoft.com/office/drawing/2014/main" id="{7D5A4950-8B52-4E73-9850-1DA65AC6CF27}"/>
              </a:ext>
            </a:extLst>
          </p:cNvPr>
          <p:cNvSpPr>
            <a:spLocks xmlns:a="http://schemas.openxmlformats.org/drawingml/2006/main" noGrp="1"/>
          </p:cNvSpPr>
          <p:nvPr/>
        </p:nvSpPr>
        <p:spPr>
          <a:xfrm xmlns:a="http://schemas.openxmlformats.org/drawingml/2006/main">
            <a:off x="6598768" y="1947672"/>
            <a:ext cx="4678528"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B2A30"/>
                </a:solidFill>
                <a:latin typeface="Arial"/>
                <a:ea typeface="Arial"/>
                <a:cs typeface="Arial"/>
              </a:rPr>
              <a:t>The severity tier does NOT</a:t>
            </a:r>
            <a:endParaRPr sz="1600"/>
          </a:p>
        </p:txBody>
      </p:sp>
      <p:sp>
        <p:nvSpPr>
          <p:cNvPr id="15" name="Text 13">
            <a:extLst xmlns:a="http://schemas.openxmlformats.org/drawingml/2006/main">
              <a:ext uri="{FF2B5EF4-FFF2-40B4-BE49-F238E27FC236}">
                <a16:creationId xmlns:a16="http://schemas.microsoft.com/office/drawing/2014/main" id="{47132FAB-16CB-43FA-B585-8C7583808597}"/>
              </a:ext>
            </a:extLst>
          </p:cNvPr>
          <p:cNvSpPr>
            <a:spLocks xmlns:a="http://schemas.openxmlformats.org/drawingml/2006/main" noGrp="1"/>
          </p:cNvSpPr>
          <p:nvPr/>
        </p:nvSpPr>
        <p:spPr>
          <a:xfrm xmlns:a="http://schemas.openxmlformats.org/drawingml/2006/main">
            <a:off x="6598768" y="2560320"/>
            <a:ext cx="4678528"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400"/>
              </a:spcAft>
              <a:buSzPct val="100000"/>
              <a:buChar char="•"/>
            </a:pPr>
            <a:r>
              <a:rPr sz="1450">
                <a:solidFill>
                  <a:srgbClr val="3C4A52"/>
                </a:solidFill>
                <a:latin typeface="Arial"/>
                <a:ea typeface="Arial"/>
                <a:cs typeface="Arial"/>
              </a:rPr>
              <a:t>diagnose a patient;</a:t>
            </a:r>
            <a:endParaRPr sz="1450"/>
          </a:p>
          <a:p xmlns:a="http://schemas.openxmlformats.org/drawingml/2006/main">
            <a:pPr marL="203200" indent="-203200">
              <a:lnSpc>
                <a:spcPct val="122000"/>
              </a:lnSpc>
              <a:spcAft>
                <a:spcPts val="1400"/>
              </a:spcAft>
              <a:buSzPct val="100000"/>
              <a:buChar char="•"/>
            </a:pPr>
            <a:r>
              <a:rPr sz="1450">
                <a:solidFill>
                  <a:srgbClr val="3C4A52"/>
                </a:solidFill>
                <a:latin typeface="Arial"/>
                <a:ea typeface="Arial"/>
                <a:cs typeface="Arial"/>
              </a:rPr>
              <a:t>prescribe treatment;</a:t>
            </a:r>
            <a:endParaRPr sz="1450"/>
          </a:p>
          <a:p xmlns:a="http://schemas.openxmlformats.org/drawingml/2006/main">
            <a:pPr marL="203200" indent="-203200">
              <a:lnSpc>
                <a:spcPct val="122000"/>
              </a:lnSpc>
              <a:spcAft>
                <a:spcPts val="1400"/>
              </a:spcAft>
              <a:buSzPct val="100000"/>
              <a:buChar char="•"/>
            </a:pPr>
            <a:r>
              <a:rPr sz="1450">
                <a:solidFill>
                  <a:srgbClr val="3C4A52"/>
                </a:solidFill>
                <a:latin typeface="Arial"/>
                <a:ea typeface="Arial"/>
                <a:cs typeface="Arial"/>
              </a:rPr>
              <a:t>determine clinical placement;</a:t>
            </a:r>
            <a:endParaRPr sz="1450"/>
          </a:p>
          <a:p xmlns:a="http://schemas.openxmlformats.org/drawingml/2006/main">
            <a:pPr marL="203200" indent="-203200">
              <a:lnSpc>
                <a:spcPct val="122000"/>
              </a:lnSpc>
              <a:spcAft>
                <a:spcPts val="1400"/>
              </a:spcAft>
              <a:buSzPct val="100000"/>
              <a:buChar char="•"/>
            </a:pPr>
            <a:r>
              <a:rPr sz="1450">
                <a:solidFill>
                  <a:srgbClr val="3C4A52"/>
                </a:solidFill>
                <a:latin typeface="Arial"/>
                <a:ea typeface="Arial"/>
                <a:cs typeface="Arial"/>
              </a:rPr>
              <a:t>replace professional judgement.</a:t>
            </a:r>
            <a:endParaRPr sz="1450"/>
          </a:p>
        </p:txBody>
      </p:sp>
    </p:spTree>
    <p:extLst>
      <p:ext uri="{BB962C8B-B14F-4D97-AF65-F5344CB8AC3E}">
        <p14:creationId xmlns:p14="http://schemas.microsoft.com/office/powerpoint/2010/main" val="65860408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116E5D-3846-471A-AA74-BCA058FAAFFB}"/>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7C8A94"/>
                </a:solidFill>
                <a:latin typeface="Arial"/>
                <a:ea typeface="Arial"/>
                <a:cs typeface="Arial"/>
              </a:rPr>
              <a:t>APPENDIX · G</a:t>
            </a:r>
            <a:endParaRPr sz="1100"/>
          </a:p>
        </p:txBody>
      </p:sp>
      <p:sp>
        <p:nvSpPr>
          <p:cNvPr id="3" name="Text 1">
            <a:extLst xmlns:a="http://schemas.openxmlformats.org/drawingml/2006/main">
              <a:ext uri="{FF2B5EF4-FFF2-40B4-BE49-F238E27FC236}">
                <a16:creationId xmlns:a16="http://schemas.microsoft.com/office/drawing/2014/main" id="{DC1237F4-E8A2-49D0-A87F-71D9810B26D3}"/>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B2A30"/>
                </a:solidFill>
                <a:latin typeface="Arial"/>
                <a:ea typeface="Arial"/>
                <a:cs typeface="Arial"/>
              </a:rPr>
              <a:t>Future work</a:t>
            </a:r>
            <a:endParaRPr sz="2400"/>
          </a:p>
        </p:txBody>
      </p:sp>
      <p:sp>
        <p:nvSpPr>
          <p:cNvPr id="4" name="Shape 2">
            <a:extLst xmlns:a="http://schemas.openxmlformats.org/drawingml/2006/main">
              <a:ext uri="{FF2B5EF4-FFF2-40B4-BE49-F238E27FC236}">
                <a16:creationId xmlns:a16="http://schemas.microsoft.com/office/drawing/2014/main" id="{A0D85F1F-1D06-41EF-812B-E73CDEC7CAE9}"/>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7C8A94"/>
          </a:solidFill>
        </p:spPr>
      </p:sp>
      <p:sp>
        <p:nvSpPr>
          <p:cNvPr id="5" name="Shape 3">
            <a:extLst xmlns:a="http://schemas.openxmlformats.org/drawingml/2006/main">
              <a:ext uri="{FF2B5EF4-FFF2-40B4-BE49-F238E27FC236}">
                <a16:creationId xmlns:a16="http://schemas.microsoft.com/office/drawing/2014/main" id="{7687B9BC-9607-4515-88E1-5840A4CD54DE}"/>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8FEB20C4-21AE-4427-9CD1-57BD08387A38}"/>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9EBB251F-11AD-4CFA-A201-3061F76B2913}"/>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31</a:t>
            </a:r>
            <a:endParaRPr sz="900"/>
          </a:p>
        </p:txBody>
      </p:sp>
      <p:sp>
        <p:nvSpPr>
          <p:cNvPr id="8" name="Text 6">
            <a:extLst xmlns:a="http://schemas.openxmlformats.org/drawingml/2006/main">
              <a:ext uri="{FF2B5EF4-FFF2-40B4-BE49-F238E27FC236}">
                <a16:creationId xmlns:a16="http://schemas.microsoft.com/office/drawing/2014/main" id="{A8D6039B-9A4F-4E22-84B3-4E4C230C264F}"/>
              </a:ext>
            </a:extLst>
          </p:cNvPr>
          <p:cNvSpPr>
            <a:spLocks xmlns:a="http://schemas.openxmlformats.org/drawingml/2006/main" noGrp="1"/>
          </p:cNvSpPr>
          <p:nvPr/>
        </p:nvSpPr>
        <p:spPr>
          <a:xfrm xmlns:a="http://schemas.openxmlformats.org/drawingml/2006/main">
            <a:off x="640080" y="1737360"/>
            <a:ext cx="10911535" cy="38404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03200" indent="-203200">
              <a:lnSpc>
                <a:spcPct val="122000"/>
              </a:lnSpc>
              <a:spcAft>
                <a:spcPts val="1300"/>
              </a:spcAft>
              <a:buSzPct val="100000"/>
              <a:buChar char="•"/>
            </a:pPr>
            <a:r>
              <a:rPr sz="1600">
                <a:solidFill>
                  <a:srgbClr val="3C4A52"/>
                </a:solidFill>
                <a:latin typeface="Arial"/>
                <a:ea typeface="Arial"/>
                <a:cs typeface="Arial"/>
              </a:rPr>
              <a:t>External replication across rehabilitation centres.</a:t>
            </a:r>
            <a:endParaRPr sz="1600"/>
          </a:p>
          <a:p xmlns:a="http://schemas.openxmlformats.org/drawingml/2006/main">
            <a:pPr marL="203200" indent="-203200">
              <a:lnSpc>
                <a:spcPct val="122000"/>
              </a:lnSpc>
              <a:spcAft>
                <a:spcPts val="1300"/>
              </a:spcAft>
              <a:buSzPct val="100000"/>
              <a:buChar char="•"/>
            </a:pPr>
            <a:r>
              <a:rPr sz="1600">
                <a:solidFill>
                  <a:srgbClr val="3C4A52"/>
                </a:solidFill>
                <a:latin typeface="Arial"/>
                <a:ea typeface="Arial"/>
                <a:cs typeface="Arial"/>
              </a:rPr>
              <a:t>Nonlinear trajectories and informative follow-up or dropout.</a:t>
            </a:r>
          </a:p>
          <a:p xmlns:a="http://schemas.openxmlformats.org/drawingml/2006/main">
            <a:pPr marL="203200" indent="-203200">
              <a:lnSpc>
                <a:spcPct val="122000"/>
              </a:lnSpc>
              <a:spcAft>
                <a:spcPts val="1300"/>
              </a:spcAft>
              <a:buSzPct val="100000"/>
              <a:buChar char="•"/>
            </a:pPr>
            <a:r>
              <a:rPr sz="1600">
                <a:solidFill>
                  <a:srgbClr val="3C4A52"/>
                </a:solidFill>
                <a:latin typeface="Arial"/>
                <a:ea typeface="Arial"/>
                <a:cs typeface="Arial"/>
              </a:rPr>
              <a:t>Validation against independent functional outcomes.</a:t>
            </a:r>
          </a:p>
          <a:p xmlns:a="http://schemas.openxmlformats.org/drawingml/2006/main">
            <a:pPr marL="203200" indent="-203200">
              <a:lnSpc>
                <a:spcPct val="122000"/>
              </a:lnSpc>
              <a:spcAft>
                <a:spcPts val="1300"/>
              </a:spcAft>
              <a:buSzPct val="100000"/>
              <a:buChar char="•"/>
            </a:pPr>
            <a:r>
              <a:rPr sz="1600">
                <a:solidFill>
                  <a:srgbClr val="3C4A52"/>
                </a:solidFill>
                <a:latin typeface="Arial"/>
                <a:ea typeface="Arial"/>
                <a:cs typeface="Arial"/>
              </a:rPr>
              <a:t>Broader incomplete-data models and MNAR sensitivity.</a:t>
            </a:r>
          </a:p>
          <a:p xmlns:a="http://schemas.openxmlformats.org/drawingml/2006/main">
            <a:pPr marL="203200" indent="-203200">
              <a:lnSpc>
                <a:spcPct val="122000"/>
              </a:lnSpc>
              <a:spcAft>
                <a:spcPts val="1300"/>
              </a:spcAft>
              <a:buSzPct val="100000"/>
              <a:buChar char="•"/>
            </a:pPr>
            <a:r>
              <a:rPr sz="1600">
                <a:solidFill>
                  <a:srgbClr val="3C4A52"/>
                </a:solidFill>
                <a:latin typeface="Arial"/>
                <a:ea typeface="Arial"/>
                <a:cs typeface="Arial"/>
              </a:rPr>
              <a:t>Prospective evaluation of CogDash before clinical use.</a:t>
            </a:r>
          </a:p>
          <a:p xmlns:a="http://schemas.openxmlformats.org/drawingml/2006/main">
            <a:pPr marL="203200" indent="-203200">
              <a:lnSpc>
                <a:spcPct val="122000"/>
              </a:lnSpc>
              <a:spcAft>
                <a:spcPts val="1300"/>
              </a:spcAft>
              <a:buSzPct val="100000"/>
              <a:buChar char="•"/>
            </a:pPr>
            <a:r>
              <a:rPr sz="1600">
                <a:solidFill>
                  <a:srgbClr val="3C4A52"/>
                </a:solidFill>
                <a:latin typeface="Arial"/>
                <a:ea typeface="Arial"/>
                <a:cs typeface="Arial"/>
              </a:rPr>
              <a:t>Continuous scores versus added value from group membership.</a:t>
            </a:r>
          </a:p>
        </p:txBody>
      </p:sp>
    </p:spTree>
    <p:extLst>
      <p:ext uri="{BB962C8B-B14F-4D97-AF65-F5344CB8AC3E}">
        <p14:creationId xmlns:p14="http://schemas.microsoft.com/office/powerpoint/2010/main" val="101341633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209DCA3-BC7A-460D-8265-AF70F62E2E9D}"/>
              </a:ext>
            </a:extLst>
          </p:cNvPr>
          <p:cNvSpPr>
            <a:spLocks xmlns:a="http://schemas.openxmlformats.org/drawingml/2006/main" noGrp="1"/>
          </p:cNvSpPr>
          <p:nvPr/>
        </p:nvSpPr>
        <p:spPr>
          <a:xfrm xmlns:a="http://schemas.openxmlformats.org/drawingml/2006/main">
            <a:off x="640080" y="420624"/>
            <a:ext cx="1091153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7C8A94"/>
                </a:solidFill>
                <a:latin typeface="Arial"/>
                <a:ea typeface="Arial"/>
                <a:cs typeface="Arial"/>
              </a:rPr>
              <a:t>APPENDIX · H</a:t>
            </a:r>
            <a:endParaRPr sz="1100"/>
          </a:p>
        </p:txBody>
      </p:sp>
      <p:sp>
        <p:nvSpPr>
          <p:cNvPr id="3" name="Text 1">
            <a:extLst xmlns:a="http://schemas.openxmlformats.org/drawingml/2006/main">
              <a:ext uri="{FF2B5EF4-FFF2-40B4-BE49-F238E27FC236}">
                <a16:creationId xmlns:a16="http://schemas.microsoft.com/office/drawing/2014/main" id="{40BF42B0-68C7-4914-9BD4-E0E91BA66685}"/>
              </a:ext>
            </a:extLst>
          </p:cNvPr>
          <p:cNvSpPr>
            <a:spLocks xmlns:a="http://schemas.openxmlformats.org/drawingml/2006/main" noGrp="1"/>
          </p:cNvSpPr>
          <p:nvPr/>
        </p:nvSpPr>
        <p:spPr>
          <a:xfrm xmlns:a="http://schemas.openxmlformats.org/drawingml/2006/main">
            <a:off x="640080" y="676656"/>
            <a:ext cx="10911535"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B2A30"/>
                </a:solidFill>
                <a:latin typeface="Arial"/>
                <a:ea typeface="Arial"/>
                <a:cs typeface="Arial"/>
              </a:rPr>
              <a:t>How to read the metrics</a:t>
            </a:r>
            <a:endParaRPr sz="2400"/>
          </a:p>
        </p:txBody>
      </p:sp>
      <p:sp>
        <p:nvSpPr>
          <p:cNvPr id="4" name="Shape 2">
            <a:extLst xmlns:a="http://schemas.openxmlformats.org/drawingml/2006/main">
              <a:ext uri="{FF2B5EF4-FFF2-40B4-BE49-F238E27FC236}">
                <a16:creationId xmlns:a16="http://schemas.microsoft.com/office/drawing/2014/main" id="{A1D56EC7-A0D9-4F18-8B4C-0CA7A7DEE321}"/>
              </a:ext>
            </a:extLst>
          </p:cNvPr>
          <p:cNvSpPr>
            <a:spLocks xmlns:a="http://schemas.openxmlformats.org/drawingml/2006/main" noGrp="1"/>
          </p:cNvSpPr>
          <p:nvPr/>
        </p:nvSpPr>
        <p:spPr>
          <a:xfrm xmlns:a="http://schemas.openxmlformats.org/drawingml/2006/main">
            <a:off x="640080" y="1298448"/>
            <a:ext cx="777240" cy="64008"/>
          </a:xfrm>
          <a:prstGeom xmlns:a="http://schemas.openxmlformats.org/drawingml/2006/main" prst="rect">
            <a:avLst/>
          </a:prstGeom>
          <a:solidFill xmlns:a="http://schemas.openxmlformats.org/drawingml/2006/main">
            <a:srgbClr val="7C8A94"/>
          </a:solidFill>
        </p:spPr>
      </p:sp>
      <p:sp>
        <p:nvSpPr>
          <p:cNvPr id="5" name="Shape 3">
            <a:extLst xmlns:a="http://schemas.openxmlformats.org/drawingml/2006/main">
              <a:ext uri="{FF2B5EF4-FFF2-40B4-BE49-F238E27FC236}">
                <a16:creationId xmlns:a16="http://schemas.microsoft.com/office/drawing/2014/main" id="{B0E75D26-7BDC-4CE1-91BD-1868A94FAFBD}"/>
              </a:ext>
            </a:extLst>
          </p:cNvPr>
          <p:cNvSpPr>
            <a:spLocks xmlns:a="http://schemas.openxmlformats.org/drawingml/2006/main" noGrp="1"/>
          </p:cNvSpPr>
          <p:nvPr/>
        </p:nvSpPr>
        <p:spPr>
          <a:xfrm xmlns:a="http://schemas.openxmlformats.org/drawingml/2006/main">
            <a:off x="640080" y="6382512"/>
            <a:ext cx="10911535" cy="0"/>
          </a:xfrm>
          <a:prstGeom xmlns:a="http://schemas.openxmlformats.org/drawingml/2006/main" prst="line">
            <a:avLst/>
          </a:prstGeom>
          <a:noFill xmlns:a="http://schemas.openxmlformats.org/drawingml/2006/main"/>
          <a:ln xmlns:a="http://schemas.openxmlformats.org/drawingml/2006/main" w="12700">
            <a:solidFill>
              <a:srgbClr val="E3E9EC"/>
            </a:solidFill>
            <a:prstDash val="solid"/>
          </a:ln>
        </p:spPr>
      </p:sp>
      <p:sp>
        <p:nvSpPr>
          <p:cNvPr id="6" name="Text 4">
            <a:extLst xmlns:a="http://schemas.openxmlformats.org/drawingml/2006/main">
              <a:ext uri="{FF2B5EF4-FFF2-40B4-BE49-F238E27FC236}">
                <a16:creationId xmlns:a16="http://schemas.microsoft.com/office/drawing/2014/main" id="{8F3B434D-C2A3-4C82-954E-1B5AC3C1E20B}"/>
              </a:ext>
            </a:extLst>
          </p:cNvPr>
          <p:cNvSpPr>
            <a:spLocks xmlns:a="http://schemas.openxmlformats.org/drawingml/2006/main" noGrp="1"/>
          </p:cNvSpPr>
          <p:nvPr/>
        </p:nvSpPr>
        <p:spPr>
          <a:xfrm xmlns:a="http://schemas.openxmlformats.org/drawingml/2006/main">
            <a:off x="640080" y="6437376"/>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8A94"/>
                </a:solidFill>
                <a:latin typeface="Arial"/>
                <a:ea typeface="Arial"/>
                <a:cs typeface="Arial"/>
              </a:rPr>
              <a:t>Zoltan Kunos  ·  Data-Driven Cognitive Phenotyping in ABI</a:t>
            </a:r>
            <a:endParaRPr sz="900"/>
          </a:p>
        </p:txBody>
      </p:sp>
      <p:sp>
        <p:nvSpPr>
          <p:cNvPr id="7" name="Text 5">
            <a:extLst xmlns:a="http://schemas.openxmlformats.org/drawingml/2006/main">
              <a:ext uri="{FF2B5EF4-FFF2-40B4-BE49-F238E27FC236}">
                <a16:creationId xmlns:a16="http://schemas.microsoft.com/office/drawing/2014/main" id="{A961C29E-9B83-4DB0-BCDE-4BB904483004}"/>
              </a:ext>
            </a:extLst>
          </p:cNvPr>
          <p:cNvSpPr>
            <a:spLocks xmlns:a="http://schemas.openxmlformats.org/drawingml/2006/main" noGrp="1"/>
          </p:cNvSpPr>
          <p:nvPr/>
        </p:nvSpPr>
        <p:spPr>
          <a:xfrm xmlns:a="http://schemas.openxmlformats.org/drawingml/2006/main">
            <a:off x="10637215" y="6437376"/>
            <a:ext cx="914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8A94"/>
                </a:solidFill>
                <a:latin typeface="Arial"/>
                <a:ea typeface="Arial"/>
                <a:cs typeface="Arial"/>
              </a:rPr>
              <a:t>32</a:t>
            </a:r>
            <a:endParaRPr sz="900"/>
          </a:p>
        </p:txBody>
      </p:sp>
      <p:sp>
        <p:nvSpPr>
          <p:cNvPr id="8" name="Shape 6">
            <a:extLst xmlns:a="http://schemas.openxmlformats.org/drawingml/2006/main">
              <a:ext uri="{FF2B5EF4-FFF2-40B4-BE49-F238E27FC236}">
                <a16:creationId xmlns:a16="http://schemas.microsoft.com/office/drawing/2014/main" id="{9C9065B1-DEC7-427A-8A1A-37B34164C939}"/>
              </a:ext>
            </a:extLst>
          </p:cNvPr>
          <p:cNvSpPr>
            <a:spLocks xmlns:a="http://schemas.openxmlformats.org/drawingml/2006/main" noGrp="1"/>
          </p:cNvSpPr>
          <p:nvPr/>
        </p:nvSpPr>
        <p:spPr>
          <a:xfrm xmlns:a="http://schemas.openxmlformats.org/drawingml/2006/main">
            <a:off x="640080" y="1554480"/>
            <a:ext cx="5227168" cy="4617720"/>
          </a:xfrm>
          <a:prstGeom xmlns:a="http://schemas.openxmlformats.org/drawingml/2006/main" prst="roundRect">
            <a:avLst>
              <a:gd name="adj" fmla="val 1584"/>
            </a:avLst>
          </a:prstGeom>
          <a:solidFill xmlns:a="http://schemas.openxmlformats.org/drawingml/2006/main">
            <a:srgbClr val="F5F8F9"/>
          </a:solidFill>
          <a:ln xmlns:a="http://schemas.openxmlformats.org/drawingml/2006/main" w="12700">
            <a:solidFill>
              <a:srgbClr val="E3E9EC"/>
            </a:solidFill>
            <a:prstDash val="solid"/>
          </a:ln>
        </p:spPr>
      </p:sp>
      <p:sp>
        <p:nvSpPr>
          <p:cNvPr id="9" name="Shape 7">
            <a:extLst xmlns:a="http://schemas.openxmlformats.org/drawingml/2006/main">
              <a:ext uri="{FF2B5EF4-FFF2-40B4-BE49-F238E27FC236}">
                <a16:creationId xmlns:a16="http://schemas.microsoft.com/office/drawing/2014/main" id="{E785D368-C579-4E29-B3FC-A39C5A6C7DD3}"/>
              </a:ext>
            </a:extLst>
          </p:cNvPr>
          <p:cNvSpPr>
            <a:spLocks xmlns:a="http://schemas.openxmlformats.org/drawingml/2006/main" noGrp="1"/>
          </p:cNvSpPr>
          <p:nvPr/>
        </p:nvSpPr>
        <p:spPr>
          <a:xfrm xmlns:a="http://schemas.openxmlformats.org/drawingml/2006/main">
            <a:off x="640080" y="1554480"/>
            <a:ext cx="5227168" cy="109728"/>
          </a:xfrm>
          <a:prstGeom xmlns:a="http://schemas.openxmlformats.org/drawingml/2006/main" prst="rect">
            <a:avLst/>
          </a:prstGeom>
          <a:solidFill xmlns:a="http://schemas.openxmlformats.org/drawingml/2006/main">
            <a:srgbClr val="11707A"/>
          </a:solidFill>
        </p:spPr>
      </p:sp>
      <p:sp>
        <p:nvSpPr>
          <p:cNvPr id="10" name="Text 8">
            <a:extLst xmlns:a="http://schemas.openxmlformats.org/drawingml/2006/main">
              <a:ext uri="{FF2B5EF4-FFF2-40B4-BE49-F238E27FC236}">
                <a16:creationId xmlns:a16="http://schemas.microsoft.com/office/drawing/2014/main" id="{EC800506-91DB-443D-BBFC-E49BE125A6F6}"/>
              </a:ext>
            </a:extLst>
          </p:cNvPr>
          <p:cNvSpPr>
            <a:spLocks xmlns:a="http://schemas.openxmlformats.org/drawingml/2006/main" noGrp="1"/>
          </p:cNvSpPr>
          <p:nvPr/>
        </p:nvSpPr>
        <p:spPr>
          <a:xfrm xmlns:a="http://schemas.openxmlformats.org/drawingml/2006/main">
            <a:off x="914400" y="1755648"/>
            <a:ext cx="4678528"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1707A"/>
                </a:solidFill>
                <a:latin typeface="Arial"/>
                <a:ea typeface="Arial"/>
                <a:cs typeface="Arial"/>
              </a:rPr>
              <a:t>Clustering quality &amp; robustness</a:t>
            </a:r>
            <a:endParaRPr sz="1300"/>
          </a:p>
        </p:txBody>
      </p:sp>
      <p:sp>
        <p:nvSpPr>
          <p:cNvPr id="11" name="Text 9">
            <a:extLst xmlns:a="http://schemas.openxmlformats.org/drawingml/2006/main">
              <a:ext uri="{FF2B5EF4-FFF2-40B4-BE49-F238E27FC236}">
                <a16:creationId xmlns:a16="http://schemas.microsoft.com/office/drawing/2014/main" id="{554303A5-3D3A-4330-B0B2-B4785B47153F}"/>
              </a:ext>
            </a:extLst>
          </p:cNvPr>
          <p:cNvSpPr>
            <a:spLocks xmlns:a="http://schemas.openxmlformats.org/drawingml/2006/main" noGrp="1"/>
          </p:cNvSpPr>
          <p:nvPr/>
        </p:nvSpPr>
        <p:spPr>
          <a:xfrm xmlns:a="http://schemas.openxmlformats.org/drawingml/2006/main">
            <a:off x="914400" y="2194560"/>
            <a:ext cx="467852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B2A30"/>
                </a:solidFill>
                <a:latin typeface="Arial"/>
                <a:ea typeface="Arial"/>
                <a:cs typeface="Arial"/>
              </a:rPr>
              <a:t>Silhouette</a:t>
            </a:r>
            <a:endParaRPr sz="1350"/>
          </a:p>
        </p:txBody>
      </p:sp>
      <p:sp>
        <p:nvSpPr>
          <p:cNvPr id="12" name="Text 10">
            <a:extLst xmlns:a="http://schemas.openxmlformats.org/drawingml/2006/main">
              <a:ext uri="{FF2B5EF4-FFF2-40B4-BE49-F238E27FC236}">
                <a16:creationId xmlns:a16="http://schemas.microsoft.com/office/drawing/2014/main" id="{EB166219-95D9-4BB9-B1FA-75637C5DF438}"/>
              </a:ext>
            </a:extLst>
          </p:cNvPr>
          <p:cNvSpPr>
            <a:spLocks xmlns:a="http://schemas.openxmlformats.org/drawingml/2006/main" noGrp="1"/>
          </p:cNvSpPr>
          <p:nvPr/>
        </p:nvSpPr>
        <p:spPr>
          <a:xfrm xmlns:a="http://schemas.openxmlformats.org/drawingml/2006/main">
            <a:off x="914400" y="2478024"/>
            <a:ext cx="4678528" cy="42062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100">
                <a:solidFill>
                  <a:srgbClr val="3C4A52"/>
                </a:solidFill>
                <a:latin typeface="Arial"/>
                <a:ea typeface="Arial"/>
                <a:cs typeface="Arial"/>
              </a:rPr>
              <a:t>Cohesion vs. separation — how well a point fits its own tier vs. the nearest other.</a:t>
            </a:r>
            <a:endParaRPr sz="1100"/>
          </a:p>
        </p:txBody>
      </p:sp>
      <p:sp>
        <p:nvSpPr>
          <p:cNvPr id="13" name="Text 11">
            <a:extLst xmlns:a="http://schemas.openxmlformats.org/drawingml/2006/main">
              <a:ext uri="{FF2B5EF4-FFF2-40B4-BE49-F238E27FC236}">
                <a16:creationId xmlns:a16="http://schemas.microsoft.com/office/drawing/2014/main" id="{90EB372C-838A-4BC8-B783-2B18183D87F6}"/>
              </a:ext>
            </a:extLst>
          </p:cNvPr>
          <p:cNvSpPr>
            <a:spLocks xmlns:a="http://schemas.openxmlformats.org/drawingml/2006/main" noGrp="1"/>
          </p:cNvSpPr>
          <p:nvPr/>
        </p:nvSpPr>
        <p:spPr>
          <a:xfrm xmlns:a="http://schemas.openxmlformats.org/drawingml/2006/main">
            <a:off x="914400" y="2898648"/>
            <a:ext cx="4678528"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1707A"/>
                </a:solidFill>
                <a:latin typeface="Arial"/>
                <a:ea typeface="Arial"/>
                <a:cs typeface="Arial"/>
              </a:rPr>
              <a:t>−1 to 1 · criterion ≥ 0.40 · selected embedding ≈ 0.53</a:t>
            </a:r>
            <a:endParaRPr sz="1100"/>
          </a:p>
        </p:txBody>
      </p:sp>
      <p:sp>
        <p:nvSpPr>
          <p:cNvPr id="14" name="Text 12">
            <a:extLst xmlns:a="http://schemas.openxmlformats.org/drawingml/2006/main">
              <a:ext uri="{FF2B5EF4-FFF2-40B4-BE49-F238E27FC236}">
                <a16:creationId xmlns:a16="http://schemas.microsoft.com/office/drawing/2014/main" id="{114EE8F9-7E67-474E-8251-8A31A5286F93}"/>
              </a:ext>
            </a:extLst>
          </p:cNvPr>
          <p:cNvSpPr>
            <a:spLocks xmlns:a="http://schemas.openxmlformats.org/drawingml/2006/main" noGrp="1"/>
          </p:cNvSpPr>
          <p:nvPr/>
        </p:nvSpPr>
        <p:spPr>
          <a:xfrm xmlns:a="http://schemas.openxmlformats.org/drawingml/2006/main">
            <a:off x="914400" y="3182112"/>
            <a:ext cx="467852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B2A30"/>
                </a:solidFill>
                <a:latin typeface="Arial"/>
                <a:ea typeface="Arial"/>
                <a:cs typeface="Arial"/>
              </a:rPr>
              <a:t>Adjusted Rand Index (ARI)</a:t>
            </a:r>
            <a:endParaRPr sz="1350"/>
          </a:p>
        </p:txBody>
      </p:sp>
      <p:sp>
        <p:nvSpPr>
          <p:cNvPr id="15" name="Text 13">
            <a:extLst xmlns:a="http://schemas.openxmlformats.org/drawingml/2006/main">
              <a:ext uri="{FF2B5EF4-FFF2-40B4-BE49-F238E27FC236}">
                <a16:creationId xmlns:a16="http://schemas.microsoft.com/office/drawing/2014/main" id="{A38DD40D-C8D8-4923-82BB-52B4207167BB}"/>
              </a:ext>
            </a:extLst>
          </p:cNvPr>
          <p:cNvSpPr>
            <a:spLocks xmlns:a="http://schemas.openxmlformats.org/drawingml/2006/main" noGrp="1"/>
          </p:cNvSpPr>
          <p:nvPr/>
        </p:nvSpPr>
        <p:spPr>
          <a:xfrm xmlns:a="http://schemas.openxmlformats.org/drawingml/2006/main">
            <a:off x="914400" y="3465576"/>
            <a:ext cx="4678528" cy="42062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100">
                <a:solidFill>
                  <a:srgbClr val="3C4A52"/>
                </a:solidFill>
                <a:latin typeface="Arial"/>
                <a:ea typeface="Arial"/>
                <a:cs typeface="Arial"/>
              </a:rPr>
              <a:t>Agreement between two partitions, corrected for chance.</a:t>
            </a:r>
            <a:endParaRPr sz="1100"/>
          </a:p>
        </p:txBody>
      </p:sp>
      <p:sp>
        <p:nvSpPr>
          <p:cNvPr id="16" name="Text 14">
            <a:extLst xmlns:a="http://schemas.openxmlformats.org/drawingml/2006/main">
              <a:ext uri="{FF2B5EF4-FFF2-40B4-BE49-F238E27FC236}">
                <a16:creationId xmlns:a16="http://schemas.microsoft.com/office/drawing/2014/main" id="{99E3488F-24D1-4912-8ADE-4EC57FBC2013}"/>
              </a:ext>
            </a:extLst>
          </p:cNvPr>
          <p:cNvSpPr>
            <a:spLocks xmlns:a="http://schemas.openxmlformats.org/drawingml/2006/main" noGrp="1"/>
          </p:cNvSpPr>
          <p:nvPr/>
        </p:nvSpPr>
        <p:spPr>
          <a:xfrm xmlns:a="http://schemas.openxmlformats.org/drawingml/2006/main">
            <a:off x="914400" y="3886200"/>
            <a:ext cx="4678528"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1707A"/>
                </a:solidFill>
                <a:latin typeface="Arial"/>
                <a:ea typeface="Arial"/>
                <a:cs typeface="Arial"/>
              </a:rPr>
              <a:t>0 = chance, 1 = identical · median criterion &gt; 0.50</a:t>
            </a:r>
            <a:endParaRPr sz="1100"/>
          </a:p>
        </p:txBody>
      </p:sp>
      <p:sp>
        <p:nvSpPr>
          <p:cNvPr id="17" name="Text 15">
            <a:extLst xmlns:a="http://schemas.openxmlformats.org/drawingml/2006/main">
              <a:ext uri="{FF2B5EF4-FFF2-40B4-BE49-F238E27FC236}">
                <a16:creationId xmlns:a16="http://schemas.microsoft.com/office/drawing/2014/main" id="{4FA95DD3-A375-499C-B209-07235ABC8A52}"/>
              </a:ext>
            </a:extLst>
          </p:cNvPr>
          <p:cNvSpPr>
            <a:spLocks xmlns:a="http://schemas.openxmlformats.org/drawingml/2006/main" noGrp="1"/>
          </p:cNvSpPr>
          <p:nvPr/>
        </p:nvSpPr>
        <p:spPr>
          <a:xfrm xmlns:a="http://schemas.openxmlformats.org/drawingml/2006/main">
            <a:off x="914400" y="4169664"/>
            <a:ext cx="467852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B2A30"/>
                </a:solidFill>
                <a:latin typeface="Arial"/>
                <a:ea typeface="Arial"/>
                <a:cs typeface="Arial"/>
              </a:rPr>
              <a:t>Normalised Mutual Information</a:t>
            </a:r>
            <a:endParaRPr sz="1350"/>
          </a:p>
        </p:txBody>
      </p:sp>
      <p:sp>
        <p:nvSpPr>
          <p:cNvPr id="18" name="Text 16">
            <a:extLst xmlns:a="http://schemas.openxmlformats.org/drawingml/2006/main">
              <a:ext uri="{FF2B5EF4-FFF2-40B4-BE49-F238E27FC236}">
                <a16:creationId xmlns:a16="http://schemas.microsoft.com/office/drawing/2014/main" id="{ED713082-32C1-44A7-A72C-D8A67A01C628}"/>
              </a:ext>
            </a:extLst>
          </p:cNvPr>
          <p:cNvSpPr>
            <a:spLocks xmlns:a="http://schemas.openxmlformats.org/drawingml/2006/main" noGrp="1"/>
          </p:cNvSpPr>
          <p:nvPr/>
        </p:nvSpPr>
        <p:spPr>
          <a:xfrm xmlns:a="http://schemas.openxmlformats.org/drawingml/2006/main">
            <a:off x="914400" y="4453128"/>
            <a:ext cx="4678528" cy="42062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100">
                <a:solidFill>
                  <a:srgbClr val="3C4A52"/>
                </a:solidFill>
                <a:latin typeface="Arial"/>
                <a:ea typeface="Arial"/>
                <a:cs typeface="Arial"/>
              </a:rPr>
              <a:t>Shared information between two partitions, scaled 0–1.</a:t>
            </a:r>
            <a:endParaRPr sz="1100"/>
          </a:p>
        </p:txBody>
      </p:sp>
      <p:sp>
        <p:nvSpPr>
          <p:cNvPr id="19" name="Text 17">
            <a:extLst xmlns:a="http://schemas.openxmlformats.org/drawingml/2006/main">
              <a:ext uri="{FF2B5EF4-FFF2-40B4-BE49-F238E27FC236}">
                <a16:creationId xmlns:a16="http://schemas.microsoft.com/office/drawing/2014/main" id="{2019DD87-2C1A-4842-B7DF-64F0C017FF29}"/>
              </a:ext>
            </a:extLst>
          </p:cNvPr>
          <p:cNvSpPr>
            <a:spLocks xmlns:a="http://schemas.openxmlformats.org/drawingml/2006/main" noGrp="1"/>
          </p:cNvSpPr>
          <p:nvPr/>
        </p:nvSpPr>
        <p:spPr>
          <a:xfrm xmlns:a="http://schemas.openxmlformats.org/drawingml/2006/main">
            <a:off x="914400" y="4873752"/>
            <a:ext cx="4678528"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1707A"/>
                </a:solidFill>
                <a:latin typeface="Arial"/>
                <a:ea typeface="Arial"/>
                <a:cs typeface="Arial"/>
              </a:rPr>
              <a:t>0 = independent, 1 = identical · corroborates ARI</a:t>
            </a:r>
            <a:endParaRPr sz="1100"/>
          </a:p>
        </p:txBody>
      </p:sp>
      <p:sp>
        <p:nvSpPr>
          <p:cNvPr id="20" name="Text 18">
            <a:extLst xmlns:a="http://schemas.openxmlformats.org/drawingml/2006/main">
              <a:ext uri="{FF2B5EF4-FFF2-40B4-BE49-F238E27FC236}">
                <a16:creationId xmlns:a16="http://schemas.microsoft.com/office/drawing/2014/main" id="{92859807-9418-4B89-ACAF-714DB880E70D}"/>
              </a:ext>
            </a:extLst>
          </p:cNvPr>
          <p:cNvSpPr>
            <a:spLocks xmlns:a="http://schemas.openxmlformats.org/drawingml/2006/main" noGrp="1"/>
          </p:cNvSpPr>
          <p:nvPr/>
        </p:nvSpPr>
        <p:spPr>
          <a:xfrm xmlns:a="http://schemas.openxmlformats.org/drawingml/2006/main">
            <a:off x="914400" y="5157216"/>
            <a:ext cx="467852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B2A30"/>
                </a:solidFill>
                <a:latin typeface="Arial"/>
                <a:ea typeface="Arial"/>
                <a:cs typeface="Arial"/>
              </a:rPr>
              <a:t>Consensus agreement</a:t>
            </a:r>
            <a:endParaRPr sz="1350"/>
          </a:p>
        </p:txBody>
      </p:sp>
      <p:sp>
        <p:nvSpPr>
          <p:cNvPr id="21" name="Text 19">
            <a:extLst xmlns:a="http://schemas.openxmlformats.org/drawingml/2006/main">
              <a:ext uri="{FF2B5EF4-FFF2-40B4-BE49-F238E27FC236}">
                <a16:creationId xmlns:a16="http://schemas.microsoft.com/office/drawing/2014/main" id="{9F4BAF42-2198-4E24-9E34-25F02C3252C7}"/>
              </a:ext>
            </a:extLst>
          </p:cNvPr>
          <p:cNvSpPr>
            <a:spLocks xmlns:a="http://schemas.openxmlformats.org/drawingml/2006/main" noGrp="1"/>
          </p:cNvSpPr>
          <p:nvPr/>
        </p:nvSpPr>
        <p:spPr>
          <a:xfrm xmlns:a="http://schemas.openxmlformats.org/drawingml/2006/main">
            <a:off x="914400" y="5440680"/>
            <a:ext cx="4678528" cy="42062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100">
                <a:solidFill>
                  <a:srgbClr val="3C4A52"/>
                </a:solidFill>
                <a:latin typeface="Arial"/>
                <a:ea typeface="Arial"/>
                <a:cs typeface="Arial"/>
              </a:rPr>
              <a:t>For each assessment, the fraction of methods assigning its modal label.</a:t>
            </a:r>
            <a:endParaRPr sz="1100"/>
          </a:p>
        </p:txBody>
      </p:sp>
      <p:sp>
        <p:nvSpPr>
          <p:cNvPr id="22" name="Text 20">
            <a:extLst xmlns:a="http://schemas.openxmlformats.org/drawingml/2006/main">
              <a:ext uri="{FF2B5EF4-FFF2-40B4-BE49-F238E27FC236}">
                <a16:creationId xmlns:a16="http://schemas.microsoft.com/office/drawing/2014/main" id="{2288692F-339E-4D61-ADDD-3EB933267A7D}"/>
              </a:ext>
            </a:extLst>
          </p:cNvPr>
          <p:cNvSpPr>
            <a:spLocks xmlns:a="http://schemas.openxmlformats.org/drawingml/2006/main" noGrp="1"/>
          </p:cNvSpPr>
          <p:nvPr/>
        </p:nvSpPr>
        <p:spPr>
          <a:xfrm xmlns:a="http://schemas.openxmlformats.org/drawingml/2006/main">
            <a:off x="914400" y="5861304"/>
            <a:ext cx="4678528"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1707A"/>
                </a:solidFill>
                <a:latin typeface="Arial"/>
                <a:ea typeface="Arial"/>
                <a:cs typeface="Arial"/>
              </a:rPr>
              <a:t>86.2% of assessments have agreement ≥ 80%</a:t>
            </a:r>
            <a:endParaRPr sz="1100"/>
          </a:p>
        </p:txBody>
      </p:sp>
      <p:sp>
        <p:nvSpPr>
          <p:cNvPr id="23" name="Shape 21">
            <a:extLst xmlns:a="http://schemas.openxmlformats.org/drawingml/2006/main">
              <a:ext uri="{FF2B5EF4-FFF2-40B4-BE49-F238E27FC236}">
                <a16:creationId xmlns:a16="http://schemas.microsoft.com/office/drawing/2014/main" id="{41B76873-91AC-46B2-830A-249949394490}"/>
              </a:ext>
            </a:extLst>
          </p:cNvPr>
          <p:cNvSpPr>
            <a:spLocks xmlns:a="http://schemas.openxmlformats.org/drawingml/2006/main" noGrp="1"/>
          </p:cNvSpPr>
          <p:nvPr/>
        </p:nvSpPr>
        <p:spPr>
          <a:xfrm xmlns:a="http://schemas.openxmlformats.org/drawingml/2006/main">
            <a:off x="6324448" y="1554480"/>
            <a:ext cx="5227168" cy="4617720"/>
          </a:xfrm>
          <a:prstGeom xmlns:a="http://schemas.openxmlformats.org/drawingml/2006/main" prst="roundRect">
            <a:avLst>
              <a:gd name="adj" fmla="val 1584"/>
            </a:avLst>
          </a:prstGeom>
          <a:solidFill xmlns:a="http://schemas.openxmlformats.org/drawingml/2006/main">
            <a:srgbClr val="F5F8F9"/>
          </a:solidFill>
          <a:ln xmlns:a="http://schemas.openxmlformats.org/drawingml/2006/main" w="12700">
            <a:solidFill>
              <a:srgbClr val="E3E9EC"/>
            </a:solidFill>
            <a:prstDash val="solid"/>
          </a:ln>
        </p:spPr>
      </p:sp>
      <p:sp>
        <p:nvSpPr>
          <p:cNvPr id="24" name="Shape 22">
            <a:extLst xmlns:a="http://schemas.openxmlformats.org/drawingml/2006/main">
              <a:ext uri="{FF2B5EF4-FFF2-40B4-BE49-F238E27FC236}">
                <a16:creationId xmlns:a16="http://schemas.microsoft.com/office/drawing/2014/main" id="{23893DB9-1D3C-4018-A4D5-722620218B0E}"/>
              </a:ext>
            </a:extLst>
          </p:cNvPr>
          <p:cNvSpPr>
            <a:spLocks xmlns:a="http://schemas.openxmlformats.org/drawingml/2006/main" noGrp="1"/>
          </p:cNvSpPr>
          <p:nvPr/>
        </p:nvSpPr>
        <p:spPr>
          <a:xfrm xmlns:a="http://schemas.openxmlformats.org/drawingml/2006/main">
            <a:off x="6324448" y="1554480"/>
            <a:ext cx="5227168" cy="109728"/>
          </a:xfrm>
          <a:prstGeom xmlns:a="http://schemas.openxmlformats.org/drawingml/2006/main" prst="rect">
            <a:avLst/>
          </a:prstGeom>
          <a:solidFill xmlns:a="http://schemas.openxmlformats.org/drawingml/2006/main">
            <a:srgbClr val="2E8B7F"/>
          </a:solidFill>
        </p:spPr>
      </p:sp>
      <p:sp>
        <p:nvSpPr>
          <p:cNvPr id="25" name="Text 23">
            <a:extLst xmlns:a="http://schemas.openxmlformats.org/drawingml/2006/main">
              <a:ext uri="{FF2B5EF4-FFF2-40B4-BE49-F238E27FC236}">
                <a16:creationId xmlns:a16="http://schemas.microsoft.com/office/drawing/2014/main" id="{AE55DE8A-6215-429E-A29C-17F15207B875}"/>
              </a:ext>
            </a:extLst>
          </p:cNvPr>
          <p:cNvSpPr>
            <a:spLocks xmlns:a="http://schemas.openxmlformats.org/drawingml/2006/main" noGrp="1"/>
          </p:cNvSpPr>
          <p:nvPr/>
        </p:nvSpPr>
        <p:spPr>
          <a:xfrm xmlns:a="http://schemas.openxmlformats.org/drawingml/2006/main">
            <a:off x="6598768" y="1755648"/>
            <a:ext cx="4678528"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2E8B7F"/>
                </a:solidFill>
                <a:latin typeface="Arial"/>
                <a:ea typeface="Arial"/>
                <a:cs typeface="Arial"/>
              </a:rPr>
              <a:t>Association &amp; conditioning</a:t>
            </a:r>
            <a:endParaRPr sz="1300"/>
          </a:p>
        </p:txBody>
      </p:sp>
      <p:sp>
        <p:nvSpPr>
          <p:cNvPr id="26" name="Text 24">
            <a:extLst xmlns:a="http://schemas.openxmlformats.org/drawingml/2006/main">
              <a:ext uri="{FF2B5EF4-FFF2-40B4-BE49-F238E27FC236}">
                <a16:creationId xmlns:a16="http://schemas.microsoft.com/office/drawing/2014/main" id="{F26B09E0-BCB7-4046-AEC0-FA1A1A297FD2}"/>
              </a:ext>
            </a:extLst>
          </p:cNvPr>
          <p:cNvSpPr>
            <a:spLocks xmlns:a="http://schemas.openxmlformats.org/drawingml/2006/main" noGrp="1"/>
          </p:cNvSpPr>
          <p:nvPr/>
        </p:nvSpPr>
        <p:spPr>
          <a:xfrm xmlns:a="http://schemas.openxmlformats.org/drawingml/2006/main">
            <a:off x="6598768" y="2194560"/>
            <a:ext cx="467852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B2A30"/>
                </a:solidFill>
                <a:latin typeface="Arial"/>
                <a:ea typeface="Arial"/>
                <a:cs typeface="Arial"/>
              </a:rPr>
              <a:t>χ² statistic</a:t>
            </a:r>
            <a:endParaRPr sz="1350"/>
          </a:p>
        </p:txBody>
      </p:sp>
      <p:sp>
        <p:nvSpPr>
          <p:cNvPr id="27" name="Text 25">
            <a:extLst xmlns:a="http://schemas.openxmlformats.org/drawingml/2006/main">
              <a:ext uri="{FF2B5EF4-FFF2-40B4-BE49-F238E27FC236}">
                <a16:creationId xmlns:a16="http://schemas.microsoft.com/office/drawing/2014/main" id="{30FC5DD0-80A2-419C-A22B-40B8351339B9}"/>
              </a:ext>
            </a:extLst>
          </p:cNvPr>
          <p:cNvSpPr>
            <a:spLocks xmlns:a="http://schemas.openxmlformats.org/drawingml/2006/main" noGrp="1"/>
          </p:cNvSpPr>
          <p:nvPr/>
        </p:nvSpPr>
        <p:spPr>
          <a:xfrm xmlns:a="http://schemas.openxmlformats.org/drawingml/2006/main">
            <a:off x="6598768" y="2478024"/>
            <a:ext cx="4678528" cy="42062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100">
                <a:solidFill>
                  <a:srgbClr val="3C4A52"/>
                </a:solidFill>
                <a:latin typeface="Arial"/>
                <a:ea typeface="Arial"/>
                <a:cs typeface="Arial"/>
              </a:rPr>
              <a:t>Evidence that tier and clinical unit are associated — significance, not effect size; grows with N.</a:t>
            </a:r>
            <a:endParaRPr sz="1100"/>
          </a:p>
        </p:txBody>
      </p:sp>
      <p:sp>
        <p:nvSpPr>
          <p:cNvPr id="28" name="Text 26">
            <a:extLst xmlns:a="http://schemas.openxmlformats.org/drawingml/2006/main">
              <a:ext uri="{FF2B5EF4-FFF2-40B4-BE49-F238E27FC236}">
                <a16:creationId xmlns:a16="http://schemas.microsoft.com/office/drawing/2014/main" id="{36997A9A-2EAA-4293-B5D9-09EF2690DAA2}"/>
              </a:ext>
            </a:extLst>
          </p:cNvPr>
          <p:cNvSpPr>
            <a:spLocks xmlns:a="http://schemas.openxmlformats.org/drawingml/2006/main" noGrp="1"/>
          </p:cNvSpPr>
          <p:nvPr/>
        </p:nvSpPr>
        <p:spPr>
          <a:xfrm xmlns:a="http://schemas.openxmlformats.org/drawingml/2006/main">
            <a:off x="6598768" y="2898648"/>
            <a:ext cx="4678528"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B2A30"/>
                </a:solidFill>
                <a:latin typeface="Arial"/>
                <a:ea typeface="Arial"/>
                <a:cs typeface="Arial"/>
              </a:rPr>
              <a:t>χ² = 911 · p &lt; 10⁻¹⁵⁶</a:t>
            </a:r>
            <a:endParaRPr sz="1100"/>
          </a:p>
        </p:txBody>
      </p:sp>
      <p:sp>
        <p:nvSpPr>
          <p:cNvPr id="29" name="Text 27">
            <a:extLst xmlns:a="http://schemas.openxmlformats.org/drawingml/2006/main">
              <a:ext uri="{FF2B5EF4-FFF2-40B4-BE49-F238E27FC236}">
                <a16:creationId xmlns:a16="http://schemas.microsoft.com/office/drawing/2014/main" id="{0D228FFB-66AE-4F0A-A2E4-053163BA7602}"/>
              </a:ext>
            </a:extLst>
          </p:cNvPr>
          <p:cNvSpPr>
            <a:spLocks xmlns:a="http://schemas.openxmlformats.org/drawingml/2006/main" noGrp="1"/>
          </p:cNvSpPr>
          <p:nvPr/>
        </p:nvSpPr>
        <p:spPr>
          <a:xfrm xmlns:a="http://schemas.openxmlformats.org/drawingml/2006/main">
            <a:off x="6598768" y="3182112"/>
            <a:ext cx="467852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B2A30"/>
                </a:solidFill>
                <a:latin typeface="Arial"/>
                <a:ea typeface="Arial"/>
                <a:cs typeface="Arial"/>
              </a:rPr>
              <a:t>Cramér's V</a:t>
            </a:r>
            <a:endParaRPr sz="1350"/>
          </a:p>
        </p:txBody>
      </p:sp>
      <p:sp>
        <p:nvSpPr>
          <p:cNvPr id="30" name="Text 28">
            <a:extLst xmlns:a="http://schemas.openxmlformats.org/drawingml/2006/main">
              <a:ext uri="{FF2B5EF4-FFF2-40B4-BE49-F238E27FC236}">
                <a16:creationId xmlns:a16="http://schemas.microsoft.com/office/drawing/2014/main" id="{F9136A4A-3A1C-446E-8DD9-E282BC867844}"/>
              </a:ext>
            </a:extLst>
          </p:cNvPr>
          <p:cNvSpPr>
            <a:spLocks xmlns:a="http://schemas.openxmlformats.org/drawingml/2006/main" noGrp="1"/>
          </p:cNvSpPr>
          <p:nvPr/>
        </p:nvSpPr>
        <p:spPr>
          <a:xfrm xmlns:a="http://schemas.openxmlformats.org/drawingml/2006/main">
            <a:off x="6598768" y="3465576"/>
            <a:ext cx="4678528" cy="42062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100">
                <a:solidFill>
                  <a:srgbClr val="3C4A52"/>
                </a:solidFill>
                <a:latin typeface="Arial"/>
                <a:ea typeface="Arial"/>
                <a:cs typeface="Arial"/>
              </a:rPr>
              <a:t>Effect size of that association, scaled 0–1.</a:t>
            </a:r>
            <a:endParaRPr sz="1100"/>
          </a:p>
        </p:txBody>
      </p:sp>
      <p:sp>
        <p:nvSpPr>
          <p:cNvPr id="31" name="Text 29">
            <a:extLst xmlns:a="http://schemas.openxmlformats.org/drawingml/2006/main">
              <a:ext uri="{FF2B5EF4-FFF2-40B4-BE49-F238E27FC236}">
                <a16:creationId xmlns:a16="http://schemas.microsoft.com/office/drawing/2014/main" id="{C7AA265E-0275-4C7C-ACC8-B68C8B75045C}"/>
              </a:ext>
            </a:extLst>
          </p:cNvPr>
          <p:cNvSpPr>
            <a:spLocks xmlns:a="http://schemas.openxmlformats.org/drawingml/2006/main" noGrp="1"/>
          </p:cNvSpPr>
          <p:nvPr/>
        </p:nvSpPr>
        <p:spPr>
          <a:xfrm xmlns:a="http://schemas.openxmlformats.org/drawingml/2006/main">
            <a:off x="6598768" y="3886200"/>
            <a:ext cx="4678528"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B2A30"/>
                </a:solidFill>
                <a:latin typeface="Arial"/>
                <a:ea typeface="Arial"/>
                <a:cs typeface="Arial"/>
              </a:rPr>
              <a:t>Interpret with table dimensions · observed 0.162</a:t>
            </a:r>
            <a:endParaRPr sz="1100"/>
          </a:p>
        </p:txBody>
      </p:sp>
      <p:sp>
        <p:nvSpPr>
          <p:cNvPr id="32" name="Text 30">
            <a:extLst xmlns:a="http://schemas.openxmlformats.org/drawingml/2006/main">
              <a:ext uri="{FF2B5EF4-FFF2-40B4-BE49-F238E27FC236}">
                <a16:creationId xmlns:a16="http://schemas.microsoft.com/office/drawing/2014/main" id="{0868002B-5C0B-4C56-B1AE-965B59739097}"/>
              </a:ext>
            </a:extLst>
          </p:cNvPr>
          <p:cNvSpPr>
            <a:spLocks xmlns:a="http://schemas.openxmlformats.org/drawingml/2006/main" noGrp="1"/>
          </p:cNvSpPr>
          <p:nvPr/>
        </p:nvSpPr>
        <p:spPr>
          <a:xfrm xmlns:a="http://schemas.openxmlformats.org/drawingml/2006/main">
            <a:off x="6598768" y="4169664"/>
            <a:ext cx="467852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B2A30"/>
                </a:solidFill>
                <a:latin typeface="Arial"/>
                <a:ea typeface="Arial"/>
                <a:cs typeface="Arial"/>
              </a:rPr>
              <a:t>VIF (variance inflation factor)</a:t>
            </a:r>
            <a:endParaRPr sz="1350"/>
          </a:p>
        </p:txBody>
      </p:sp>
      <p:sp>
        <p:nvSpPr>
          <p:cNvPr id="33" name="Text 31">
            <a:extLst xmlns:a="http://schemas.openxmlformats.org/drawingml/2006/main">
              <a:ext uri="{FF2B5EF4-FFF2-40B4-BE49-F238E27FC236}">
                <a16:creationId xmlns:a16="http://schemas.microsoft.com/office/drawing/2014/main" id="{B2AD0152-F5F0-4697-9BB0-1C03A882D0EF}"/>
              </a:ext>
            </a:extLst>
          </p:cNvPr>
          <p:cNvSpPr>
            <a:spLocks xmlns:a="http://schemas.openxmlformats.org/drawingml/2006/main" noGrp="1"/>
          </p:cNvSpPr>
          <p:nvPr/>
        </p:nvSpPr>
        <p:spPr>
          <a:xfrm xmlns:a="http://schemas.openxmlformats.org/drawingml/2006/main">
            <a:off x="6598768" y="4453128"/>
            <a:ext cx="4678528" cy="42062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100">
                <a:solidFill>
                  <a:srgbClr val="3C4A52"/>
                </a:solidFill>
                <a:latin typeface="Arial"/>
                <a:ea typeface="Arial"/>
                <a:cs typeface="Arial"/>
              </a:rPr>
              <a:t>Per-feature redundancy from collinearity.</a:t>
            </a:r>
            <a:endParaRPr sz="1100"/>
          </a:p>
        </p:txBody>
      </p:sp>
      <p:sp>
        <p:nvSpPr>
          <p:cNvPr id="34" name="Text 32">
            <a:extLst xmlns:a="http://schemas.openxmlformats.org/drawingml/2006/main">
              <a:ext uri="{FF2B5EF4-FFF2-40B4-BE49-F238E27FC236}">
                <a16:creationId xmlns:a16="http://schemas.microsoft.com/office/drawing/2014/main" id="{1E770D08-1A0B-416A-860C-755298A650D0}"/>
              </a:ext>
            </a:extLst>
          </p:cNvPr>
          <p:cNvSpPr>
            <a:spLocks xmlns:a="http://schemas.openxmlformats.org/drawingml/2006/main" noGrp="1"/>
          </p:cNvSpPr>
          <p:nvPr/>
        </p:nvSpPr>
        <p:spPr>
          <a:xfrm xmlns:a="http://schemas.openxmlformats.org/drawingml/2006/main">
            <a:off x="6598768" y="4873752"/>
            <a:ext cx="4678528"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B2A30"/>
                </a:solidFill>
                <a:latin typeface="Arial"/>
                <a:ea typeface="Arial"/>
                <a:cs typeface="Arial"/>
              </a:rPr>
              <a:t>1 = none; &gt; 5–10 concerning · 2.77 → 1.88</a:t>
            </a:r>
            <a:endParaRPr sz="1100"/>
          </a:p>
        </p:txBody>
      </p:sp>
      <p:sp>
        <p:nvSpPr>
          <p:cNvPr id="35" name="Text 33">
            <a:extLst xmlns:a="http://schemas.openxmlformats.org/drawingml/2006/main">
              <a:ext uri="{FF2B5EF4-FFF2-40B4-BE49-F238E27FC236}">
                <a16:creationId xmlns:a16="http://schemas.microsoft.com/office/drawing/2014/main" id="{FD68778D-CC99-40CD-AD50-EF4CCE83FECD}"/>
              </a:ext>
            </a:extLst>
          </p:cNvPr>
          <p:cNvSpPr>
            <a:spLocks xmlns:a="http://schemas.openxmlformats.org/drawingml/2006/main" noGrp="1"/>
          </p:cNvSpPr>
          <p:nvPr/>
        </p:nvSpPr>
        <p:spPr>
          <a:xfrm xmlns:a="http://schemas.openxmlformats.org/drawingml/2006/main">
            <a:off x="6598768" y="5157216"/>
            <a:ext cx="467852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B2A30"/>
                </a:solidFill>
                <a:latin typeface="Arial"/>
                <a:ea typeface="Arial"/>
                <a:cs typeface="Arial"/>
              </a:rPr>
              <a:t>Condition number</a:t>
            </a:r>
            <a:endParaRPr sz="1350"/>
          </a:p>
        </p:txBody>
      </p:sp>
      <p:sp>
        <p:nvSpPr>
          <p:cNvPr id="36" name="Text 34">
            <a:extLst xmlns:a="http://schemas.openxmlformats.org/drawingml/2006/main">
              <a:ext uri="{FF2B5EF4-FFF2-40B4-BE49-F238E27FC236}">
                <a16:creationId xmlns:a16="http://schemas.microsoft.com/office/drawing/2014/main" id="{666E5584-E3CB-413E-90A6-4F13EF7E07A2}"/>
              </a:ext>
            </a:extLst>
          </p:cNvPr>
          <p:cNvSpPr>
            <a:spLocks xmlns:a="http://schemas.openxmlformats.org/drawingml/2006/main" noGrp="1"/>
          </p:cNvSpPr>
          <p:nvPr/>
        </p:nvSpPr>
        <p:spPr>
          <a:xfrm xmlns:a="http://schemas.openxmlformats.org/drawingml/2006/main">
            <a:off x="6598768" y="5440680"/>
            <a:ext cx="4678528" cy="42062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100">
                <a:solidFill>
                  <a:srgbClr val="3C4A52"/>
                </a:solidFill>
                <a:latin typeface="Arial"/>
                <a:ea typeface="Arial"/>
                <a:cs typeface="Arial"/>
              </a:rPr>
              <a:t>Global conditioning of the feature set (λmax / λmin of the correlation matrix).</a:t>
            </a:r>
            <a:endParaRPr sz="1100"/>
          </a:p>
        </p:txBody>
      </p:sp>
      <p:sp>
        <p:nvSpPr>
          <p:cNvPr id="37" name="Text 35">
            <a:extLst xmlns:a="http://schemas.openxmlformats.org/drawingml/2006/main">
              <a:ext uri="{FF2B5EF4-FFF2-40B4-BE49-F238E27FC236}">
                <a16:creationId xmlns:a16="http://schemas.microsoft.com/office/drawing/2014/main" id="{C2B215BC-626E-420F-85EF-C6BF93F1865E}"/>
              </a:ext>
            </a:extLst>
          </p:cNvPr>
          <p:cNvSpPr>
            <a:spLocks xmlns:a="http://schemas.openxmlformats.org/drawingml/2006/main" noGrp="1"/>
          </p:cNvSpPr>
          <p:nvPr/>
        </p:nvSpPr>
        <p:spPr>
          <a:xfrm xmlns:a="http://schemas.openxmlformats.org/drawingml/2006/main">
            <a:off x="6598768" y="5861304"/>
            <a:ext cx="4678528"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B2A30"/>
                </a:solidFill>
                <a:latin typeface="Arial"/>
                <a:ea typeface="Arial"/>
                <a:cs typeface="Arial"/>
              </a:rPr>
              <a:t>Smaller is better conditioned · 61.7 → 11.8</a:t>
            </a:r>
            <a:endParaRPr sz="1100"/>
          </a:p>
        </p:txBody>
      </p:sp>
    </p:spTree>
    <p:extLst>
      <p:ext uri="{BB962C8B-B14F-4D97-AF65-F5344CB8AC3E}">
        <p14:creationId xmlns:p14="http://schemas.microsoft.com/office/powerpoint/2010/main" val="212123130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2026-10-16T18:52:41.3270000Z</dcterms:created>
  <dcterms:modified xsi:type="dcterms:W3CDTF">2026-10-16T18:52:41.3270000Z</dcterms:modified>
</coreProperties>
</file>