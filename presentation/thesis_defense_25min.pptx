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826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601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Cognitive Phenotyping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Acquired Brain Injury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cognitive severity gradient that survives the choice of imputation method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" y="2971800"/>
            <a:ext cx="2011680" cy="32004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Zoltán Kunos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Fundamental Principles of Data Science · Universitat de Barcelona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Dr. Alejandro García-Rudolph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Thesis Defence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4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9808" y="3246120"/>
            <a:ext cx="2194560" cy="45720"/>
          </a:xfrm>
          <a:prstGeom prst="rect">
            <a:avLst/>
          </a:prstGeom>
          <a:solidFill>
            <a:srgbClr val="E1812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injury severity, very different cognitive profiles 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labels hide what should guide treatment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 brain injury </a:t>
            </a: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(stroke, TBI, hypoxia, encephalitis) is a leading cause of long-term disability in working-age adults.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scatter across attention, memory, language, executive function and visuoperception.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and severity bands </a:t>
            </a:r>
            <a:r>
              <a:rPr lang="en-US" sz="1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together patients whose cognitive profiles differ substantially.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within-group variation that could guide rehabilitation stays hidden.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715000" y="1371600"/>
            <a:ext cx="2971800" cy="2468880"/>
          </a:xfrm>
          <a:prstGeom prst="roundRect">
            <a:avLst>
              <a:gd name="adj" fmla="val 2963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0" y="192024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data-driven clustering recover clinically meaningful cognitive phenotypes that diagnosis alone misses — and can we trust them?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 cognitive assessment: Lezak et al. (2012)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pre-registered questions, each with a quantitative threshold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04C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1521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phenotypes?   </a:t>
            </a:r>
            <a:b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clustering find discrete cognitive phenotypes?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 Silhouette &gt; 0.40, noise &lt; 30%, ≥ 2 clusters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004C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0208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Imputation-robust?   </a:t>
            </a:r>
            <a:b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phenotypes stable across imputation methods?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2648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 Mean pairwise ARI &gt; 0.50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04C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8895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linked?   </a:t>
            </a:r>
            <a:b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cluster relate to the treating clinical unit?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 χ² significant, Cramér's V &gt; 0.10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004C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7581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at domain level?   </a:t>
            </a:r>
            <a:b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6 cognitive domains beat 14 raw tests?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2648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  Domain wins all 3 quality metrics (silhouette, VIF, condition)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fixed before analysis (pre-registration)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9808" y="3246120"/>
            <a:ext cx="2194560" cy="45720"/>
          </a:xfrm>
          <a:prstGeom prst="rect">
            <a:avLst/>
          </a:prstGeom>
          <a:solidFill>
            <a:srgbClr val="E1812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clinical data is large but 47% incomplete 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 is unavoidable, not optional</a:t>
            </a:r>
            <a:endParaRPr lang="en-US" sz="2100" dirty="0"/>
          </a:p>
        </p:txBody>
      </p:sp>
      <p:pic>
        <p:nvPicPr>
          <p:cNvPr id="3" name="Image 0" descr="/Users/zoltankunos/Desktop/git/thesis_project/presentation/deck_build/charts/missingn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097280"/>
            <a:ext cx="37490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17,406 assessments </a:t>
            </a: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7,285 patients, one rehabilitation centre.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cognitive tests → 6 domains </a:t>
            </a: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50%-missing filter.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53.1% of rows are complete — </a:t>
            </a: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listwise deletion would discard 47% of the data.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841248" cy="73152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56616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 methods)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98448" y="3566160"/>
            <a:ext cx="109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›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62456" y="3566160"/>
            <a:ext cx="841248" cy="73152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62456" y="356616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203704" y="3566160"/>
            <a:ext cx="109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›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67712" y="3566160"/>
            <a:ext cx="841248" cy="73152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67712" y="356616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08960" y="3566160"/>
            <a:ext cx="109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172968" y="3566160"/>
            <a:ext cx="841248" cy="73152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72968" y="356616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HDBSCAN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014216" y="3566160"/>
            <a:ext cx="109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›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78224" y="3566160"/>
            <a:ext cx="841248" cy="73152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78224" y="356616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Best-Q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MICE: van Buuren &amp; Groothuis-Oudshoorn (2011); UMAP: McInnes et al. (2018); HDBSCAN: Campello et al. (2013)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imputation methods across five categories 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the standard taxonomy with deep learning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Conventional statistical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· EM · MICE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distributional / chained equations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 learning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 · MissForest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non-parametric, non-linear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draws real donor values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Matrix completion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SoftImpute · NMF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low-rank reconstruction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181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  (new)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DAE · VAE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 non-linear latent structure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methods × 2 representations (variable- and domain-level) = 20 pipeline runs. DAE/VAE detail in Appendix B.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the 4-category taxonomy of Afkanpour et al. (2024)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1,080-configuration sweep selects clusters by a single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 — no hand-tuning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39696" y="128016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9696" y="128016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02736" y="128016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22192" y="128016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128016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 configs)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85232" y="128016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04688" y="128016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128016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HDBSCAN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(120 configs)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67728" y="128016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87184" y="128016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87184" y="128016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Best-Q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 grid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n_neighbors: 15, 30, 50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n_components: 3, 5, 8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min_dist: 0.0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HDBSCAN grid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min_cluster_size: 500–3000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min_samples: 5, 10, 25, 50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eom / leaf · ε: 0.0, 0.1, 0.5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score   </a:t>
            </a:r>
            <a:r>
              <a:rPr lang="en-US" sz="16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Silhouette × (1 − noise proportion)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UMAP: McInnes et al. (2018); HDBSCAN: Campello et al. (2013)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H2, a shared pipeline isolates imputation as the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varied factor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 Fit StandardScaler on MICE → transform every other method.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 Fit UMAP on MICE → transform every other method.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 Fit K-Means on the MICE embedding → predict all others.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71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k, same boundaries, same embedding geometry.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thing that changes between runs is the imputed values themselves — so any difference in cluster assignment is attributable to imputation alone.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HDBSCAN labels are kept for H1/H3/H4; K-Means labels are used only for the H2 concordance test.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9808" y="3246120"/>
            <a:ext cx="2194560" cy="45720"/>
          </a:xfrm>
          <a:prstGeom prst="rect">
            <a:avLst/>
          </a:prstGeom>
          <a:solidFill>
            <a:srgbClr val="E1812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 Three cognitive severity tiers emerge 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gradient, not dissociated phenotypes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25880"/>
            <a:ext cx="91440" cy="1783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4447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6,725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21792" y="21762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Above-Average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5420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cohort mean on all domains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32588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EEF4FB"/>
          </a:solidFill>
          <a:ln w="12700">
            <a:solidFill>
              <a:srgbClr val="004C93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82696" y="1325880"/>
            <a:ext cx="91440" cy="1783080"/>
          </a:xfrm>
          <a:prstGeom prst="rect">
            <a:avLst/>
          </a:prstGeom>
          <a:solidFill>
            <a:srgbClr val="004C93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4447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6,328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447288" y="21762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Near-Normal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7288" y="25420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the cohort average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08192" y="1325880"/>
            <a:ext cx="2670048" cy="1783080"/>
          </a:xfrm>
          <a:prstGeom prst="roundRect">
            <a:avLst>
              <a:gd name="adj" fmla="val 4103"/>
            </a:avLst>
          </a:prstGeom>
          <a:solidFill>
            <a:srgbClr val="EEF4FB"/>
          </a:solidFill>
          <a:ln w="12700">
            <a:solidFill>
              <a:srgbClr val="E1812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08192" y="1325880"/>
            <a:ext cx="91440" cy="178308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14447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18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4,353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272784" y="21762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Impairment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72784" y="25420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cohort mean on all domains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imputation methods clear the thresholds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(silhouette &gt; 0.40, noise &lt; 30%); MICE reference: silhouette 0.53, k = 3.</a:t>
            </a:r>
            <a:endParaRPr lang="en-US" sz="1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severity axis (PC1) explains 56% of variance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all domains move together; core Jaccard 0.63 / 0.62 for the extreme tiers.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stability: Hennig (2007); silhouette: Rousseeuw (1987)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tiers are nearly concentric: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 move together — a severity gradient</a:t>
            </a:r>
            <a:endParaRPr lang="en-US" sz="2100" dirty="0"/>
          </a:p>
        </p:txBody>
      </p:sp>
      <p:pic>
        <p:nvPicPr>
          <p:cNvPr id="3" name="Image 0" descr="/Users/zoltankunos/Desktop/git/thesis_project/presentation/deck_build/charts/radar_authoritati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234440"/>
            <a:ext cx="612648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46520" y="1234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46520" y="160020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Concentric polygons: </a:t>
            </a: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 differ in overall level, not in profile shape.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 = 56% of variance </a:t>
            </a: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near-equal positive loadings on all six domains.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attention-specific dissociation </a:t>
            </a: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tiers differ in overall level, not profile shape.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z-scores from the MICE solution; n = 17,406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 The severity tiers are robust to imputation 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method pair agrees</a:t>
            </a:r>
            <a:endParaRPr lang="en-US" sz="2100" dirty="0"/>
          </a:p>
        </p:txBody>
      </p:sp>
      <p:pic>
        <p:nvPicPr>
          <p:cNvPr id="3" name="Image 0" descr="/Users/zoltankunos/Desktop/git/thesis_project/presentation/deck_build/charts/ari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434840" cy="3611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4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74920" y="160020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pairwise ARI = 0.71 </a:t>
            </a: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[95% CI 0.70–0.72]; every one of 45 pairs exceeds 0.50.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of 45 method pairs </a:t>
            </a: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after Holm correction (only KNN–SoftImpute borderline).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of patients </a:t>
            </a: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a high-confidence label under consensus clustering.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guidance: the tiers survive every imputation choice; MICE is a safe default.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ARI: Hubert &amp; Arabie (1985); shared pipeline isolates the imputation effect (see Appendix)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 is not cosmetic: discarding incomplete rows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the cluster structure itself</a:t>
            </a:r>
            <a:endParaRPr lang="en-US" sz="2100" dirty="0"/>
          </a:p>
        </p:txBody>
      </p:sp>
      <p:pic>
        <p:nvPicPr>
          <p:cNvPr id="3" name="Image 0" descr="/Users/zoltankunos/Desktop/git/thesis_project/presentation/deck_build/charts/listwi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43000"/>
            <a:ext cx="594360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92240" y="164592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Listwise deletion keeps only 53% of rows.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returns 2 clusters with silhouette 0.26 vs 3 tiers (0.53) under MICE.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 vs MICE = 0.63: a different partition, not a subset.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choice to impute is itself a finding.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Complete-case baseline: 9,245 of 17,406 rows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✓  Severity tier tracks the treating clinical unit —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link survives adjustment for diagnosis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4FB"/>
          </a:solidFill>
          <a:ln w="12700">
            <a:solidFill>
              <a:srgbClr val="004C93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 = 911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of severity tier with clinical unit (p ≈ 10⁻¹⁵⁶)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68980" y="14173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60420" y="1554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0.16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336042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Cramér's V effect size — above the 0.10 bar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14173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4FB"/>
          </a:solidFill>
          <a:ln w="12700">
            <a:solidFill>
              <a:srgbClr val="E1812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554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18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confounded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17220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Cochran–Mantel–Haenszel, holds within diagnosis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7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association is not a diagnosis confound: </a:t>
            </a:r>
            <a:r>
              <a:rPr lang="en-US" sz="17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holds after stratifying by diagnosis group, so severity tier adds explanatory power beyond the diagnostic label — supporting severity-informed routing of patients.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Cramér's V: Cramér (1946); CMH: Cochran (1954). Rubin-pooled V = 0.15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 ✓  Six domains beat fourteen raw tests on all three quality metrics</a:t>
            </a:r>
            <a:endParaRPr lang="en-US" sz="2100" dirty="0"/>
          </a:p>
        </p:txBody>
      </p:sp>
      <p:pic>
        <p:nvPicPr>
          <p:cNvPr id="3" name="Image 0" descr="/Users/zoltankunos/Desktop/git/thesis_project/presentation/deck_build/charts/domain_vs_varia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88720"/>
            <a:ext cx="585216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separation </a:t>
            </a: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(silhouette 0.48 vs 0.47), far less multicollinearity.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conditioned </a:t>
            </a: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VIF 1.9 vs 2.8, condition number 12 vs 62.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interpretable — clinicians reason in domains.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VIF and condition number quantify multicollinearity; lower is better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pre-registered hypotheses are supported</a:t>
            </a:r>
            <a:endParaRPr lang="en-US" sz="2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6060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evidence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 Discrete, stable clusters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10/10 methods pass silhouette + noise; 3 severity tiers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  Imputation robustness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ARI 0.71; 44/45 pairs survive Holm correction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  Clinical-unit link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χ² = 911, V = 0.16, CMH not confounded by diagnosis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  Domain vs variable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wins all 3 quality metrics (silhouette, VIF, condition)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Robustness: </a:t>
            </a:r>
            <a:r>
              <a:rPr lang="en-US" sz="15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conclusions hold under bootstrap 95% CIs, Holm correction, Rubin pooling (M = 5), and a listwise-deletion baseline.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4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Conclusions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9808" y="3246120"/>
            <a:ext cx="2194560" cy="45720"/>
          </a:xfrm>
          <a:prstGeom prst="rect">
            <a:avLst/>
          </a:prstGeom>
          <a:solidFill>
            <a:srgbClr val="E1812C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severity gradient — and a cautionary methodological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 about preprocessing artefacts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Cognition after ABI is dominated by a general-severity factor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strong positive manifold of inter-test correlations, recovered here without supervision.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method rediscovers severity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finds anything domain-specific; this is a weaker, more honest form of phenotyping.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E18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apparent attention phenotype was an artefact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it dissolved once a mis-scaled demographic was removed and variables were properly standardised.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Contribution: </a:t>
            </a:r>
            <a:r>
              <a:rPr lang="en-US" sz="1600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 severity-stratification pipeline, and a worked demonstration of how scaling artefacts masquerade as structure.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80760" y="141732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EEF4FB"/>
          </a:solidFill>
          <a:ln w="12700">
            <a:solidFill>
              <a:srgbClr val="E1812C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63640" y="15727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938528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18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severity axis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(PC1 = 56%) with equal positive loadings on all six domains.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 = bands of the same gradient.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with Lezak et al. (2012); García-Rudolph et al. (2020)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tiers translate into matching rehabilitation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 to level of need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clinic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Above-Average → vocational rehabilitation and community-return planning.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Impairment → intensive, structured, lower-level rehabilitation.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each assignment with its confidence, not as a hard label.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analyst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0" y="16916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 and screen features before aggregating — artefacts masquerade as structure.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MICE as the default; test sensitivity with ≥ 2 imputation methods.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on domain-level features, not raw tests.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EF4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framework, two audiences: a reproducible severity signal for the bedside, and careful defaults for the next analysis.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Phenotypes power CogDash — decision support that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a new patient and reports its confidence</a:t>
            </a:r>
            <a:endParaRPr lang="en-US" sz="2100" dirty="0"/>
          </a:p>
        </p:txBody>
      </p:sp>
      <p:pic>
        <p:nvPicPr>
          <p:cNvPr id="3" name="Image 0" descr="/Users/zoltankunos/Desktop/git/thesis_project/presentation/manual_screenshots/01_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8920" y="1188720"/>
            <a:ext cx="6035040" cy="3154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88920" y="1188720"/>
            <a:ext cx="6035040" cy="3154680"/>
          </a:xfrm>
          <a:prstGeom prst="rect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2801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modules: 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explorer, cognitive profiles, patient lookup, imputation compare, clinical units, hypothesis summary, new-patient classifier, advanced analytics.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+ Plotly, colour-blind-safe, Docker-packaged.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limitations are design constraints — partly offset by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sensitivity analyses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362456"/>
            <a:ext cx="109728" cy="566928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centre 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but the test battery (TMT, Stroop, digit span, RAVLT) is internationally standard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12264"/>
            <a:ext cx="109728" cy="566928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7568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Cross-sectional 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yet multiple assessments per patient span the recovery continuum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862072"/>
            <a:ext cx="109728" cy="566928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25496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assumption 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10 methods, Rubin pooling and a listwise baseline serve as built-in sensitivity checks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09728" cy="566928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7530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functional outcomes  </a:t>
            </a: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(return-to-work, length of stay); only outcome-adjacent proxies available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4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" y="777240"/>
            <a:ext cx="7863840" cy="32004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955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 cognitive severity gradient in ABI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three tiers on a single severity axis (PC1 56%), cutting across diagnostic categories.</a:t>
            </a:r>
            <a:endParaRPr lang="en-US" sz="1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Imputation is not cosmetic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listwise deletion changes the structure; the tiers survive every imputation choice (ARI 0.71).</a:t>
            </a:r>
            <a:endParaRPr lang="en-US" sz="1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Severity tier adds clinical value beyond diagnosis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(CMH not confounded); 86% of assessments get high-confidence labels.</a:t>
            </a:r>
            <a:endParaRPr lang="en-US" sz="1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 robustness framework — and a cautionary tale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preprocessing artefacts can masquerade as phenotypes unless features are scaled with care.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z.kunos@gmail.com      Code &amp; dashboard: github.com/zkunos/thesis_project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Afkanpour, M., et al. (2024). Identifying the best imputation methods for clinical data. BMC Medical Informatics and Decision Making.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Campello, R.J.G.B., Moulavi, D., &amp; Sander, J. (2013). Density-based clustering based on hierarchical density estimates (HDBSCAN). PAKDD.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Cramér, H. (1946). Mathematical Methods of Statistics. Princeton University Press.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Hennig, C. (2007). Cluster-wise assessment of cluster stability. Computational Statistics &amp; Data Analysis, 52, 258–271.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Hubert, L. &amp; Arabie, P. (1985). Comparing partitions. Journal of Classification, 2, 193–218.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Lezak, M.D., et al. (2012). Neuropsychological Assessment (5th ed.). Oxford University Press.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McInnes, L., Healy, J., &amp; Melville, J. (2018). UMAP: Uniform Manifold Approximation and Projection. arXiv:1802.03426.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Rousseeuw, P.J. (1987). Silhouettes: a graphical aid to cluster interpretation. J. Computational &amp; Applied Mathematics, 20, 53–65.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Stekhoven, D.J. &amp; Bühlmann, P. (2012). MissForest — non-parametric missing value imputation. Bioinformatics, 28(1), 112–118.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Buuren, S. &amp; Groothuis-Oudshoorn, K. (2011). mice: Multivariate Imputation by Chained Equations in R. J. Statistical Software, 45(3).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0392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 — Imputation method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quality is consistent across imputation; the severity signal persists</a:t>
            </a:r>
            <a:endParaRPr lang="en-US" sz="1900" dirty="0"/>
          </a:p>
        </p:txBody>
      </p:sp>
      <p:pic>
        <p:nvPicPr>
          <p:cNvPr id="4" name="Image 0" descr="/Users/zoltankunos/Desktop/git/thesis_project/presentation/deck_build/charts/silhouet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34440"/>
            <a:ext cx="58521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4630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is tight across methods (0.50–0.61); k = 3–5.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MICE gives the reference 3-tier solution.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ten methods clear the pre-registered thresholds.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 — Deep-learning imputation improvements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targeted fixes make autoencoder imputation work on structured missingness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 — pattern-aware corruption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missingness is structured: tests are ordered together.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 training masks sampled from the empirical co-occurrence pattern.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15→128→64→32→…→15; 5 runs averaged.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— cyclical β-annealing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β causes posterior collapse — latent space ignored.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ramps 0→0.1 over 40-epoch cycles.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dim 32; K = 20 samples averaged.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10% RMSE confirms DAE outperforms VAE on every variable.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 — Robustness analyses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headline result was re-tested under stricter conditions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Re-estimation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95% CIs: ARI [0.70, 0.72]; V [0.15, 0.18].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 correction over 45 H2 pairs: 44 survive; only KNN–SoftImpute borderline.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Rubin pooling (M = 5 MICE): conclusions unchanged.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&amp; stability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Listwise baseline: 2 clusters, silhouette 0.26 vs 0.53 — imputation matters.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 multi-assessment patients keep their tier; transitions move up the gradient (recovery) 3:1.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Time-since-injury differs by tier (214 / 188 / 172 days, p ≈ 10⁻²⁸).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2364</Words>
  <Application>Microsoft Macintosh PowerPoint</Application>
  <PresentationFormat>On-screen Show (16:9)</PresentationFormat>
  <Paragraphs>304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Cognitive Phenotyping in Acquired Brain Injury</dc:title>
  <dc:subject>PptxGenJS Presentation</dc:subject>
  <dc:creator>Zoltán Kunos</dc:creator>
  <cp:lastModifiedBy>Zoltán Kunos</cp:lastModifiedBy>
  <cp:revision>2</cp:revision>
  <dcterms:created xsi:type="dcterms:W3CDTF">2026-06-06T00:16:20Z</dcterms:created>
  <dcterms:modified xsi:type="dcterms:W3CDTF">2026-06-06T22:31:02Z</dcterms:modified>
</cp:coreProperties>
</file>