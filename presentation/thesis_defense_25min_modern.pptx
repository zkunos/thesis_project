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495f5ce22448f8" /><Relationship Type="http://schemas.openxmlformats.org/officeDocument/2006/relationships/extended-properties" Target="/docProps/app.xml" Id="Rc6c29b4acefb445c" /><Relationship Type="http://schemas.openxmlformats.org/officeDocument/2006/relationships/officeDocument" Target="/ppt/presentation.xml" Id="Re484309a07194d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2426a8b15a4e4c"/>
  </p:sldMasterIdLst>
  <p:notesMasterIdLst>
    <p:notesMasterId xmlns:r="http://schemas.openxmlformats.org/officeDocument/2006/relationships" r:id="R9ff0b44a9ce14f1f"/>
  </p:notesMasterIdLst>
  <p:sldIdLst>
    <p:sldId xmlns:r="http://schemas.openxmlformats.org/officeDocument/2006/relationships" id="256" r:id="Rcf5a33952e244986"/>
    <p:sldId xmlns:r="http://schemas.openxmlformats.org/officeDocument/2006/relationships" id="257" r:id="R38e9562070a7414e"/>
    <p:sldId xmlns:r="http://schemas.openxmlformats.org/officeDocument/2006/relationships" id="258" r:id="R94df8a2db6214a31"/>
    <p:sldId xmlns:r="http://schemas.openxmlformats.org/officeDocument/2006/relationships" id="259" r:id="R9dd45d195b6b480d"/>
    <p:sldId xmlns:r="http://schemas.openxmlformats.org/officeDocument/2006/relationships" id="260" r:id="R2999492d1cbb41b1"/>
    <p:sldId xmlns:r="http://schemas.openxmlformats.org/officeDocument/2006/relationships" id="261" r:id="R8074cfb8c43e4a99"/>
    <p:sldId xmlns:r="http://schemas.openxmlformats.org/officeDocument/2006/relationships" id="262" r:id="R3c08ec8026864eba"/>
    <p:sldId xmlns:r="http://schemas.openxmlformats.org/officeDocument/2006/relationships" id="263" r:id="Rf2fabf2ee4f44e56"/>
    <p:sldId xmlns:r="http://schemas.openxmlformats.org/officeDocument/2006/relationships" id="264" r:id="R0b00acc1c6d949cb"/>
    <p:sldId xmlns:r="http://schemas.openxmlformats.org/officeDocument/2006/relationships" id="265" r:id="Raf6fb41a701f4b8f"/>
    <p:sldId xmlns:r="http://schemas.openxmlformats.org/officeDocument/2006/relationships" id="266" r:id="Radec9f14486a4fb0"/>
    <p:sldId xmlns:r="http://schemas.openxmlformats.org/officeDocument/2006/relationships" id="267" r:id="Rac37b865f20f480a"/>
    <p:sldId xmlns:r="http://schemas.openxmlformats.org/officeDocument/2006/relationships" id="268" r:id="Ra7260a7de8ae43d8"/>
    <p:sldId xmlns:r="http://schemas.openxmlformats.org/officeDocument/2006/relationships" id="269" r:id="R9a20eb84e7fa4482"/>
    <p:sldId xmlns:r="http://schemas.openxmlformats.org/officeDocument/2006/relationships" id="270" r:id="R3d61056c8c8f4d03"/>
    <p:sldId xmlns:r="http://schemas.openxmlformats.org/officeDocument/2006/relationships" id="271" r:id="R7b08af5f05cb46e9"/>
    <p:sldId xmlns:r="http://schemas.openxmlformats.org/officeDocument/2006/relationships" id="272" r:id="Re320d8a9ab924682"/>
    <p:sldId xmlns:r="http://schemas.openxmlformats.org/officeDocument/2006/relationships" id="273" r:id="Raea93836b72044ee"/>
    <p:sldId xmlns:r="http://schemas.openxmlformats.org/officeDocument/2006/relationships" id="274" r:id="Rf1170c73bde84fbd"/>
    <p:sldId xmlns:r="http://schemas.openxmlformats.org/officeDocument/2006/relationships" id="275" r:id="Ra387ef8a9f1347a2"/>
    <p:sldId xmlns:r="http://schemas.openxmlformats.org/officeDocument/2006/relationships" id="276" r:id="R70a9af2329514479"/>
    <p:sldId xmlns:r="http://schemas.openxmlformats.org/officeDocument/2006/relationships" id="277" r:id="R966949ef0efe4771"/>
    <p:sldId xmlns:r="http://schemas.openxmlformats.org/officeDocument/2006/relationships" id="278" r:id="R6e9f31915d9c4edd"/>
    <p:sldId xmlns:r="http://schemas.openxmlformats.org/officeDocument/2006/relationships" id="279" r:id="R8439b728b0604765"/>
    <p:sldId xmlns:r="http://schemas.openxmlformats.org/officeDocument/2006/relationships" id="280" r:id="Rcd2ee630de104d2c"/>
    <p:sldId xmlns:r="http://schemas.openxmlformats.org/officeDocument/2006/relationships" id="281" r:id="Rc6d3a39f779d4806"/>
    <p:sldId xmlns:r="http://schemas.openxmlformats.org/officeDocument/2006/relationships" id="282" r:id="Ra446bd54d86d4c71"/>
    <p:sldId xmlns:r="http://schemas.openxmlformats.org/officeDocument/2006/relationships" id="283" r:id="R963a9f9f56d947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25aaff6c2d4eaf" /><Relationship Type="http://schemas.openxmlformats.org/officeDocument/2006/relationships/slideMaster" Target="/ppt/slideMasters/slideMaster1.xml" Id="R962426a8b15a4e4c" /><Relationship Type="http://schemas.openxmlformats.org/officeDocument/2006/relationships/notesMaster" Target="/ppt/notesMasters/notesMaster1.xml" Id="R9ff0b44a9ce14f1f" /><Relationship Type="http://schemas.openxmlformats.org/officeDocument/2006/relationships/presProps" Target="/ppt/presProps.xml" Id="R8a992ab00ec2401e" /><Relationship Type="http://schemas.openxmlformats.org/officeDocument/2006/relationships/viewProps" Target="/ppt/viewProps.xml" Id="R7c7c130892c541c4" /><Relationship Type="http://schemas.openxmlformats.org/officeDocument/2006/relationships/tableStyles" Target="/ppt/tableStyles.xml" Id="Rf23e7a4072874e33" /><Relationship Type="http://schemas.openxmlformats.org/officeDocument/2006/relationships/slide" Target="/ppt/slides/slide1.xml" Id="Rcf5a33952e244986" /><Relationship Type="http://schemas.openxmlformats.org/officeDocument/2006/relationships/slide" Target="/ppt/slides/slide2.xml" Id="R38e9562070a7414e" /><Relationship Type="http://schemas.openxmlformats.org/officeDocument/2006/relationships/slide" Target="/ppt/slides/slide3.xml" Id="R94df8a2db6214a31" /><Relationship Type="http://schemas.openxmlformats.org/officeDocument/2006/relationships/slide" Target="/ppt/slides/slide4.xml" Id="R9dd45d195b6b480d" /><Relationship Type="http://schemas.openxmlformats.org/officeDocument/2006/relationships/slide" Target="/ppt/slides/slide5.xml" Id="R2999492d1cbb41b1" /><Relationship Type="http://schemas.openxmlformats.org/officeDocument/2006/relationships/slide" Target="/ppt/slides/slide6.xml" Id="R8074cfb8c43e4a99" /><Relationship Type="http://schemas.openxmlformats.org/officeDocument/2006/relationships/slide" Target="/ppt/slides/slide7.xml" Id="R3c08ec8026864eba" /><Relationship Type="http://schemas.openxmlformats.org/officeDocument/2006/relationships/slide" Target="/ppt/slides/slide8.xml" Id="Rf2fabf2ee4f44e56" /><Relationship Type="http://schemas.openxmlformats.org/officeDocument/2006/relationships/slide" Target="/ppt/slides/slide9.xml" Id="R0b00acc1c6d949cb" /><Relationship Type="http://schemas.openxmlformats.org/officeDocument/2006/relationships/slide" Target="/ppt/slides/slide10.xml" Id="Raf6fb41a701f4b8f" /><Relationship Type="http://schemas.openxmlformats.org/officeDocument/2006/relationships/slide" Target="/ppt/slides/slide11.xml" Id="Radec9f14486a4fb0" /><Relationship Type="http://schemas.openxmlformats.org/officeDocument/2006/relationships/slide" Target="/ppt/slides/slide12.xml" Id="Rac37b865f20f480a" /><Relationship Type="http://schemas.openxmlformats.org/officeDocument/2006/relationships/slide" Target="/ppt/slides/slide13.xml" Id="Ra7260a7de8ae43d8" /><Relationship Type="http://schemas.openxmlformats.org/officeDocument/2006/relationships/slide" Target="/ppt/slides/slide14.xml" Id="R9a20eb84e7fa4482" /><Relationship Type="http://schemas.openxmlformats.org/officeDocument/2006/relationships/slide" Target="/ppt/slides/slide15.xml" Id="R3d61056c8c8f4d03" /><Relationship Type="http://schemas.openxmlformats.org/officeDocument/2006/relationships/slide" Target="/ppt/slides/slide16.xml" Id="R7b08af5f05cb46e9" /><Relationship Type="http://schemas.openxmlformats.org/officeDocument/2006/relationships/slide" Target="/ppt/slides/slide17.xml" Id="Re320d8a9ab924682" /><Relationship Type="http://schemas.openxmlformats.org/officeDocument/2006/relationships/slide" Target="/ppt/slides/slide18.xml" Id="Raea93836b72044ee" /><Relationship Type="http://schemas.openxmlformats.org/officeDocument/2006/relationships/slide" Target="/ppt/slides/slide19.xml" Id="Rf1170c73bde84fbd" /><Relationship Type="http://schemas.openxmlformats.org/officeDocument/2006/relationships/slide" Target="/ppt/slides/slide20.xml" Id="Ra387ef8a9f1347a2" /><Relationship Type="http://schemas.openxmlformats.org/officeDocument/2006/relationships/slide" Target="/ppt/slides/slide21.xml" Id="R70a9af2329514479" /><Relationship Type="http://schemas.openxmlformats.org/officeDocument/2006/relationships/slide" Target="/ppt/slides/slide22.xml" Id="R966949ef0efe4771" /><Relationship Type="http://schemas.openxmlformats.org/officeDocument/2006/relationships/slide" Target="/ppt/slides/slide23.xml" Id="R6e9f31915d9c4edd" /><Relationship Type="http://schemas.openxmlformats.org/officeDocument/2006/relationships/slide" Target="/ppt/slides/slide24.xml" Id="R8439b728b0604765" /><Relationship Type="http://schemas.openxmlformats.org/officeDocument/2006/relationships/slide" Target="/ppt/slides/slide25.xml" Id="Rcd2ee630de104d2c" /><Relationship Type="http://schemas.openxmlformats.org/officeDocument/2006/relationships/slide" Target="/ppt/slides/slide26.xml" Id="Rc6d3a39f779d4806" /><Relationship Type="http://schemas.openxmlformats.org/officeDocument/2006/relationships/slide" Target="/ppt/slides/slide27.xml" Id="Ra446bd54d86d4c71" /><Relationship Type="http://schemas.openxmlformats.org/officeDocument/2006/relationships/slide" Target="/ppt/slides/slide28.xml" Id="R963a9f9f56d947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9ef77e41564c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5edc96fbeb4ba3" /><Relationship Type="http://schemas.openxmlformats.org/officeDocument/2006/relationships/notesMaster" Target="/ppt/notesMasters/notesMaster1.xml" Id="R9099b439993847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d8250068fd4887" /><Relationship Type="http://schemas.openxmlformats.org/officeDocument/2006/relationships/notesMaster" Target="/ppt/notesMasters/notesMaster1.xml" Id="R0d27ba58167e4e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ab6c0ce2f544a2" /><Relationship Type="http://schemas.openxmlformats.org/officeDocument/2006/relationships/notesMaster" Target="/ppt/notesMasters/notesMaster1.xml" Id="R12a1ed0a37304e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63835af9a444ec" /><Relationship Type="http://schemas.openxmlformats.org/officeDocument/2006/relationships/notesMaster" Target="/ppt/notesMasters/notesMaster1.xml" Id="Rf2c19ab55a5e4b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f8137f76ef45aa" /><Relationship Type="http://schemas.openxmlformats.org/officeDocument/2006/relationships/notesMaster" Target="/ppt/notesMasters/notesMaster1.xml" Id="Rae2349c55f1144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9a563cba084971" /><Relationship Type="http://schemas.openxmlformats.org/officeDocument/2006/relationships/notesMaster" Target="/ppt/notesMasters/notesMaster1.xml" Id="R987a75edd3dd4e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66ac009fdf46e5" /><Relationship Type="http://schemas.openxmlformats.org/officeDocument/2006/relationships/notesMaster" Target="/ppt/notesMasters/notesMaster1.xml" Id="R68726d35a00a4d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4008156012432a" /><Relationship Type="http://schemas.openxmlformats.org/officeDocument/2006/relationships/notesMaster" Target="/ppt/notesMasters/notesMaster1.xml" Id="R3fb82492eb5a4c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5e55b1993642b6" /><Relationship Type="http://schemas.openxmlformats.org/officeDocument/2006/relationships/notesMaster" Target="/ppt/notesMasters/notesMaster1.xml" Id="R753c7693eac04c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c0d520c67c4a98" /><Relationship Type="http://schemas.openxmlformats.org/officeDocument/2006/relationships/notesMaster" Target="/ppt/notesMasters/notesMaster1.xml" Id="R9805a02a96f141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82466939634dc1" /><Relationship Type="http://schemas.openxmlformats.org/officeDocument/2006/relationships/notesMaster" Target="/ppt/notesMasters/notesMaster1.xml" Id="R27846a27c57344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81f66cb4574751" /><Relationship Type="http://schemas.openxmlformats.org/officeDocument/2006/relationships/notesMaster" Target="/ppt/notesMasters/notesMaster1.xml" Id="Ra5ffc46900e143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afd03a154742dc" /><Relationship Type="http://schemas.openxmlformats.org/officeDocument/2006/relationships/notesMaster" Target="/ppt/notesMasters/notesMaster1.xml" Id="Ref528a3ebde04c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8ab89e76da410b" /><Relationship Type="http://schemas.openxmlformats.org/officeDocument/2006/relationships/notesMaster" Target="/ppt/notesMasters/notesMaster1.xml" Id="R786613e70e5943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25eb9d12594207" /><Relationship Type="http://schemas.openxmlformats.org/officeDocument/2006/relationships/notesMaster" Target="/ppt/notesMasters/notesMaster1.xml" Id="R2846a34ada0243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c0795093274b72" /><Relationship Type="http://schemas.openxmlformats.org/officeDocument/2006/relationships/notesMaster" Target="/ppt/notesMasters/notesMaster1.xml" Id="Rba24fedd09ac40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764f9c4cc24139" /><Relationship Type="http://schemas.openxmlformats.org/officeDocument/2006/relationships/notesMaster" Target="/ppt/notesMasters/notesMaster1.xml" Id="R6a5db0afdc0c4d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694211f2ec4e80" /><Relationship Type="http://schemas.openxmlformats.org/officeDocument/2006/relationships/notesMaster" Target="/ppt/notesMasters/notesMaster1.xml" Id="R3f1f21ea4c91499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81c29f17f8d4a87" /><Relationship Type="http://schemas.openxmlformats.org/officeDocument/2006/relationships/notesMaster" Target="/ppt/notesMasters/notesMaster1.xml" Id="R0f328d1d3d4a4b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0fea2fe3d84407" /><Relationship Type="http://schemas.openxmlformats.org/officeDocument/2006/relationships/notesMaster" Target="/ppt/notesMasters/notesMaster1.xml" Id="Rf70808fa0a6d4c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806dda7d5b42b2" /><Relationship Type="http://schemas.openxmlformats.org/officeDocument/2006/relationships/notesMaster" Target="/ppt/notesMasters/notesMaster1.xml" Id="Rb60c70d7fcc947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c1bf3510914da7" /><Relationship Type="http://schemas.openxmlformats.org/officeDocument/2006/relationships/notesMaster" Target="/ppt/notesMasters/notesMaster1.xml" Id="Rad066175af1340f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8f4a92ee18f429b" /><Relationship Type="http://schemas.openxmlformats.org/officeDocument/2006/relationships/notesMaster" Target="/ppt/notesMasters/notesMaster1.xml" Id="R5c86630951104d7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73041a94db4373" /><Relationship Type="http://schemas.openxmlformats.org/officeDocument/2006/relationships/notesMaster" Target="/ppt/notesMasters/notesMaster1.xml" Id="R0e44cfb19f95411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877b1a0f1074d35" /><Relationship Type="http://schemas.openxmlformats.org/officeDocument/2006/relationships/notesMaster" Target="/ppt/notesMasters/notesMaster1.xml" Id="R2f6ef402bdf242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49450bc591e457c" /><Relationship Type="http://schemas.openxmlformats.org/officeDocument/2006/relationships/notesMaster" Target="/ppt/notesMasters/notesMaster1.xml" Id="R8931d39be1474d9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b89c9b3d9914336" /><Relationship Type="http://schemas.openxmlformats.org/officeDocument/2006/relationships/notesMaster" Target="/ppt/notesMasters/notesMaster1.xml" Id="R83deb691ed7f431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8a17e3dc09d4047" /><Relationship Type="http://schemas.openxmlformats.org/officeDocument/2006/relationships/notesMaster" Target="/ppt/notesMasters/notesMaster1.xml" Id="R8b21d515bb6641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ffafa435940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fd87f79daa48ef" /><Relationship Type="http://schemas.openxmlformats.org/officeDocument/2006/relationships/slideLayout" Target="/ppt/slideLayouts/slideLayout1.xml" Id="Rc89240a04f3e44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9240a04f3e44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15ff8568c499a" /><Relationship Type="http://schemas.openxmlformats.org/officeDocument/2006/relationships/notesSlide" Target="/ppt/notesSlides/notesSlide1.xml" Id="Rea2885a7e28f4d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d69f38a5a46b0" /><Relationship Type="http://schemas.openxmlformats.org/officeDocument/2006/relationships/notesSlide" Target="/ppt/notesSlides/notesSlide2.xml" Id="R0e98b514066146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1da313aac404f" /><Relationship Type="http://schemas.openxmlformats.org/officeDocument/2006/relationships/notesSlide" Target="/ppt/notesSlides/notesSlide3.xml" Id="Rf6807e64ed7046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e75a2110e427d" /><Relationship Type="http://schemas.openxmlformats.org/officeDocument/2006/relationships/notesSlide" Target="/ppt/notesSlides/notesSlide4.xml" Id="Rac843e0a314741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cfc14f9194232" /><Relationship Type="http://schemas.openxmlformats.org/officeDocument/2006/relationships/notesSlide" Target="/ppt/notesSlides/notesSlide5.xml" Id="R577976c6d4d140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00ef87c3441ef" /><Relationship Type="http://schemas.openxmlformats.org/officeDocument/2006/relationships/notesSlide" Target="/ppt/notesSlides/notesSlide6.xml" Id="Rd7ea5e3247984f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432f958224781" /><Relationship Type="http://schemas.openxmlformats.org/officeDocument/2006/relationships/image" Target="/ppt/media/image.png" Id="R6fc697d4f78c41bf" /><Relationship Type="http://schemas.openxmlformats.org/officeDocument/2006/relationships/notesSlide" Target="/ppt/notesSlides/notesSlide7.xml" Id="R40eff86930c54a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d6e6d05184009" /><Relationship Type="http://schemas.openxmlformats.org/officeDocument/2006/relationships/notesSlide" Target="/ppt/notesSlides/notesSlide8.xml" Id="R9cef8d0fdeec4f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d33db117e448b" /><Relationship Type="http://schemas.openxmlformats.org/officeDocument/2006/relationships/notesSlide" Target="/ppt/notesSlides/notesSlide9.xml" Id="Rab2c00e9a5d949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218ead5964a1d" /><Relationship Type="http://schemas.openxmlformats.org/officeDocument/2006/relationships/notesSlide" Target="/ppt/notesSlides/notesSlide10.xml" Id="R2c18c9dc032e48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44f57b25d494a" /><Relationship Type="http://schemas.openxmlformats.org/officeDocument/2006/relationships/notesSlide" Target="/ppt/notesSlides/notesSlide11.xml" Id="R38a368f1f9234a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a5ea7efb540d0" /><Relationship Type="http://schemas.openxmlformats.org/officeDocument/2006/relationships/notesSlide" Target="/ppt/notesSlides/notesSlide12.xml" Id="R084cb2371c3540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628fe9926466e" /><Relationship Type="http://schemas.openxmlformats.org/officeDocument/2006/relationships/image" Target="/ppt/media/image2.png" Id="Rf47bb0a65369403a" /><Relationship Type="http://schemas.openxmlformats.org/officeDocument/2006/relationships/notesSlide" Target="/ppt/notesSlides/notesSlide13.xml" Id="Rf899be99c08944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791b8bb174b65" /><Relationship Type="http://schemas.openxmlformats.org/officeDocument/2006/relationships/image" Target="/ppt/media/image3.png" Id="R2a08d0b8fbad4337" /><Relationship Type="http://schemas.openxmlformats.org/officeDocument/2006/relationships/notesSlide" Target="/ppt/notesSlides/notesSlide14.xml" Id="Rb46ed341b4e74d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8a8ed815f4563" /><Relationship Type="http://schemas.openxmlformats.org/officeDocument/2006/relationships/notesSlide" Target="/ppt/notesSlides/notesSlide15.xml" Id="Rf624eb9a68f94b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846986e92487c" /><Relationship Type="http://schemas.openxmlformats.org/officeDocument/2006/relationships/notesSlide" Target="/ppt/notesSlides/notesSlide16.xml" Id="Rf4a7ade374264c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c2f75c5184e85" /><Relationship Type="http://schemas.openxmlformats.org/officeDocument/2006/relationships/image" Target="/ppt/media/image4.png" Id="Raf327a91c40c48cb" /><Relationship Type="http://schemas.openxmlformats.org/officeDocument/2006/relationships/notesSlide" Target="/ppt/notesSlides/notesSlide17.xml" Id="R3e204c6e14124d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8dab9700d4d7b" /><Relationship Type="http://schemas.openxmlformats.org/officeDocument/2006/relationships/notesSlide" Target="/ppt/notesSlides/notesSlide18.xml" Id="R415211af745a4f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1825f4cc7496e" /><Relationship Type="http://schemas.openxmlformats.org/officeDocument/2006/relationships/notesSlide" Target="/ppt/notesSlides/notesSlide19.xml" Id="Rc4a3bb83a0fe48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229aec97540ad" /><Relationship Type="http://schemas.openxmlformats.org/officeDocument/2006/relationships/notesSlide" Target="/ppt/notesSlides/notesSlide20.xml" Id="Ra4752421ad834e5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331bafdb44216" /><Relationship Type="http://schemas.openxmlformats.org/officeDocument/2006/relationships/notesSlide" Target="/ppt/notesSlides/notesSlide21.xml" Id="R41902f237d2842d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79d604dfc49b1" /><Relationship Type="http://schemas.openxmlformats.org/officeDocument/2006/relationships/image" Target="/ppt/media/image5.png" Id="Rf0ca6cc9f75a4366" /><Relationship Type="http://schemas.openxmlformats.org/officeDocument/2006/relationships/image" Target="/ppt/media/image6.png" Id="R11a3df7aa4c141f4" /><Relationship Type="http://schemas.openxmlformats.org/officeDocument/2006/relationships/notesSlide" Target="/ppt/notesSlides/notesSlide22.xml" Id="R834f19bdbbc940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beace78ba482e" /><Relationship Type="http://schemas.openxmlformats.org/officeDocument/2006/relationships/notesSlide" Target="/ppt/notesSlides/notesSlide23.xml" Id="Rb49656753d8e4c7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f59297aa34021" /><Relationship Type="http://schemas.openxmlformats.org/officeDocument/2006/relationships/notesSlide" Target="/ppt/notesSlides/notesSlide24.xml" Id="Rdf38ceef376f475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dee0754ad4c66" /><Relationship Type="http://schemas.openxmlformats.org/officeDocument/2006/relationships/notesSlide" Target="/ppt/notesSlides/notesSlide25.xml" Id="Rdb3095c5c5c94c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1ace083584a47" /><Relationship Type="http://schemas.openxmlformats.org/officeDocument/2006/relationships/image" Target="/ppt/media/image7.png" Id="R29373031b71f47d1" /><Relationship Type="http://schemas.openxmlformats.org/officeDocument/2006/relationships/notesSlide" Target="/ppt/notesSlides/notesSlide26.xml" Id="R5c8e0ed582414ec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aed80ae2940c9" /><Relationship Type="http://schemas.openxmlformats.org/officeDocument/2006/relationships/notesSlide" Target="/ppt/notesSlides/notesSlide27.xml" Id="Rca93deb15e9f446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98042116e4db0" /><Relationship Type="http://schemas.openxmlformats.org/officeDocument/2006/relationships/notesSlide" Target="/ppt/notesSlides/notesSlide28.xml" Id="R9ce681c7ccbe4d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F55E49-5E29-417F-BB6F-2D212832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DD716-2B2B-4776-90B2-35E458EE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CE3FC-54FB-4A21-A33F-6607011E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MSc Thesis Defence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54EDD-2A44-4AC3-9E05-03BC1DF4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666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Data-Driven Cognitive Phenotyping in Acquired Brain Injury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95C7D-AA3F-4522-8B52-897042BE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16B77-7ECC-4358-A4A3-CDEFD027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5F2"/>
                </a:solidFill>
                <a:latin typeface="Aptos"/>
                <a:ea typeface="Aptos"/>
                <a:cs typeface="Aptos"/>
              </a:rPr>
              <a:t>A cognitive severity gradient that survives the choice of imputation 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3D2A3-3F32-4097-BB71-3E02E3B4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Zoltán Kunos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EF381-3595-44A3-9ABE-7D346A8D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MSc Fundamental Principles of Data Science · Universitat de Barcelona</a:t>
            </a:r>
          </a:p>
          <a:p xmlns:a="http://schemas.openxmlformats.org/drawingml/2006/main">
            <a:pPr algn="l">
              <a:defRPr sz="975" b="0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4"/>
                </a:solidFill>
                <a:latin typeface="Aptos"/>
                <a:ea typeface="Aptos"/>
                <a:cs typeface="Aptos"/>
              </a:rPr>
              <a:t>Supervisor: Dr. Alejandro García-Rudolph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FEF45-8E3B-4088-A78D-B95A6271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635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687FD-6B17-4B54-893C-612D1CDB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8E149-9D67-47C2-B564-C75A6893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811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17,406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6CA8D-8A45-4E13-948C-B3998233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assessments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12A6A-C8D4-44F1-8A93-9E98A2E7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635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18B31-E61B-48EF-A232-372E933F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FC612-EC61-430F-B446-ABA61C57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7,285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44B39-2138-4B40-B034-CB35B0CA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patients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85678-C348-4BB6-805C-8D946846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635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AC562-D905-4C31-8F46-2103E67B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BB265-790A-4963-AC28-F02705A8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147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DC196-89AC-47D5-A3F9-C0EC51E6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957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imputation methods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244B8-8D64-404B-97C9-A483AA26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635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C0357-9BE0-49B9-8422-655447B4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F1167-7EA8-44F0-BA69-20C92EC0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815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C3141-7CC6-444D-8573-D593973D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625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severity tiers</a:t>
            </a:r>
          </a:p>
        </p:txBody>
      </p:sp>
    </p:spTree>
    <p:extLst>
      <p:ext uri="{BB962C8B-B14F-4D97-AF65-F5344CB8AC3E}">
        <p14:creationId xmlns:p14="http://schemas.microsoft.com/office/powerpoint/2010/main" val="8648116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608C74-3152-4A5C-A491-6DD55804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B4360-EC24-4199-B9CD-CC806763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D200D-54D3-44CC-9FEC-ACAF02DD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7D796-6DD8-4DCE-BA50-7B710567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523AC-E0D8-49E2-A1D0-196FA86D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14B1B-DC4D-4040-9C55-F5179E4F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Part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6EE21-4076-4BE6-8DE9-946C1CCD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781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Background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F590F-C29C-42F8-8A01-D0F92CF3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510DE-A8DC-472B-B90B-74F78EBB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86125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263B78-E580-4DDC-AD66-84CC1FCB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BE3C0-E127-46A8-9C36-175140D0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CAC3F-05F1-4D0C-826C-C4CADBF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DF0C4-7192-4E3C-9124-3EE9336D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0C1B4-69A6-4519-AF02-76514D93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10E65-6240-4BC2-AF2F-6705F144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Same injury severity, very different cognitive profiles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7965A-234D-43FB-9DAD-750F8608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Severity labels hide the cognitive variation that should guide rehabilitation.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ECD8E-CDB8-47FA-B142-2BD6AF12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EE65F-5CEC-49D6-8C87-E387E0D5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5581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ABI effects scatter across attention, memory, language, executive function and visuoperception.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E40DB-0508-4A0D-A9C3-65EA6575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DE02D-E97C-414E-8457-A408F2DE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5581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Diagnosis and severity bands group together patients whose cognitive profiles differ substantially.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C7B44-4C26-40C5-B4B9-18A0DD94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AA6B5-F829-434D-A4AF-847D5866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5581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The within-group variation that could guide rehabilitation stays hidden.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6E7AE-CBDD-4E5E-B27A-F55E129D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748D3-2740-42A5-A010-31199AC4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ABED0-0F3D-45E3-A40E-4D7EACD5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384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 data-driven clustering recover clinically meaningful cognitive phenotypes that diagnosis alone misses, and can we trust them?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9122D-6931-45A7-8799-DAD97221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ABI cognitive assessment: Lezak et al. (2012)</a:t>
            </a:r>
          </a:p>
        </p:txBody>
      </p:sp>
    </p:spTree>
    <p:extLst>
      <p:ext uri="{BB962C8B-B14F-4D97-AF65-F5344CB8AC3E}">
        <p14:creationId xmlns:p14="http://schemas.microsoft.com/office/powerpoint/2010/main" val="4021335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99A578-5B45-46F9-9872-4EE1A085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4D10B-BDD7-4486-8347-58A435C1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0116F-9128-437A-9B18-7BBDEC46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F8B9E-E560-40FF-A81B-052CAAFA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5DE61-1B25-4EFF-A60F-23027EC5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E5563-992F-4E85-80FB-30C898FB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Four pre-registered questions, each with a quantitative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A467B-23CA-408D-AFC5-5C439F94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5EE9A-A01D-4FB0-BC29-5C90CBA5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DD281-5B93-437E-BCDE-696D3B48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H1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A8865-20C6-43DA-BEF8-345A1330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C8E55-F766-4E2C-AE02-DD23387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Distinct phenotypes?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B9295-9388-4EF1-B7FD-9BFC0F6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574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Silhouette &gt; 0.40, noise &lt; 30%, ≥ 2 clusters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3B597-231D-4A00-AFC2-C682F208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D8B26-7DFF-4FCE-84E8-61234783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29974-0F2E-4C31-A49E-BE24246B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H2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E197D-F4A5-4CDF-841E-5377947E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188D0-FA3F-4E18-BB6B-E405825D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765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Imputation-robust?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C2042-3473-49A4-AED3-E77529F4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Mean pairwise ARI &gt; 0.50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BA032-C9F3-48B2-B9F2-A933BE62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FF235-D1DE-43B6-9E89-9C8A06C8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310E4-98F8-4E13-834C-3D3B1F11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H3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C0C05-E7E4-4820-87C8-1FADFE4C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F55CF-FDB1-4EB8-AF43-E9BA20DD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Clinically linked?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65585-D98A-4465-9FEB-DAC7D9A4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χ² significant, Cramér's V &gt; 0.10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C16CA-2FE0-49DF-9F84-8E8CCE49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05AE7-9B79-4EC2-8CBB-BA2CCBED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408201-EF68-49BF-8E8E-CB97C503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83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F8354"/>
                </a:solidFill>
                <a:latin typeface="Aptos"/>
                <a:ea typeface="Aptos"/>
                <a:cs typeface="Aptos"/>
              </a:rPr>
              <a:t>H4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D1D46-9745-41C4-8BE2-0A232CB9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4FA557-89FF-4EF2-ADCF-BF8970AD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Better at domain level?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A4CE30-EA99-494B-B231-375F83A7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863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Domain wins silhouette, VIF and condition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E7CAB6-503D-4691-B3D2-7136972A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Thresholds fixed before analysis (pre-registration)</a:t>
            </a:r>
          </a:p>
        </p:txBody>
      </p:sp>
    </p:spTree>
    <p:extLst>
      <p:ext uri="{BB962C8B-B14F-4D97-AF65-F5344CB8AC3E}">
        <p14:creationId xmlns:p14="http://schemas.microsoft.com/office/powerpoint/2010/main" val="4999565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4D3011-7815-4AE3-91C1-95568E9A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D7A2E-25D9-424B-A17E-037CB0C7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F65C3-5616-4247-921E-7F5A7B6E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625FD-8326-4D5E-AB79-09512274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120D6-8915-4840-8877-307A5D35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0CB0B-831A-45CF-9FBC-03EC283F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Part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16D09-4DF8-4F90-9C67-6C27C9B8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781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Data &amp;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65A5E-9DF7-424B-9F7F-979EB612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40E11-4FDE-47DA-9A68-FB5ED69F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39865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571CE1-CB2B-42FE-A709-F7EE8B5D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89309-E6EC-4B69-A2F5-4486289D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09842-64B2-4771-B516-82A0CEF1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01C6D-7E3F-428C-9DBE-8DA1DA9A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77050-FDDF-4142-AB58-FDC7E799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FA4B3-AD4F-458A-9D51-5892981D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Routine clinical data is large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73C06-6071-40E3-950E-97D69FD5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cohort is big enough for phenotyping, but incomplete enough that deletion would bias the 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D9784-C5C1-44C4-8BB9-B36BC3CC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1722C-B2C3-40D8-86C3-72BC430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6A552-67B2-43FB-9702-47DACCAB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17,406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210AF-BDD0-44A2-B74F-A11CC748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assessments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3FC48-772E-4D89-A45A-0BF1DA94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0281C-3AFB-40D8-BDBE-4909C016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A2006-1961-4C84-926A-8465E3E3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7,285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A2DDB-F103-4621-8ED3-60152F11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patients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FB328-852A-4A12-BBD7-661CE320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1A11F-6291-415A-930C-B6CF3EF0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2D74E-FCAA-40E3-B289-661636FA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14 → 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951F0-5C2F-4E49-832C-BE43A8C3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tests to domains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68860-7E30-4440-82EE-93DA78F8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5280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45B7D-8663-45A6-A80B-01771101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52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B9477-3507-43EE-86D1-C70085F9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671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83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F8354"/>
                </a:solidFill>
                <a:latin typeface="Aptos"/>
                <a:ea typeface="Aptos"/>
                <a:cs typeface="Aptos"/>
              </a:rPr>
              <a:t>53.1%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EFC1A-2640-4C77-9D38-AB4D9DDE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complete rows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5EAAB-BD5B-4D00-BEB7-8348F36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77F96-B625-415C-B79D-50042662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2914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One rehabilitation centre.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44757-D55D-4615-80DE-50EF45EA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CF7260-AF4A-4690-8CA6-DE1253EB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914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50%-missing filter preserves variables with enough observed data.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6C05EF-1617-4842-B8EA-3D121445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A3ADBE-5D6C-41B3-9ABF-24F86258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71900"/>
            <a:ext cx="2914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Listwise deletion would discard nearly half of the cohort.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6A2D31-F576-41FA-9668-629FBFB7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MICE: van Buuren &amp; Groothuis-Oudshoorn (2011); UMAP: McInnes et al. (2018); HDBSCAN: Campello et al. (2013)</a:t>
            </a:r>
          </a:p>
        </p:txBody>
      </p:sp>
    </p:spTree>
    <p:extLst>
      <p:ext uri="{BB962C8B-B14F-4D97-AF65-F5344CB8AC3E}">
        <p14:creationId xmlns:p14="http://schemas.microsoft.com/office/powerpoint/2010/main" val="12508794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901C03-7C64-444E-95D4-0A25E5FA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8BE8A-A498-4012-AD0F-61D8F005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50B63-9D83-4104-95F1-FF3BF1D0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Missingness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9ECDE-4849-454D-8C84-EECAF2FE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87733-86F9-43DB-BDA7-F66C8300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2229E-BFC1-4D18-ACB6-4E63074E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Missingness is structured, not incidental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7B214-9BA8-433D-AAF6-E4D7A443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Specialised assessments have higher missingness than routine screening tests.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D399D-69E6-4B44-BF42-76F46354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697d4f78c41bf"/>
          <a:stretch xmlns:a="http://schemas.openxmlformats.org/drawingml/2006/main"/>
        </p:blipFill>
        <p:spPr>
          <a:xfrm xmlns:a="http://schemas.openxmlformats.org/drawingml/2006/main">
            <a:off x="723900" y="2483773"/>
            <a:ext cx="5924550" cy="293820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05A7F-478A-46A0-812C-6A695693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What to take 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7E655-66E8-4E46-BF02-BB32A3B2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3E6CE-FCC4-4850-8F03-A29A524B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432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Only 53.1% of rows are complete.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1620C-750B-465F-BF90-41D484C5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A19C3-179F-49A0-9AA0-9D706B14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Missingness is tied to the clinical testing process.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681A7-9E6C-4FA2-A759-7470DF93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BA60B-782A-4231-BB53-6D0764EF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Imputation preserves impaired and partially tested patients.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AD3E6-5FC5-450B-9069-1CBACF95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0D56F-FC54-48B1-927B-1E90933C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434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Complete-case analysis would remove 47% of the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2B73F-871A-4A8D-BA34-3CBE423E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Eligible neuropsychological variables after Tier 1 filtering</a:t>
            </a:r>
          </a:p>
        </p:txBody>
      </p:sp>
    </p:spTree>
    <p:extLst>
      <p:ext uri="{BB962C8B-B14F-4D97-AF65-F5344CB8AC3E}">
        <p14:creationId xmlns:p14="http://schemas.microsoft.com/office/powerpoint/2010/main" val="4279922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70DC6E-5EA7-4172-8ADD-EC9EB894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0EB8D-C006-4883-88E9-91672DC1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C020D-18EC-45EF-8B71-887AB4DD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Imputation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FB370-77AB-4C33-818A-58EF75CB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38C2E-40E7-490E-8423-954A73FD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BF782-3E55-4585-BDF5-274948D4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Ten imputation methods across five categories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A3D46-693B-419F-8F3E-2DD2047E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standard taxonomy is extended with deep-learning imputers.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11C47-8608-40D0-803C-0B055849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9525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CD7C2-491B-4E21-88F5-6A0A055D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9525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FAF4E-E53D-44B5-BFC0-D4A5A973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33350" tIns="95250" rIns="9525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6C2D3-6E5E-49FD-9941-430A12CA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Conventional statistical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B85E7-FE84-4C4D-9978-49578FCA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Mean · EM · MICE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C80F6-5C3B-4EE2-BB70-309FD322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distributional / chained equations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E7B73-2FBE-4A5A-B53D-622D5EF0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Machine 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B2859-73C6-4092-9B7E-833E1950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908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KNN · MissForest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48FD9-A876-46CD-8384-FC220542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non-parametric, non-linear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2EC37-7DDC-4916-82F1-68FD5354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Hybrid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5B8A2-D5EA-45FF-BF8E-43B14C25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814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PMM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6030F-F99A-42B4-A043-97118FDA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14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draws real donor values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D9622-8320-4ADE-8620-3CFBA84B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Matrix completion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51D26-21C1-447E-8E74-71341812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SoftImpute · NMF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445A9-42C7-4B57-B617-7AADE7CB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low-rank reconstruction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6ABAF-78FC-40D2-B221-DC2F62AB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83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8354"/>
                </a:solidFill>
                <a:latin typeface="Aptos"/>
                <a:ea typeface="Aptos"/>
                <a:cs typeface="Aptos"/>
              </a:rPr>
              <a:t>Deep 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EEC143-D45D-496A-8F72-64F19E3C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625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DAE · VAE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BDCD7F-F501-442B-918A-0BC01E7A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33350" tIns="133350" rIns="95250" bIns="952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learn non-linear latent structure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58B5C-4755-4920-BFD8-E6D05FAC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 methods × 2 representations = 20 pipeline runs. DAE/VAE detail in Appendix B.</a:t>
            </a:r>
          </a:p>
        </p:txBody>
      </p:sp>
    </p:spTree>
    <p:extLst>
      <p:ext uri="{BB962C8B-B14F-4D97-AF65-F5344CB8AC3E}">
        <p14:creationId xmlns:p14="http://schemas.microsoft.com/office/powerpoint/2010/main" val="13689835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660C2-79AA-4790-8217-5D1744EA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B2A42-DD83-45AB-84A9-D07506BA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A8863-1F56-419A-BBB4-B4E903DA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Model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852F1-2B6D-4C3A-9F75-B7786F0D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90786-B8F8-4D9A-95CD-CECEC839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E604B-FA61-43C8-9E2E-2FDFD5CD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A 1,080-configuration sweep selects clusters by one quality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76C81-8E29-4D02-8739-3941A307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hand-tuning.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A4004-7165-4A50-886F-42BA83FA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Imputed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15B09-AF4B-489B-BC72-66BD9FB4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333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1BDCB-356F-4FBB-BFA3-F8F60772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669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Standard scaler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1FB1B-43F9-4933-AD11-3F607E0D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333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550DE-6DFE-4355-8ECB-BB2422BB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UMAP</a:t>
            </a:r>
          </a:p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9 configs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4FAAA-30A5-4EC5-A0D0-282E9F25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333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6CDEE-ABF5-4034-9EEA-5F49586A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HDBSCAN</a:t>
            </a:r>
          </a:p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120 configs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15404-494B-4872-8560-864DD180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333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C676E-5FD7-4BC0-BC8D-6E6E06CF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669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Best-Q</a:t>
            </a:r>
          </a:p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111B3-AE2C-446C-B383-9F20338B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UMAP grid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DC07E-EFD6-41F3-A467-812D0817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92BC0-21E3-4F84-8296-C8C4A634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386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n_neighbors: 15, 30,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12112-8D56-4141-9569-6129D7C3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B105B-2B51-427A-B1BF-1DD24957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386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n_components: 3, 5,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CAA20-F512-425F-9742-50AC9199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12050-10A9-47F1-AF47-BB2B9982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386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min_dist: 0.0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68252-29CA-417F-844F-C1B61601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HDBSCAN grid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B6F6F-026C-46D8-A99F-57841BDA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6C0FCA-38AA-4FF5-90A6-D7783819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453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min_cluster_size: 500-3000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F9386-0BAB-463F-90D9-E2223958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F8DCFC-CAD8-40B2-8A46-F42A98E3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53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min_samples: 5, 10, 25, 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6C6D47-59D3-46F2-8B5F-A9A869B4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57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2B672B-D367-4AD1-8343-41B0A1BE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453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method: eom / leaf · ε: 0.0, 0.1, 0.5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953384-6A0D-468E-984B-3EFE319C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150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Q = Silhouette × (1 - noise proportion)</a:t>
            </a:r>
          </a:p>
        </p:txBody>
      </p:sp>
    </p:spTree>
    <p:extLst>
      <p:ext uri="{BB962C8B-B14F-4D97-AF65-F5344CB8AC3E}">
        <p14:creationId xmlns:p14="http://schemas.microsoft.com/office/powerpoint/2010/main" val="6279976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29BC0D-3774-423E-B4E8-EBB616B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C3C71-A2EF-41CE-9B28-17F1EC75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0AFC5-BEFC-46E9-8027-F3D74DD2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Imputation isolation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47DB4-9DBA-4EBA-88AB-E6013EF4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699D8-01DB-47F4-B262-5DFA13DE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1CDAF-7411-4FE2-97AD-DCE312DE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For H2, a shared pipeline isolates imputation as the only varied factor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EBAEA-469D-4714-B9E2-672B4E2A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66EFF-B576-4095-B934-B878AD4B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21A05-315E-49E4-A04E-37F7A3D6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FEA0C-822C-48CE-B7FF-EA342921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1A10E-9CE4-4540-A521-E82D2FC0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90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Fit StandardScaler on MICE → transform every other method.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9D850-7DD7-411C-A7E8-44284824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ADEC8-7882-4631-AE25-30618A7E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E2668-552A-4E4E-BD7F-DE656E51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800DA-A57B-4917-9B74-40508AD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5F71F-9DA1-41ED-9235-11ABA3B2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099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Fit UMAP on MICE → transform every other method.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5E7DF-F8EC-48C3-A930-2893039D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5D0D2-5F0E-40CD-8890-6C59C5EF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9351D-E719-4233-A226-6E704B30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A52B7-2CA4-4599-B0CB-36FE29A5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19C68-D33E-4395-866F-51B9A4FB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290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Fit K-Means on the MICE embedding → predict all others.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3ECEC-6CAA-415A-BC1B-456B84BC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28600" tIns="152400" rIns="228600" bIns="1524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Same k, same boundaries, same embedding geometry. The only thing that changes between runs is the imputed values themselves.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5F03DA-5DF0-4093-BCF8-2D656B77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HDBSCAN labels are kept for H1/H3/H4; K-Means labels are used only for the H2 concordance test.</a:t>
            </a:r>
          </a:p>
        </p:txBody>
      </p:sp>
    </p:spTree>
    <p:extLst>
      <p:ext uri="{BB962C8B-B14F-4D97-AF65-F5344CB8AC3E}">
        <p14:creationId xmlns:p14="http://schemas.microsoft.com/office/powerpoint/2010/main" val="18957015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875363-9C9C-43E0-AC43-8E36A498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966CF-A4F4-48A4-A085-15A4E149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0D214-C944-4D5A-9CB9-C5D8FE9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1F543-B2DC-42ED-B968-B6E0AFAB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93465-12D6-40AA-856F-7282D6CA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5473B-BFFA-4A79-B733-184CDDC4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Part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25E56-4A49-4D97-90E8-5B1A1C4F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781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D6A32-29EF-4B22-9AB0-43AD3C19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C1E4D-EDAB-44C1-8E83-2740CB92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548519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521FE6-2D29-413C-A646-AD8B14C7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10096-79DA-4CF9-85D0-726CB266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534E2-ACC8-4944-A1FA-B2B3E546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13522-C2D9-40E6-B824-EE3B8116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E6C0C-1E1A-4BCF-8A93-1A588FC1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CD9E1-5E84-4FB2-A4BD-920381D9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Three cognitive severity tiers emerge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98C36-262C-49EE-B933-4F0D8FD5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gradient, not dissociated phenotypes.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FA38C-C9C3-48C8-B38F-E2F127BE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C8FB3-9EF4-4CFC-83F0-06B3E71D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43D18-796D-4CD4-8ED3-6562F7B3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6,725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D7FA4-4869-46A5-842D-7198A586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Above-Average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above cohort mean on all domains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F9E70-C5F4-47E4-BAAB-93DCD091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145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F0336-32C1-4BC6-987E-9430E6CF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14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D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5D80D-C035-4983-987F-3CA073C9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288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6,328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F72B6-DEE8-46F5-B281-ECC60704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Near-Normal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near the cohort average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2384A-48FF-4B3A-A5C8-55C20A8D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145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5393B-8F4C-41AA-9489-CA60FF0F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14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0CCAC-1FA8-444D-9939-F11D8C97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83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F8354"/>
                </a:solidFill>
                <a:latin typeface="Aptos"/>
                <a:ea typeface="Aptos"/>
                <a:cs typeface="Aptos"/>
              </a:rPr>
              <a:t>4,353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0BAF6-2BA5-49B8-991C-F8377680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098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Global Impairment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below cohort mean on all domains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E4DD31-A6E5-4DB0-93D7-BFFDC2DA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AD720-F092-438B-A152-3646B634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862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All 10 imputation methods clear the thresholds.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2A130-E2D9-414B-95B7-B3BC30B1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1A629-82AE-46F5-A5E6-502291E1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862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MICE reference: silhouette 0.53, k = 3.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2809F-D9B0-4424-9FCE-A9554238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1C974-ACEC-4C01-AE0C-F9A1B096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862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One severity axis explains 56% of variance.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5EB93-B91C-429B-8B6B-D2ECA3F5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CBA4F2-0378-4BE4-B8FA-5956AAE5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862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Core Jaccard 0.63 / 0.62 for the extreme tiers.</a:t>
            </a:r>
          </a:p>
        </p:txBody>
      </p:sp>
    </p:spTree>
    <p:extLst>
      <p:ext uri="{BB962C8B-B14F-4D97-AF65-F5344CB8AC3E}">
        <p14:creationId xmlns:p14="http://schemas.microsoft.com/office/powerpoint/2010/main" val="867749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E0DEC-AB18-415B-A241-6C4D0BE3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A0234-3807-486C-B3A5-B6EB48FE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72A36-A788-4F54-A2D5-C13C6036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H1 profile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1F33B-3102-4431-9338-1D8E6715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C1382-327A-4E26-8EAF-C2EEBF76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AD263-6F42-4B6D-8FA3-C04894EB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The three tiers are nearly concentric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C686B-D2DB-418D-9164-2E826DA9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Domains move together; the signal is general severity.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B7873-8CF3-4527-B166-7A7BF1A9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bb0a65369403a"/>
          <a:stretch xmlns:a="http://schemas.openxmlformats.org/drawingml/2006/main"/>
        </p:blipFill>
        <p:spPr>
          <a:xfrm xmlns:a="http://schemas.openxmlformats.org/drawingml/2006/main">
            <a:off x="723900" y="2640651"/>
            <a:ext cx="5924550" cy="262444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F7C46-83A0-48E0-AE04-6059DFFA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What to take 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BC1FE-DCFB-4904-BC1E-BBA4543E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DDB31-51BE-4D59-B9D6-B7A361C3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432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Tiers differ in overall level, not profile shape.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1E978-123B-4FBC-AA72-DE26A316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8E3E4-8CA7-45C9-9E5A-2470236C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PC1 explains 56% of variance with near-equal positive loadings.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E5E48-BC42-411A-8013-4F67ABE7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DBFDD-4B51-418F-BD99-46569489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No attention-specific dissociation appears after proper scaling.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7A1D8-9387-42CE-8BA3-751D627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Domain z-scores from the MICE solution; n = 17,406</a:t>
            </a:r>
          </a:p>
        </p:txBody>
      </p:sp>
    </p:spTree>
    <p:extLst>
      <p:ext uri="{BB962C8B-B14F-4D97-AF65-F5344CB8AC3E}">
        <p14:creationId xmlns:p14="http://schemas.microsoft.com/office/powerpoint/2010/main" val="9039898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BDC09-0947-450D-94FC-E155F0F9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59627-8CA2-4C0D-A795-EC28967C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21B1B-9BBD-4BF2-869D-DE5E4897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H2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66630-9742-4D08-A8A7-3BDBB764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271B3-4FC6-487F-AF8A-2DD57FDA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ACAE5-2E6D-4649-B376-9C18444A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The severity tiers are robust to imputation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8855D-F309-4804-B5E8-58C0DCEF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Every method pair agrees above the pre-registered threshold.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16C8F-5C3A-4AC4-865C-98A88B47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8d0b8fbad4337"/>
          <a:stretch xmlns:a="http://schemas.openxmlformats.org/drawingml/2006/main"/>
        </p:blipFill>
        <p:spPr>
          <a:xfrm xmlns:a="http://schemas.openxmlformats.org/drawingml/2006/main">
            <a:off x="723900" y="2673778"/>
            <a:ext cx="5924550" cy="255819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B6371-4D6D-4599-BA42-5665537C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What to take 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FEC11-876B-4DED-8E13-CA1C4B7E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1BD9C-D04B-43F8-9066-30321F6E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432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Mean pairwise ARI = 0.71 [95% CI 0.70-0.72].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A5659-0078-4CCA-BBBE-37724EC8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798BE-7761-440F-8008-49E1AFFB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44 of 45 method pairs pass after Holm correction.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28CBC-C673-47D7-8FF3-76D9009E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5BC91-DC65-4273-BA3F-BED9523B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86% of patients receive a high-confidence consensus label.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729A4-8BA3-459F-9841-D3AEF002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FA564-B02B-49EB-A252-367D481B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434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Practical guidance: MICE is a safe default.</a:t>
            </a:r>
          </a:p>
        </p:txBody>
      </p:sp>
    </p:spTree>
    <p:extLst>
      <p:ext uri="{BB962C8B-B14F-4D97-AF65-F5344CB8AC3E}">
        <p14:creationId xmlns:p14="http://schemas.microsoft.com/office/powerpoint/2010/main" val="7621309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732CC0-220B-46AF-9434-5E984836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82D0E-952E-4717-853D-FCF7BB67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7CE2C-259F-41D3-882D-03EF3BBB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Complete-case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AC9E2-C659-4F16-950C-762E44D1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EBF14-C2EC-405E-93DE-FDDE6628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57436-BDDF-4B67-B508-D5F01D91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Imputation is not cosmetic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0D446-B319-4E95-A5D1-5FF12C61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Discarding incomplete rows changes the cluster structure itself.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8607A-2E87-4B47-A0E7-267D04FB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complete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AE92C-5719-416A-97A8-46F6B131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764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DCF4B-D891-4E61-B9C7-7062DC6D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76475"/>
            <a:ext cx="206978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C07D1-E445-4DB0-8086-3D58FA70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53%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09534-BD67-44EF-BDAD-D93D7F77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imputed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2A0E9-52F5-4A51-8F29-0C7F7B83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432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BCEB1-771F-41B4-AE12-3A7B88AE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432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D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30058-062F-4953-9B8B-9CB5B41C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0512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A4CE1-2E4B-4303-A5EF-7C866D05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listwise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33D1F-01CA-48CF-A030-B12CCFF1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099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3C8E3-6CA3-4A8D-AE2C-104F88B6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09975"/>
            <a:ext cx="101536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1C663-A5F9-425E-A69C-8CCBF7A7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7187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266F6-304A-44D7-890B-867BDCE1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MICE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E0931-6E60-4CF7-8B2C-DA763A34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767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05C45-C9DB-4DAA-B062-29A01CC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76725"/>
            <a:ext cx="206978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D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57449-B0B0-4F3F-904A-038BB952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3862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53%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150A0-0FD7-4E78-AEFE-01CC366C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66753-5C75-4396-8EB9-93E114F6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009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Listwise deletion keeps only 53% of rows.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A14DBB-00CC-4FAA-BF32-05379FA7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DB78A7-C993-4A04-A6B8-767CF85F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3009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It returns 2 clusters with silhouette 0.26 vs. 3 tiers with 0.53 under MICE.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344A6A-4256-4774-9DC7-D688D4A5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A3CD1A-E792-4667-BBFF-490674E0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3009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ARI vs. MICE = 0.63: a different partition, not a subset.</a:t>
            </a:r>
          </a:p>
        </p:txBody>
      </p:sp>
    </p:spTree>
    <p:extLst>
      <p:ext uri="{BB962C8B-B14F-4D97-AF65-F5344CB8AC3E}">
        <p14:creationId xmlns:p14="http://schemas.microsoft.com/office/powerpoint/2010/main" val="194608013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C486FF-C1A9-49C7-858A-EEDD5A61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17F7D-53A5-420F-B22A-1B9C68DD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674EB-370C-45F9-987C-93E1E63F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A2E8D-06F8-4995-85CA-35DFB240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ECF14-6A29-4BEB-BDD5-7D3ADFC1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86CBD-6B71-4E67-80DE-9FE97F62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Severity tier tracks the treating clinical 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9E33C-F05D-4F5D-9651-6688CDEC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link survives adjustment for diagnosis.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34D1D-E94B-414D-859C-40456C11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905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7E20E-755B-4036-A5E9-A62128D5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7404F-9B08-4BD8-8A79-AD5829E5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χ² = 911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941B9-0DA3-4F1B-9A70-E8BDCB3B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association with clinical unit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 ≈ 10^-156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8D39C-5B6D-4A8D-8E15-B4F66034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2905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AC14A-316B-4F71-9EC1-0C6F02BA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D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1842C-3637-4DC5-A376-12858210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098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V = 0.16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EF7A0-B74E-48E0-A6FA-38307188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90800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Cramér's V effect size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above the 0.10 bar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DB855-E1AB-497E-A8E7-7E3AE816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2905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333A5-3E28-4590-AD8D-12883542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8BCAC-E215-4B21-A22E-226FEFB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83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F8354"/>
                </a:solidFill>
                <a:latin typeface="Aptos"/>
                <a:ea typeface="Aptos"/>
                <a:cs typeface="Aptos"/>
              </a:rPr>
              <a:t>not confounded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1C7D8-1A0F-4DC2-B103-DA29F133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Cochran-Mantel-Haenszel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holds within diagnosis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58D47-FC00-409C-B51C-34006341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09550" tIns="133350" rIns="209550" bIns="1333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Severity tier adds explanatory power beyond the diagnostic label, supporting severity-informed routing of patients.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F24CB-6DEB-44FC-B33C-402FC8CB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Cramér's V: Cramér (1946); CMH: Cochran (1954). Rubin-pooled V = 0.15</a:t>
            </a:r>
          </a:p>
        </p:txBody>
      </p:sp>
    </p:spTree>
    <p:extLst>
      <p:ext uri="{BB962C8B-B14F-4D97-AF65-F5344CB8AC3E}">
        <p14:creationId xmlns:p14="http://schemas.microsoft.com/office/powerpoint/2010/main" val="209571592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CDEB6-0D40-4875-B244-6D67CF14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CE718-E227-419E-923C-C18BB9BD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96D24-655C-4DE6-80B6-C8CD9F5E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H4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23BCC-E127-4B6F-AFBC-A154494D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C20A5-CCC0-42D9-A45D-A137A723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B7779-709D-4788-BA8C-7EBF7E30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Six domains beat fourteen raw tests on all three quality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D75C4-4BD3-4F95-A5C3-61CD5E61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Comparable separation, far better numerical conditioning.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867E3-6276-408B-B4BE-CFBE1C79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27a91c40c48cb"/>
          <a:stretch xmlns:a="http://schemas.openxmlformats.org/drawingml/2006/main"/>
        </p:blipFill>
        <p:spPr>
          <a:xfrm xmlns:a="http://schemas.openxmlformats.org/drawingml/2006/main">
            <a:off x="723900" y="3075164"/>
            <a:ext cx="5924550" cy="175542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DB9F9-C7C1-4A75-A6C6-589525A9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What to take 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BD6B6-4832-4BB9-A650-297FFF67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E4DA9-E92A-45BF-B0B2-A3F18B2E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432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Comparable separation: silhouette 0.48 vs. 0.47.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F1027-9B96-4AEB-AFCB-5E07AEF2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CA7F8-12D7-412F-ACB8-0E4B609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Lower multicollinearity: VIF 1.9 vs. 2.8.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1B08B-409E-4FE8-89FC-1FDB47AC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708FA-A5E9-4F02-874B-7F406B4C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Better conditioning: 12 vs. 62.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E1784-F8C8-40C7-828C-CAA73889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D60337-D652-4855-8145-5D902BEB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434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More interpretable: clinicians reason in domains.</a:t>
            </a:r>
          </a:p>
        </p:txBody>
      </p:sp>
    </p:spTree>
    <p:extLst>
      <p:ext uri="{BB962C8B-B14F-4D97-AF65-F5344CB8AC3E}">
        <p14:creationId xmlns:p14="http://schemas.microsoft.com/office/powerpoint/2010/main" val="120586753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395962-DD04-48F8-89EC-AAD30B78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CD12B-EDDA-4AAE-AC3B-F961960B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1070E-2CC2-4E14-8585-A2FE7D01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Hypothesis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84EAA-154C-43FC-AAD0-875D14C9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C9C08-A471-4A0C-86CF-8A9AA552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B30D7-91B3-40C3-9DC0-EFA1455F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All four pre-registered hypotheses are supported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A44F3-34DE-4745-844B-5E01FB5F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76200" bIns="762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49A00-0042-4274-99B1-E3437B2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00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7010E-9F43-43F4-A2DC-1F41F3D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EA9F7-2085-426E-97B3-767032A1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3EF5B-062F-48FA-A87D-E809C4B2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H1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E1E66-F04B-4272-96AF-E76EC666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003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Discrete, stable clusters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D9A28-148F-4847-9FBB-D97A7487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08593-DC2F-4177-BFFF-47868BE8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0030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10/10 methods pass thresholds; 3 tiers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F5DF5-8D0C-430D-8608-48268E7B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H2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BC23C-C237-42D2-8189-8A63B5A6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670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Imputation robustness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1ECAC-05E6-446B-9114-9ACA00D9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20C20-ACB2-43A4-AD9E-6F5F1F96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6705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Mean ARI 0.71; 44/45 pairs survive Holm correction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AC2A3-9D9F-4C0C-8862-7BD723FB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H3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B60FC-1562-4219-8B47-C5207D20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338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Clinical-unit link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4A079-CC6F-48BD-84E7-34838FE8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8C3FB-3F22-4A1C-98F2-36EECFAF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3380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χ² = 911, V = 0.16, CMH not confounded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41065-1FE2-4717-8120-F8C1B144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H4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C346E9-4424-4D5E-8AFA-D2FC217D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Domain vs. variable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BC15BA-3903-496C-A18D-B7501ECE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B9EE8-9B03-41A2-99E2-F5A7C723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0055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133350" rIns="7620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Domain wins silhouette, VIF and condition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F62181-6E53-484C-8047-4FA6F522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Robustness: bootstrap 95% CIs, Holm correction, Rubin pooling (M = 5), and listwise-deletion baseline.</a:t>
            </a:r>
          </a:p>
        </p:txBody>
      </p:sp>
    </p:spTree>
    <p:extLst>
      <p:ext uri="{BB962C8B-B14F-4D97-AF65-F5344CB8AC3E}">
        <p14:creationId xmlns:p14="http://schemas.microsoft.com/office/powerpoint/2010/main" val="27775010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C9E6D-D535-4A83-A33E-45493E7D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28676-85F0-487B-84FB-8786B404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C0340-B7BA-49BC-8C2E-39062BAB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6DE62-D1CD-4EF7-B596-6B1622A5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07F22-9E91-4C6F-A320-363F7E64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E1950-F732-47AB-912E-308C177A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Part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EA9FC-A37E-4B39-A9E2-89DB6EB1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781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Discussion &amp; Conclusions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DE010-652B-41C9-AFAD-339E9FD1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B84FD-DF0E-457A-BC9A-BDAA99E7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7400565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E4CF1D-60A1-465B-84AF-CB1E319D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8D2A4-3D88-44AC-8100-8AF14090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B0641-4EC8-43B7-A256-E21C959B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5781D-6391-49C2-96A7-77EA4DAE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961F8-F78D-4310-970B-DCA834CF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1845A-33FE-4C2C-8B26-AC4E609C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A severity gradient, and a cautionary tale about preprocessing artefacts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28AC7-CCCA-4994-AD73-A89B9AA1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E6538-44FF-4F16-A988-5B2E59FD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624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Cognition after ABI is dominated by a general-severity factor.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8C9AE-0E1A-4AC7-8E42-DAE654CD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E83E2-ACEF-4B5E-860B-9B016221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624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 data-driven method rediscovers severity before it finds anything domain-specific.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DDCAC-0419-4D93-8A8B-17DB2D4A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DEE25-C077-4125-A161-2533F2F3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624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The apparent attention phenotype dissolved once a mis-scaled demographic was removed and variables were properly standardised.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305EF-6944-42A1-8E19-F48BFE97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276EA-0F25-4B48-87F7-2FE4D24A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624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Contribution: a reproducible severity-stratification pipeline and a worked demonstration of how scaling artefacts masquerade as structure.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3C5BE-9D90-44BA-936F-AC999DCC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severity axis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PC1 = 56%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Tiers = bands of the same gradient</a:t>
            </a:r>
          </a:p>
        </p:txBody>
      </p:sp>
    </p:spTree>
    <p:extLst>
      <p:ext uri="{BB962C8B-B14F-4D97-AF65-F5344CB8AC3E}">
        <p14:creationId xmlns:p14="http://schemas.microsoft.com/office/powerpoint/2010/main" val="12657231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09AD9C-6855-49A4-A04F-A4DBDC1F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BA4FE-9499-4835-95C1-034311B9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6FC73-217B-472E-B81D-6A6EAF82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Clinical translation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638A1-81BD-45C0-AB14-D02C15A8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7B861-F614-4E55-B9F9-82735FBC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6F751-718E-437A-9EAD-84D47265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Severity tiers translate into matching rehabilitation intensity to level of 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FEDFF-D068-46D5-989A-767BF26D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For the clinic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60C16-8294-4568-8E2E-6179C792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27D74-B04B-438B-9673-297BD29E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Above-Average → vocational rehabilitation and community-return planning.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EDF69-506A-4C10-AE18-381F5F3C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777AE-F3CC-4024-B8F3-1CB49014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Global Impairment → intensive, structured, lower-level rehabilitation.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FFDD0-9CB8-45D9-B2B0-ADCAE546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403A5-A48C-4BC4-87E2-F098C6B5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Report each assignment with its confidence, not as a hard label.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6214E-B179-4E21-B6B1-8473BE6F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For the analyst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C68FC-97EB-47BE-8403-1A8CB93E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7659E-8CDD-43C8-8F1B-BAE9D2ED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Standardise and screen features before aggregating.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E8855-FBC3-4CFF-86AE-0D38EC02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C7C9F-A4B2-463B-A521-E7F684FE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Use MICE as the default; test sensitivity with ≥ 2 imputation methods.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E226E-F1A1-4BAB-BF3F-088802F3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C6DBE-A5AC-45DA-8D9E-E926DACD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Cluster on domain-level features, not raw tests.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E1816-FF68-444B-8A28-718D565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framework, two audiences: a reproducible severity signal for the bedside and careful defaults for the next analysis.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8C033-C4FD-4A58-AC24-98BF3931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One framework, two audiences: a reproducible severity signal for the bedside and careful defaults for the next analysis.</a:t>
            </a:r>
          </a:p>
        </p:txBody>
      </p:sp>
    </p:spTree>
    <p:extLst>
      <p:ext uri="{BB962C8B-B14F-4D97-AF65-F5344CB8AC3E}">
        <p14:creationId xmlns:p14="http://schemas.microsoft.com/office/powerpoint/2010/main" val="57999550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D64A5-2191-43A0-8A84-121FEFD0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0745F-47E9-4256-9143-9FF6B2F3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6855A-9815-4403-9431-1BD97D3A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CogDash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B3E5E-BB5F-4BC3-8785-326EA61E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B7B80-660E-46E3-875F-81C810F3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1323E-DEA2-4FE7-BB28-141C2CC9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Phenotypes power CogDash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DA506-553C-46E6-B3A3-C4AD66C5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Decision support that classifies a new patient and reports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1CA12-4FCA-4A49-B3F7-E6C43B6A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3714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a6cc9f75a4366"/>
          <a:stretch xmlns:a="http://schemas.openxmlformats.org/drawingml/2006/main"/>
        </p:blipFill>
        <p:spPr>
          <a:xfrm xmlns:a="http://schemas.openxmlformats.org/drawingml/2006/main">
            <a:off x="3562350" y="2570931"/>
            <a:ext cx="3448050" cy="169708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B97BD-1437-49BF-B5F2-799AC542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3714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3df7aa4c141f4"/>
          <a:stretch xmlns:a="http://schemas.openxmlformats.org/drawingml/2006/main"/>
        </p:blipFill>
        <p:spPr>
          <a:xfrm xmlns:a="http://schemas.openxmlformats.org/drawingml/2006/main">
            <a:off x="7372350" y="2570931"/>
            <a:ext cx="3448050" cy="169708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F5C98-16BB-44F2-89C2-950F303A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Built for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C13DA-BD6D-47CE-B4CE-7FA718BB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98DB4-22FE-4EE7-90ED-E05F4D5A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8 modules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7E4F8-9390-47EE-A5CE-1D4DD0FC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6F410-DC8A-46C3-ABBF-C98B8B89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Streamlit + Plotly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0AAB0-3741-4428-BB88-8F0EB973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001C2-F722-4048-A39A-DC47D4C8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Colour-blind-safe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D0F38-7F9A-4287-818E-37EB2473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627B6-2D22-47B3-BBA4-D2A8270D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Docker-packaged</a:t>
            </a:r>
          </a:p>
        </p:txBody>
      </p:sp>
    </p:spTree>
    <p:extLst>
      <p:ext uri="{BB962C8B-B14F-4D97-AF65-F5344CB8AC3E}">
        <p14:creationId xmlns:p14="http://schemas.microsoft.com/office/powerpoint/2010/main" val="196937923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38BFA3-3A1E-4BC9-A09A-FA2DBEF1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B5DCF-35B2-45E4-A6EB-D2D2BF73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ABE72-A793-47D2-A136-6A9216F2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7D66C-D80C-41CA-B7E1-3B013584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E67F5-2752-4517-8F71-4FB9B403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CD825-252C-471A-A87B-5B3BB27A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Main limitations are design constraints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E11B9-CC8F-4898-8771-5EC49E3A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Partly offset by built-in sensitivity analyses.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E3500-1F30-425D-B037-E1E1FE7B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87C1-0BD7-47C1-9F02-170871B1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Single centre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F2AB4-4915-48F9-A077-6C795EFD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standard international test battery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E6CC7-8762-4A36-A3B5-41F3A6A0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9930D-D38E-4D32-94CA-8B3561A5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Cross-sectional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BCBD6-82F9-4C7C-9150-B72D5096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multiple assessments span the recovery continuum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4862F-A49E-4622-AC9E-7126F542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F888D-5718-426D-9987-3310EE25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MAR assumption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F650C-94F2-4961-8B77-C903E2DA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 methods, Rubin pooling, listwise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4BE78-6641-4356-95F9-FCF6E169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BD71A-BF6E-4839-B20C-E738897B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No functional outcomes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F6C15-483B-417B-AA69-8F969F5E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only outcome-adjacent proxies available</a:t>
            </a:r>
          </a:p>
        </p:txBody>
      </p:sp>
    </p:spTree>
    <p:extLst>
      <p:ext uri="{BB962C8B-B14F-4D97-AF65-F5344CB8AC3E}">
        <p14:creationId xmlns:p14="http://schemas.microsoft.com/office/powerpoint/2010/main" val="203293193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463D02-654D-4F18-9B9C-AF63C747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1FF92-6305-4285-9FD2-A279BC01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25303-3635-4B0F-B445-7D18B0AC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53225-60AA-4B3A-9702-E51F1981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8CAE4"/>
                </a:solidFill>
                <a:latin typeface="Aptos"/>
                <a:ea typeface="Aptos"/>
                <a:cs typeface="Aptos"/>
              </a:rPr>
              <a:t>Questions and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716EE-5796-4A3E-ABED-0743D05D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6CF7A-A7E5-49CA-B184-1CC89DA4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701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cognitive severity gradient in ABI: three tiers on a single severity axis.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C993D-23C7-4581-BEDB-8588B3AD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92697-717F-4211-9F2B-8838E330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701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Imputation is not cosmetic: listwise deletion changes the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DE976-125C-4FE4-A7CD-745AE233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821DB-D5F0-4FDC-949F-B0463323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701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Severity tier adds clinical value beyond diagnosis.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ED0C1-6E50-4DD2-9911-A18A350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E62DC-C78F-4549-8866-46719DDD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701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Preprocessing artefacts can masquerade as phenotypes unless features are scaled with care.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A72F6-A14F-4AD5-BD98-71F499F0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Contact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087D6-D9D4-41B1-805A-80E1497B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635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6F1F0-71F8-4A25-B02E-C74969BF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14B14-4668-411E-BEAC-D046BC1A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z.kunos@gmail.com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EC0A4-B21B-49DC-9BAD-11D4DB8F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0430D-442F-4DE3-A6FA-6670EFC4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635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ABED9-E514-4191-B4E5-457E62BB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BA462-990C-41FE-8AC3-931CAB4E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github.com/zkunos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70904B-9200-4821-8B47-0018E724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thesis_project · code &amp; 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27B23-D280-48DD-937A-D4FC2967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635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62409-1AB3-4B83-94E2-AF3D8389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DB91F1-549F-4134-9D91-504538EA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958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CogDash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8EA6D-BA9C-4D8D-8331-15318FAC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0065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dashboard + new-patient classifier</a:t>
            </a:r>
          </a:p>
        </p:txBody>
      </p:sp>
    </p:spTree>
    <p:extLst>
      <p:ext uri="{BB962C8B-B14F-4D97-AF65-F5344CB8AC3E}">
        <p14:creationId xmlns:p14="http://schemas.microsoft.com/office/powerpoint/2010/main" val="97816074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415F6C-1602-41C6-8B13-E870A2BE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E3E0A-334A-4BDA-88C3-6152C18B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78698-55D4-4947-BAB5-B18ABEFC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Thesis defence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871E5-7C8E-469E-925D-D0B6C74C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79FC0-1A86-4E98-9332-BF41E33E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B0712-3C0B-40B0-A463-988F93B3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2ECB1-8C87-406A-BDCD-4FEACF06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Afkanpour, M., et al. (2024). Identifying the best imputation methods for clinical data. BMC Medical Informatics and Decision Making.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BCD92-2E79-4D27-844E-75152128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Campello, R.J.G.B., Moulavi, D., &amp; Sander, J. (2013). Density-based clustering based on hierarchical density estimates (HDBSCAN). PAKDD.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ABCC7-BAE8-44C2-BB00-0585A964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Cramér, H. (1946). Mathematical Methods of Statistics. Princeton University Press.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E6083-1723-4309-8A5B-F84CF593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Hennig, C. (2007). Cluster-wise assessment of cluster stability. Computational Statistics &amp; Data Analysis, 52, 258-271.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42E34-08A6-4C90-B7CC-2FBC0C27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Hubert, L. &amp; Arabie, P. (1985). Comparing partitions. Journal of Classification, 2, 193-218.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349E2-4170-4B77-9E37-ECE50C54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Lezak, M.D., et al. (2012). Neuropsychological Assessment (5th ed.). Oxford University Press.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CE10E-C520-444C-9972-AA50CB91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McInnes, L., Healy, J., &amp; Melville, J. (2018). UMAP: Uniform Manifold Approximation and Projection. arXiv:1802.03426.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51017-2A61-4FA9-A652-F5142558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718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Rousseeuw, P.J. (1987). Silhouettes: a graphical aid to cluster interpretation. J. Computational &amp; Applied Mathematics, 20, 53-65.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1DE9D-D345-43A2-B077-0A81EF0F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529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Stekhoven, D.J. &amp; Bühlmann, P. (2012). MissForest: non-parametric missing value imputation. Bioinformatics, 28(1), 112-118.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FED8C-C81A-430E-B6BB-7CFDA341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339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van Buuren, S. &amp; Groothuis-Oudshoorn, K. (2011). mice: Multivariate Imputation by Chained Equations in R. J. Statistical Software, 45(3).</a:t>
            </a:r>
          </a:p>
        </p:txBody>
      </p:sp>
    </p:spTree>
    <p:extLst>
      <p:ext uri="{BB962C8B-B14F-4D97-AF65-F5344CB8AC3E}">
        <p14:creationId xmlns:p14="http://schemas.microsoft.com/office/powerpoint/2010/main" val="156189830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120D54-28EF-4ABF-A5B0-F77869EB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C396C-797C-4541-AFAB-A2453A43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57520-E783-41A6-8A79-DC2199E4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Appendix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6B56E-6FB7-4771-965B-59952E9A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E70A3-7327-4064-A7F0-D5062969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E96DE-F8C3-4DFF-B8B5-8BB87D76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Cluster quality is consistent across imputation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72B1D-648E-4AE1-81D6-E5BFEFD0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severity signal persists.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C6D03-95CC-42BA-90D8-FE4D8844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73031b71f47d1"/>
          <a:stretch xmlns:a="http://schemas.openxmlformats.org/drawingml/2006/main"/>
        </p:blipFill>
        <p:spPr>
          <a:xfrm xmlns:a="http://schemas.openxmlformats.org/drawingml/2006/main">
            <a:off x="723900" y="2908369"/>
            <a:ext cx="5924550" cy="20890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72F9D-B97C-4FC3-A344-4B08CE2F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What to take 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5C6E4-EAD5-44D3-AC8C-8EC7912E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87D93-4DBE-4011-9A25-B7F414C8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432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Silhouette is tight across methods.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FAA07-3736-4FAD-BCF8-0C4DF240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C4E11-EC9E-43FF-866B-D3A76643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MICE gives the reference 3-tier solution.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AABF9-81FE-4C6A-8BA8-1B10192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CD70E-D1E6-48B7-875E-10965C6C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3390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All ten methods clear the pre-registered thresholds.</a:t>
            </a:r>
          </a:p>
        </p:txBody>
      </p:sp>
    </p:spTree>
    <p:extLst>
      <p:ext uri="{BB962C8B-B14F-4D97-AF65-F5344CB8AC3E}">
        <p14:creationId xmlns:p14="http://schemas.microsoft.com/office/powerpoint/2010/main" val="175810179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9AEA00-B826-4309-B086-08B17EAB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7B5D9-9F3F-465E-B310-599F70CF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4E944-28A7-40A5-8239-F7A0FB98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Appendix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AFBCE-D3CA-4EBF-A2B3-749DDCA4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F4354-47C2-4161-ABE3-489F997A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A9699-F72C-45EA-A0C0-B303C1CF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Two targeted fixes make autoencoder imputation work on structured missingness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1EB85-72D0-40BD-8CB5-3B5EFC51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DAE — pattern-aware corruption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73471-1CEF-4D95-AE8E-3FC47456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BA0C7-C879-4F55-8435-57609389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Real missingness is structured.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32C77-0A6B-43CC-88F1-2491F1B8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144F1-854E-42FE-A5BE-1A340871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50% of training masks sampled from empirical co-occurrence.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133B7-1F34-4449-9FA7-85FEAFAD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12EC7-AA6B-41CB-AC80-CF4CFD9B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Architecture 15→128→64→32→...→15; 5 runs averaged.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FC77A-A892-441A-B76E-D6483FD8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VAE — cyclical β-annealing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D6E7A-E235-4155-AD87-75FD9898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A7DC0-8B78-40A8-8E95-94321B4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Fixed β causes posterior collapse.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55CD2-4CFF-4124-BB45-49938673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C8ACA-DD98-4C4A-A667-7E55D4F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β ramps 0→0.1 over 40-epoch cycles.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F8059-FBBB-4AC6-BE46-B248FA60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4FA94-4EC5-48F4-A5F1-B267CF58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Latent dim 32; K = 20 samples averaged.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F0382-AD42-4AF8-AD67-B1C8F483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Held-out 10% RMSE confirms DAE outperforms VAE on every variable.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BFF0E-76C6-4856-BAE0-520996E9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Held-out 10% RMSE confirms DAE outperforms VAE on every variable.</a:t>
            </a:r>
          </a:p>
        </p:txBody>
      </p:sp>
    </p:spTree>
    <p:extLst>
      <p:ext uri="{BB962C8B-B14F-4D97-AF65-F5344CB8AC3E}">
        <p14:creationId xmlns:p14="http://schemas.microsoft.com/office/powerpoint/2010/main" val="188382964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3F389-6835-44D6-8CE9-8BF6D874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392C8-D966-41EF-A412-B820CB47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6C302-426E-4104-B643-8B078F3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Appendix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47EF9-7A14-408A-8610-EF2E4E54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655AB-13F8-4677-B647-31953A6B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8FA0C-5B30-4830-8E2C-32CF9CA2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Every headline result was re-tested under stricter 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246F6-90BC-4250-8181-161800F6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Re-estimation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54B8E-EEFD-44B8-859B-8CE5B658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6D0D7-5B94-4C08-AACC-241F3338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Bootstrap 95% CIs: ARI [0.70, 0.72]; V [0.15, 0.18].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473E9-EF60-417F-9171-18D85648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DD58C-0AC7-4AAA-A8F5-A7824FA3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Holm correction over 45 H2 pairs: 44 survive.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DD391-05B0-4F5D-897A-7130756E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F2909-57CC-4E7F-9306-D19E769B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Rubin pooling (M = 5 MICE): conclusions unchanged.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3C3D1-00DF-4FB2-A877-705FD5E4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Baselines &amp; stability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41984-C08F-4D19-BF9A-D9B5D57D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03C1C-074F-45F9-B9CE-D69EA27B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Listwise baseline: 2 clusters, silhouette 0.26 vs. 0.53.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360A3-F620-4967-90D7-B02755A3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1C2B8-058E-4E46-9AC1-FD1E5150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50% of multi-assessment patients keep their tier; transitions move up 3:1.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2A7A8-E063-4496-9B41-85F2D656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C01A9-DE2C-45F6-99DF-C965CF75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34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Time-since-injury differs by tier: 214 / 188 / 172 days, p ≈ 10^-28.</a:t>
            </a:r>
          </a:p>
        </p:txBody>
      </p:sp>
    </p:spTree>
    <p:extLst>
      <p:ext uri="{BB962C8B-B14F-4D97-AF65-F5344CB8AC3E}">
        <p14:creationId xmlns:p14="http://schemas.microsoft.com/office/powerpoint/2010/main" val="1423312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2026-06-08T00:27:57.0390000Z</dcterms:created>
  <dcterms:modified xsi:type="dcterms:W3CDTF">2026-06-08T00:27:57.0390000Z</dcterms:modified>
</coreProperties>
</file>