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5f4bfb689c43da" /><Relationship Type="http://schemas.openxmlformats.org/officeDocument/2006/relationships/extended-properties" Target="/docProps/app.xml" Id="Re7e5c580f1ff46e0" /><Relationship Type="http://schemas.openxmlformats.org/officeDocument/2006/relationships/officeDocument" Target="/ppt/presentation.xml" Id="Red8af10ad46649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f163938a1a4c43"/>
  </p:sldMasterIdLst>
  <p:notesMasterIdLst>
    <p:notesMasterId xmlns:r="http://schemas.openxmlformats.org/officeDocument/2006/relationships" r:id="Rda779f17c0684321"/>
  </p:notesMasterIdLst>
  <p:sldIdLst>
    <p:sldId xmlns:r="http://schemas.openxmlformats.org/officeDocument/2006/relationships" id="256" r:id="R6b397fcd81f04be9"/>
    <p:sldId xmlns:r="http://schemas.openxmlformats.org/officeDocument/2006/relationships" id="257" r:id="Re61dc05a242c4a57"/>
    <p:sldId xmlns:r="http://schemas.openxmlformats.org/officeDocument/2006/relationships" id="258" r:id="R6d41244f529e41a8"/>
    <p:sldId xmlns:r="http://schemas.openxmlformats.org/officeDocument/2006/relationships" id="259" r:id="Rb5709e4ac9504696"/>
    <p:sldId xmlns:r="http://schemas.openxmlformats.org/officeDocument/2006/relationships" id="260" r:id="R8914fdb995754f12"/>
    <p:sldId xmlns:r="http://schemas.openxmlformats.org/officeDocument/2006/relationships" id="261" r:id="R2a9b050fb3d44a15"/>
    <p:sldId xmlns:r="http://schemas.openxmlformats.org/officeDocument/2006/relationships" id="262" r:id="R8d3d377dbb854a2c"/>
    <p:sldId xmlns:r="http://schemas.openxmlformats.org/officeDocument/2006/relationships" id="263" r:id="Rd18c5a63fd044dcb"/>
    <p:sldId xmlns:r="http://schemas.openxmlformats.org/officeDocument/2006/relationships" id="264" r:id="Rcc993512cbfc4cb9"/>
    <p:sldId xmlns:r="http://schemas.openxmlformats.org/officeDocument/2006/relationships" id="265" r:id="Ra56f027978c84708"/>
    <p:sldId xmlns:r="http://schemas.openxmlformats.org/officeDocument/2006/relationships" id="266" r:id="R7e51e609e1ef4f99"/>
    <p:sldId xmlns:r="http://schemas.openxmlformats.org/officeDocument/2006/relationships" id="267" r:id="Rd72941af63ef4ff2"/>
    <p:sldId xmlns:r="http://schemas.openxmlformats.org/officeDocument/2006/relationships" id="268" r:id="Rdf4da2107d3845cf"/>
    <p:sldId xmlns:r="http://schemas.openxmlformats.org/officeDocument/2006/relationships" id="269" r:id="Rc9bf4fd393984006"/>
    <p:sldId xmlns:r="http://schemas.openxmlformats.org/officeDocument/2006/relationships" id="270" r:id="Rb3a6e63299934f59"/>
    <p:sldId xmlns:r="http://schemas.openxmlformats.org/officeDocument/2006/relationships" id="271" r:id="R64d532bcab044808"/>
    <p:sldId xmlns:r="http://schemas.openxmlformats.org/officeDocument/2006/relationships" id="272" r:id="R94849e7fb81f4409"/>
    <p:sldId xmlns:r="http://schemas.openxmlformats.org/officeDocument/2006/relationships" id="273" r:id="R2c3ef621c984496f"/>
    <p:sldId xmlns:r="http://schemas.openxmlformats.org/officeDocument/2006/relationships" id="274" r:id="Ra14dc32917a84a81"/>
    <p:sldId xmlns:r="http://schemas.openxmlformats.org/officeDocument/2006/relationships" id="275" r:id="R927ba507b53148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9a4f06ee05496b" /><Relationship Type="http://schemas.openxmlformats.org/officeDocument/2006/relationships/slideMaster" Target="/ppt/slideMasters/slideMaster1.xml" Id="R2cf163938a1a4c43" /><Relationship Type="http://schemas.openxmlformats.org/officeDocument/2006/relationships/notesMaster" Target="/ppt/notesMasters/notesMaster1.xml" Id="Rda779f17c0684321" /><Relationship Type="http://schemas.openxmlformats.org/officeDocument/2006/relationships/presProps" Target="/ppt/presProps.xml" Id="R5bfc3b85ecd14691" /><Relationship Type="http://schemas.openxmlformats.org/officeDocument/2006/relationships/viewProps" Target="/ppt/viewProps.xml" Id="Rcfbf3b84a6644f53" /><Relationship Type="http://schemas.openxmlformats.org/officeDocument/2006/relationships/tableStyles" Target="/ppt/tableStyles.xml" Id="Rd72086f3b67748a4" /><Relationship Type="http://schemas.openxmlformats.org/officeDocument/2006/relationships/slide" Target="/ppt/slides/slide1.xml" Id="R6b397fcd81f04be9" /><Relationship Type="http://schemas.openxmlformats.org/officeDocument/2006/relationships/slide" Target="/ppt/slides/slide2.xml" Id="Re61dc05a242c4a57" /><Relationship Type="http://schemas.openxmlformats.org/officeDocument/2006/relationships/slide" Target="/ppt/slides/slide3.xml" Id="R6d41244f529e41a8" /><Relationship Type="http://schemas.openxmlformats.org/officeDocument/2006/relationships/slide" Target="/ppt/slides/slide4.xml" Id="Rb5709e4ac9504696" /><Relationship Type="http://schemas.openxmlformats.org/officeDocument/2006/relationships/slide" Target="/ppt/slides/slide5.xml" Id="R8914fdb995754f12" /><Relationship Type="http://schemas.openxmlformats.org/officeDocument/2006/relationships/slide" Target="/ppt/slides/slide6.xml" Id="R2a9b050fb3d44a15" /><Relationship Type="http://schemas.openxmlformats.org/officeDocument/2006/relationships/slide" Target="/ppt/slides/slide7.xml" Id="R8d3d377dbb854a2c" /><Relationship Type="http://schemas.openxmlformats.org/officeDocument/2006/relationships/slide" Target="/ppt/slides/slide8.xml" Id="Rd18c5a63fd044dcb" /><Relationship Type="http://schemas.openxmlformats.org/officeDocument/2006/relationships/slide" Target="/ppt/slides/slide9.xml" Id="Rcc993512cbfc4cb9" /><Relationship Type="http://schemas.openxmlformats.org/officeDocument/2006/relationships/slide" Target="/ppt/slides/slide10.xml" Id="Ra56f027978c84708" /><Relationship Type="http://schemas.openxmlformats.org/officeDocument/2006/relationships/slide" Target="/ppt/slides/slide11.xml" Id="R7e51e609e1ef4f99" /><Relationship Type="http://schemas.openxmlformats.org/officeDocument/2006/relationships/slide" Target="/ppt/slides/slide12.xml" Id="Rd72941af63ef4ff2" /><Relationship Type="http://schemas.openxmlformats.org/officeDocument/2006/relationships/slide" Target="/ppt/slides/slide13.xml" Id="Rdf4da2107d3845cf" /><Relationship Type="http://schemas.openxmlformats.org/officeDocument/2006/relationships/slide" Target="/ppt/slides/slide14.xml" Id="Rc9bf4fd393984006" /><Relationship Type="http://schemas.openxmlformats.org/officeDocument/2006/relationships/slide" Target="/ppt/slides/slide15.xml" Id="Rb3a6e63299934f59" /><Relationship Type="http://schemas.openxmlformats.org/officeDocument/2006/relationships/slide" Target="/ppt/slides/slide16.xml" Id="R64d532bcab044808" /><Relationship Type="http://schemas.openxmlformats.org/officeDocument/2006/relationships/slide" Target="/ppt/slides/slide17.xml" Id="R94849e7fb81f4409" /><Relationship Type="http://schemas.openxmlformats.org/officeDocument/2006/relationships/slide" Target="/ppt/slides/slide18.xml" Id="R2c3ef621c984496f" /><Relationship Type="http://schemas.openxmlformats.org/officeDocument/2006/relationships/slide" Target="/ppt/slides/slide19.xml" Id="Ra14dc32917a84a81" /><Relationship Type="http://schemas.openxmlformats.org/officeDocument/2006/relationships/slide" Target="/ppt/slides/slide20.xml" Id="R927ba507b53148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74c073e16749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2d34a257e4419b" /><Relationship Type="http://schemas.openxmlformats.org/officeDocument/2006/relationships/notesMaster" Target="/ppt/notesMasters/notesMaster1.xml" Id="Rf82429b735eb4b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089f1d53ac4f67" /><Relationship Type="http://schemas.openxmlformats.org/officeDocument/2006/relationships/notesMaster" Target="/ppt/notesMasters/notesMaster1.xml" Id="Ra5267fb6f2474a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c014d79e90416c" /><Relationship Type="http://schemas.openxmlformats.org/officeDocument/2006/relationships/notesMaster" Target="/ppt/notesMasters/notesMaster1.xml" Id="Rc4d2e0fc39e447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8eb29478064354" /><Relationship Type="http://schemas.openxmlformats.org/officeDocument/2006/relationships/notesMaster" Target="/ppt/notesMasters/notesMaster1.xml" Id="Rea7d72dbf2db4d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6f42862d8e49ef" /><Relationship Type="http://schemas.openxmlformats.org/officeDocument/2006/relationships/notesMaster" Target="/ppt/notesMasters/notesMaster1.xml" Id="Ra6564bc7ef8140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5c06a97b3a4e14" /><Relationship Type="http://schemas.openxmlformats.org/officeDocument/2006/relationships/notesMaster" Target="/ppt/notesMasters/notesMaster1.xml" Id="R7ca2bfdbc7014c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6d868bfd204c30" /><Relationship Type="http://schemas.openxmlformats.org/officeDocument/2006/relationships/notesMaster" Target="/ppt/notesMasters/notesMaster1.xml" Id="R259ae5005f9b42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fe817174ab4367" /><Relationship Type="http://schemas.openxmlformats.org/officeDocument/2006/relationships/notesMaster" Target="/ppt/notesMasters/notesMaster1.xml" Id="R2f3bc5cf105043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44ec35d6614cf9" /><Relationship Type="http://schemas.openxmlformats.org/officeDocument/2006/relationships/notesMaster" Target="/ppt/notesMasters/notesMaster1.xml" Id="Rf9df4b47d8084f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012cc774a54520" /><Relationship Type="http://schemas.openxmlformats.org/officeDocument/2006/relationships/notesMaster" Target="/ppt/notesMasters/notesMaster1.xml" Id="Redf6243ad24146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43fb4330974d58" /><Relationship Type="http://schemas.openxmlformats.org/officeDocument/2006/relationships/notesMaster" Target="/ppt/notesMasters/notesMaster1.xml" Id="Rda36f82ffb5343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cf2358564c4326" /><Relationship Type="http://schemas.openxmlformats.org/officeDocument/2006/relationships/notesMaster" Target="/ppt/notesMasters/notesMaster1.xml" Id="R4bf3e13360df41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dae1b41d7845c6" /><Relationship Type="http://schemas.openxmlformats.org/officeDocument/2006/relationships/notesMaster" Target="/ppt/notesMasters/notesMaster1.xml" Id="R00b1434a455e4c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d27960df404630" /><Relationship Type="http://schemas.openxmlformats.org/officeDocument/2006/relationships/notesMaster" Target="/ppt/notesMasters/notesMaster1.xml" Id="R53c6ff10326946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1de6ec06d845ea" /><Relationship Type="http://schemas.openxmlformats.org/officeDocument/2006/relationships/notesMaster" Target="/ppt/notesMasters/notesMaster1.xml" Id="R78371cf6436a4e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0b2971b32b4ec7" /><Relationship Type="http://schemas.openxmlformats.org/officeDocument/2006/relationships/notesMaster" Target="/ppt/notesMasters/notesMaster1.xml" Id="R9fa0e3b573364e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853b1e3f484bac" /><Relationship Type="http://schemas.openxmlformats.org/officeDocument/2006/relationships/notesMaster" Target="/ppt/notesMasters/notesMaster1.xml" Id="R6a65bb87581c4b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6e85f9d7994f75" /><Relationship Type="http://schemas.openxmlformats.org/officeDocument/2006/relationships/notesMaster" Target="/ppt/notesMasters/notesMaster1.xml" Id="R239e63c180fe43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9ae0fca81244788" /><Relationship Type="http://schemas.openxmlformats.org/officeDocument/2006/relationships/notesMaster" Target="/ppt/notesMasters/notesMaster1.xml" Id="Rb285a5aec3df44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bcca93bcf94de4" /><Relationship Type="http://schemas.openxmlformats.org/officeDocument/2006/relationships/notesMaster" Target="/ppt/notesMasters/notesMaster1.xml" Id="R031abac2dc6d4e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7666abdcf49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63a504a2f344b0" /><Relationship Type="http://schemas.openxmlformats.org/officeDocument/2006/relationships/slideLayout" Target="/ppt/slideLayouts/slideLayout1.xml" Id="Rfbfb45e6a9844b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fb45e6a9844b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1943d984744ea" /><Relationship Type="http://schemas.openxmlformats.org/officeDocument/2006/relationships/notesSlide" Target="/ppt/notesSlides/notesSlide1.xml" Id="R358dd58d84594b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43833e6ea43ed" /><Relationship Type="http://schemas.openxmlformats.org/officeDocument/2006/relationships/notesSlide" Target="/ppt/notesSlides/notesSlide2.xml" Id="Re5e38c2833d24c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350f4747541c1" /><Relationship Type="http://schemas.openxmlformats.org/officeDocument/2006/relationships/notesSlide" Target="/ppt/notesSlides/notesSlide3.xml" Id="Rf2dffce99b9c42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e34c343f44a0c" /><Relationship Type="http://schemas.openxmlformats.org/officeDocument/2006/relationships/notesSlide" Target="/ppt/notesSlides/notesSlide4.xml" Id="R0f9a47b5269f44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4052840ea4dee" /><Relationship Type="http://schemas.openxmlformats.org/officeDocument/2006/relationships/notesSlide" Target="/ppt/notesSlides/notesSlide5.xml" Id="R6e0eb3fb4ec143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9079ab55846a3" /><Relationship Type="http://schemas.openxmlformats.org/officeDocument/2006/relationships/image" Target="/ppt/media/image.png" Id="R6920aa1ddd9f4aa0" /><Relationship Type="http://schemas.openxmlformats.org/officeDocument/2006/relationships/notesSlide" Target="/ppt/notesSlides/notesSlide6.xml" Id="R354d0afb27ea4b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3d676c95949d3" /><Relationship Type="http://schemas.openxmlformats.org/officeDocument/2006/relationships/notesSlide" Target="/ppt/notesSlides/notesSlide7.xml" Id="R23b879face5743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a254ffc6c44fd" /><Relationship Type="http://schemas.openxmlformats.org/officeDocument/2006/relationships/notesSlide" Target="/ppt/notesSlides/notesSlide8.xml" Id="Re513ba91a0444a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7ebf1cdb3451f" /><Relationship Type="http://schemas.openxmlformats.org/officeDocument/2006/relationships/image" Target="/ppt/media/image2.png" Id="Rd446f16055304bf2" /><Relationship Type="http://schemas.openxmlformats.org/officeDocument/2006/relationships/notesSlide" Target="/ppt/notesSlides/notesSlide9.xml" Id="Rbcd9e63785eb4b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5ceca9360416f" /><Relationship Type="http://schemas.openxmlformats.org/officeDocument/2006/relationships/image" Target="/ppt/media/image3.png" Id="R3386179b549d47a3" /><Relationship Type="http://schemas.openxmlformats.org/officeDocument/2006/relationships/notesSlide" Target="/ppt/notesSlides/notesSlide10.xml" Id="Rafe684169bf543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5580d87774784" /><Relationship Type="http://schemas.openxmlformats.org/officeDocument/2006/relationships/notesSlide" Target="/ppt/notesSlides/notesSlide11.xml" Id="R4046f6532ec64b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6175e0ab94f8e" /><Relationship Type="http://schemas.openxmlformats.org/officeDocument/2006/relationships/notesSlide" Target="/ppt/notesSlides/notesSlide12.xml" Id="R4b557e127e7b44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f01772ea84035" /><Relationship Type="http://schemas.openxmlformats.org/officeDocument/2006/relationships/image" Target="/ppt/media/image4.png" Id="R9a2a50da06ce42ec" /><Relationship Type="http://schemas.openxmlformats.org/officeDocument/2006/relationships/notesSlide" Target="/ppt/notesSlides/notesSlide13.xml" Id="R243db818d3f944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4e62fa2db467b" /><Relationship Type="http://schemas.openxmlformats.org/officeDocument/2006/relationships/notesSlide" Target="/ppt/notesSlides/notesSlide14.xml" Id="Rbdee7630172d4a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735a939b24050" /><Relationship Type="http://schemas.openxmlformats.org/officeDocument/2006/relationships/notesSlide" Target="/ppt/notesSlides/notesSlide15.xml" Id="Rd663d2109b2942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6829cf4854ba1" /><Relationship Type="http://schemas.openxmlformats.org/officeDocument/2006/relationships/notesSlide" Target="/ppt/notesSlides/notesSlide16.xml" Id="Rc77c20b4c13e4d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2dd518a334d27" /><Relationship Type="http://schemas.openxmlformats.org/officeDocument/2006/relationships/image" Target="/ppt/media/image5.png" Id="Raae013f5d3b84730" /><Relationship Type="http://schemas.openxmlformats.org/officeDocument/2006/relationships/image" Target="/ppt/media/image6.png" Id="Rdc8a423878a54434" /><Relationship Type="http://schemas.openxmlformats.org/officeDocument/2006/relationships/notesSlide" Target="/ppt/notesSlides/notesSlide17.xml" Id="R9b11b110b5184f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ece4b962741fd" /><Relationship Type="http://schemas.openxmlformats.org/officeDocument/2006/relationships/notesSlide" Target="/ppt/notesSlides/notesSlide18.xml" Id="R31146ab4ca56452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1c00a9b354c14" /><Relationship Type="http://schemas.openxmlformats.org/officeDocument/2006/relationships/notesSlide" Target="/ppt/notesSlides/notesSlide19.xml" Id="Rdba9317de12641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693aeb9a7484f" /><Relationship Type="http://schemas.openxmlformats.org/officeDocument/2006/relationships/notesSlide" Target="/ppt/notesSlides/notesSlide20.xml" Id="Re0fa6c5af5fc4f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A83659-2D42-413E-AF03-2101EF01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FC7B3-CEF5-4A8D-A903-0EFBA8C0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C1AD1-AFC5-48E9-A3F3-BEC4AAF4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666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Data-Driven Cognitive Phenotyping in Acquired Brain Injury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A9AE6-DA52-48B8-97F3-DD05C7B9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7541F-7B76-4AEB-99BE-E13A4E7A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5F2"/>
                </a:solidFill>
                <a:latin typeface="Aptos"/>
                <a:ea typeface="Aptos"/>
                <a:cs typeface="Aptos"/>
              </a:rPr>
              <a:t>A cognitive severity gradient that survives the choice of imputation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88A2A-520E-4DBD-997B-9DDCF15E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Zoltán Kunos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268DC-BC0C-4DD1-8983-148EEDF5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590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5F2"/>
                </a:solidFill>
                <a:latin typeface="Aptos"/>
                <a:ea typeface="Aptos"/>
                <a:cs typeface="Aptos"/>
              </a:rPr>
              <a:t>MSc Fundamental Principles of Data Science · Universitat de Barcelona</a:t>
            </a:r>
          </a:p>
          <a:p xmlns:a="http://schemas.openxmlformats.org/drawingml/2006/main">
            <a:pPr algn="l">
              <a:defRPr sz="975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E5F2"/>
                </a:solidFill>
                <a:latin typeface="Aptos"/>
                <a:ea typeface="Aptos"/>
                <a:cs typeface="Aptos"/>
              </a:rPr>
              <a:t>Supervisor: Dr. Alejandro García-Rudolph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A2954-A130-49BA-ABBD-F50FC5B6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D63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2E82A-5389-4053-8ACD-9892AF94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313B7-A92D-4B36-8519-AFDD4A82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430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17,406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F96F4-8D83-4AC0-BF5C-C6D44C3C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5F2"/>
                </a:solidFill>
                <a:latin typeface="Aptos"/>
                <a:ea typeface="Aptos"/>
                <a:cs typeface="Aptos"/>
              </a:rPr>
              <a:t>assessments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3EE9A-DDC4-45E3-997A-74F6FEE9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D638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87FD5-EAAD-409C-909D-E74A3837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DF6FC-BBB7-4535-9317-102668B8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7,285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45D5D-77FC-4C52-A0A9-BBE2B1A0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90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5F2"/>
                </a:solidFill>
                <a:latin typeface="Aptos"/>
                <a:ea typeface="Aptos"/>
                <a:cs typeface="Aptos"/>
              </a:rPr>
              <a:t>patients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0553D-7644-4222-B510-4FC80DCC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D638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8D126-46C0-4A24-BC47-B75F1C6F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5A85C-5D84-4D84-91C3-B9AC2981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57015-1FA8-4065-9707-1F28AE4E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5F2"/>
                </a:solidFill>
                <a:latin typeface="Aptos"/>
                <a:ea typeface="Aptos"/>
                <a:cs typeface="Aptos"/>
              </a:rPr>
              <a:t>imputation methods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0FAB6-75E9-4354-865B-929B039E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D638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D39FD-9A93-4CC2-9CAA-61C507A7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5FEDF-4AE9-49CB-87F8-1773C45E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434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51B6E-46CC-410E-96DB-F01B8107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E5F2"/>
                </a:solidFill>
                <a:latin typeface="Aptos"/>
                <a:ea typeface="Aptos"/>
                <a:cs typeface="Aptos"/>
              </a:rPr>
              <a:t>severity tiers</a:t>
            </a:r>
          </a:p>
        </p:txBody>
      </p:sp>
    </p:spTree>
    <p:extLst>
      <p:ext uri="{BB962C8B-B14F-4D97-AF65-F5344CB8AC3E}">
        <p14:creationId xmlns:p14="http://schemas.microsoft.com/office/powerpoint/2010/main" val="14529067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91968-D3E3-473E-A4D5-59F71C25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63BDB-E3C9-4B91-AE1C-500C7B13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E81D6-C684-47E0-B576-020AC710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Thesis in one sentence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40683-2940-4BD5-B843-4BBF4A14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1982B-990A-4F6D-BAE8-E7074720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68B39-9DB4-437D-86E1-F4F8CE33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The main signal is not a hidden subtype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34383-D7ED-4925-B348-9BB41956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14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28600" tIns="152400" rIns="228600" bIns="1524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Across incomplete routine neuropsychological data, unsupervised learning recovers a robust cognitive severity gradient.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F8018-297A-4831-9AAC-12C63B35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33BB0-5B33-4852-BBBD-72B779B1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8724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Diagnosis alone does not capture cognitive heterogeneity.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6A5CA-34A7-40C5-B965-218D3B3D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D0742-21FE-43E4-A7B8-F9C930F0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8724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Imputation is necessary because missingness is clinically structured.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4A20D-A12A-4419-A652-A051C3EC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62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B6669-2CE7-46F6-A327-7EE71426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76800"/>
            <a:ext cx="8724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The recovered tiers remain stable across imputation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14523720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5028C3-EB98-4478-8D0C-59C3880D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DB004-4B29-4FBB-AD1F-506774D8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0DA9A-A69E-4959-AACF-799D9735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Clinical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4E083-CA51-4D8F-B940-C8362014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CE49B-68B2-4690-9FBF-CB886DA9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84E26-C08E-4262-9CD9-8AA2A049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Same injury category, different rehabilitation needs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A0218-80B0-4721-8611-FB7DD0AD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ABI affects attention, memory, language, executive function and visuoperception in different combinations.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0A6C2-EE74-42B5-B0C7-C730A5E7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96D00-F631-45E0-891D-CCADD6B7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6153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Severity bands and diagnostic labels group together patients with different cognitive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1BF69-4B92-4A2D-9532-C8C3CB12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92DF4-6EF8-43A4-B6C4-F0D51A10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6153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Broad batteries are often incomplete because impaired patients cannot finish every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8F286-5702-4874-8691-B3B2D248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46143-E992-407B-9FED-B5D64CAC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6153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Excluding incomplete records risks removing exactly the patients most relevant to rehabilitation planning.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61D6C-556B-4AB6-929B-B31799FC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143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A5536-5582-423D-B2EB-81F0B785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68801-A3CC-4C48-8D97-C81676F2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 data-driven clustering recover clinically meaningful cognitive structure, and can we trust it under missing data?</a:t>
            </a:r>
          </a:p>
        </p:txBody>
      </p:sp>
    </p:spTree>
    <p:extLst>
      <p:ext uri="{BB962C8B-B14F-4D97-AF65-F5344CB8AC3E}">
        <p14:creationId xmlns:p14="http://schemas.microsoft.com/office/powerpoint/2010/main" val="7954822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1AA913-8A52-4347-AF92-F9FEC84B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89A90-E632-44CC-BB87-2F5E222F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86688-762D-4E31-B1FE-51F87410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Pre-registered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791B6-DFB0-42C2-A756-3DE44E9D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6EFAC-C025-42AF-ABC9-6E7C235F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1396E-FF43-4FB5-9CE8-D494F322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Four quantitative tests define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9C605-19CA-4B91-9028-63ED24A8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AB551-42F5-40C7-9FE9-1EEF9F73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EE4A8-5570-474D-863F-2333A586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H1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F5757-677E-4BB1-A1FB-3BDBCA9A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0FDAC-A0F5-4C6D-848E-F906F10C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240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Discrete, stable clusters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807C3-F8E2-4F13-A32F-BA82F1A3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silhouette &gt; 0.40, noise &lt; 30%, ≥ 2 clusters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199F8-50CF-47F3-AC5C-DDA36958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E9F79-97BA-4E85-BBF3-B241CF5D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591D5-D2FB-436D-BD99-5D1A0614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H2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B0406-BD23-4234-BD48-5BA10A4D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BE0E0-63EF-4834-A3D4-FBDF475A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432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Imputation robustness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8FF83-F128-4183-92AB-6FCFEF2E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mean pairwise ARI &gt; 0.50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747CC-6C84-4B17-9F7D-3FE6A767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DE744-ADDE-42EE-9016-127B7919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8B955-157D-4677-BFB1-7888F342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H3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7DCAA-65BD-441A-937B-333165D3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73B92-033C-4C06-A319-709F9A1E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623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Clinical-unit link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60A3BD-2837-42C8-9609-99401867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χ² significant, Cramér's V &gt; 0.10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1654D-A682-4BB7-8A3F-D47A3EBB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84818C-89AA-4390-8B4C-8C016683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13C8B4-C42B-4255-A3CD-FAF2309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83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F8354"/>
                </a:solidFill>
                <a:latin typeface="Aptos"/>
                <a:ea typeface="Aptos"/>
                <a:cs typeface="Aptos"/>
              </a:rPr>
              <a:t>H4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FDB0C3-1A90-458C-BFC8-D1996092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24F8E-9EDC-421A-AABF-9EACA754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815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Domain-level advantage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1243A9-D067-4A9C-82F4-9144FCF6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291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domains win silhouette, VIF and condition</a:t>
            </a:r>
          </a:p>
        </p:txBody>
      </p:sp>
    </p:spTree>
    <p:extLst>
      <p:ext uri="{BB962C8B-B14F-4D97-AF65-F5344CB8AC3E}">
        <p14:creationId xmlns:p14="http://schemas.microsoft.com/office/powerpoint/2010/main" val="16015616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59D124-6E42-4F75-B141-63A878B6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C6627-3B45-4C8F-953A-F2489218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A2A41-F6BB-41B4-AB54-3A0F6DB5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Cohort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DDF3E-927B-4547-B5F4-251DA7E8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A87A9-1E88-4915-8609-A4C4CEA8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9C5EB-53E5-49E7-A960-C8DE5318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The cohort is large, but incomplete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AC630-7922-4064-B408-96E93B27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Routine clinical data gives scale; missingness creates the central methodological risk.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180DC-BF2B-4579-8DC1-426AA145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19FE1-607E-4D0D-8BB4-DB29C787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7AFE7-7CF4-4E7D-A99F-0EE3B041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17,406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E6EB2-201C-4CDD-9D67-87BB1787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assessments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D6B03-8389-4132-BBF5-E1C1AA48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81AD0-F207-4197-9488-E94300F5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5E6D1-DE69-4BAA-9279-4AF4A7CE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7,285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45B1C-613E-4B2A-AB28-4408DE8C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0510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patients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80FF0-E5F9-4609-83A1-03799576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5B0D0-FEA8-442A-B0E2-0753C29C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ADDB7-B498-4FF7-B8C9-3A643234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14 → 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FB55E-04A7-465D-8D89-C8A91952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scores to domains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50ED3-7D78-402E-9604-05626659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0995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41959-60D7-4494-90EA-1D227034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099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AD0F8-343A-46BD-91F7-2014ACD0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83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F8354"/>
                </a:solidFill>
                <a:latin typeface="Aptos"/>
                <a:ea typeface="Aptos"/>
                <a:cs typeface="Aptos"/>
              </a:rPr>
              <a:t>53.1%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2D9E2-DE11-42B9-A515-3268473E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276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complete rows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53AA3-B81E-4AA5-A6CF-261289B7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52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038855-01FD-4834-8DA8-2CA24047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3009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One rehabilitation centre.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5AEEE7-B719-4D90-9CA8-3C2E53F9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F59781-6DCE-4266-814E-A666143B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3009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14 eligible neuropsychological variables retained after filtering.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08C93-852D-44F3-9905-8313877D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95821A-CF20-4E14-B253-B3F2E4D0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09950"/>
            <a:ext cx="3009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Scores were aggregated into six cognitive domains.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8834F4-80BB-4375-BFD0-008D0427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1A494C-64D9-45F3-91F8-FC3A05FE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009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Complete-case analysis would discard 46.9% of assessments.</a:t>
            </a:r>
          </a:p>
        </p:txBody>
      </p:sp>
    </p:spTree>
    <p:extLst>
      <p:ext uri="{BB962C8B-B14F-4D97-AF65-F5344CB8AC3E}">
        <p14:creationId xmlns:p14="http://schemas.microsoft.com/office/powerpoint/2010/main" val="19340231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CA27B7-1598-443E-8ADF-4DD565C1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50498-1C11-4FAC-BBD7-8E3F508F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356BD-63B0-4BE9-A53E-18ACA0DE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Missingness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E961B-153B-4E23-B05C-FE489797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FBC9D-DD7E-4FCD-9121-101B95E8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2F5ED-6AEA-43FB-A595-97E25FCD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Missingness is structured, not incidental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6A025-ABE3-44AA-97A5-1D2CE61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Specialised assessments have higher missingness than routine screening tests.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5044D-FFAB-4FBA-A789-9CF0B680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0aa1ddd9f4aa0"/>
          <a:stretch xmlns:a="http://schemas.openxmlformats.org/drawingml/2006/main"/>
        </p:blipFill>
        <p:spPr>
          <a:xfrm xmlns:a="http://schemas.openxmlformats.org/drawingml/2006/main">
            <a:off x="742950" y="2531398"/>
            <a:ext cx="5924550" cy="293820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AF74D-441E-4E12-A8EA-3B911B24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What to take 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0DE36-1E23-418D-84B2-0C6B15E1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95B53-ECBB-435D-AEA2-0E61DF28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Only 53.1% of rows are complete.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02F9E-2CF3-49AE-A7E4-53504D3C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C6985-A9C7-4656-86F4-7AA2426C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Missingness reflects the clinical testing process.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24752-8B9D-4E1E-ACF5-580FC723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D8396-48A0-48E9-A26B-F858AD42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Imputation keeps partially tested and impaired patients in the analysis.</a:t>
            </a:r>
          </a:p>
        </p:txBody>
      </p:sp>
    </p:spTree>
    <p:extLst>
      <p:ext uri="{BB962C8B-B14F-4D97-AF65-F5344CB8AC3E}">
        <p14:creationId xmlns:p14="http://schemas.microsoft.com/office/powerpoint/2010/main" val="9805532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7524FE-AE1B-4905-9BEE-009F0621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2399C-F853-45DB-A72C-CD83DDED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B6B1C-C5FC-4CA0-AB3A-BB766787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4EA7A-6146-4F10-A9EC-138894F2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5339A-C15B-4A23-B8D4-DB71E9E6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868E3-703D-4448-B0B4-4B931D13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One pipeline, ten imputation strategies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8DB0D-92A9-4309-8203-3B2DEF4A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design tests whether the clustering solution depends on the imputation method.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5388C-0D1A-4723-829C-FF5E0AC6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Impute</a:t>
            </a:r>
          </a:p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10 methods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7C65A-E1FB-4624-A02A-9E393619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47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D8D4E-604C-4C3F-B985-F06360BE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59959-B182-49E8-B667-E03BAF99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47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04628-5E16-49D5-BFE0-D0F0ACC7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UMAP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9B85C-AA42-4926-B614-3F32C548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47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EF036-046F-423C-86C8-8A6CA9F7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HDBSCAN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470B9-EDC6-44E8-8810-32244998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47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B9475-EEF4-41E1-8CE0-AEAA8172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Best-Q</a:t>
            </a:r>
          </a:p>
          <a:p xmlns:a="http://schemas.openxmlformats.org/drawingml/2006/main">
            <a:pPr algn="ctr">
              <a:defRPr sz="14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clusters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44CFF-6724-45B6-B3B1-8A5D0F7D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195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Q = Silhouette × (1 - noise proportion)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8BC6B-51DA-425C-B9C9-4985898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57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C7052-1D72-42AD-8472-03C210E8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72000"/>
            <a:ext cx="758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1,080 clustering configurations searched.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29CD7-562B-4D5B-8371-B174B7AD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97D87-1C2F-446B-BD42-3E70185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10150"/>
            <a:ext cx="758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Domain-level and variable-level representations compared.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8B19F-D9ED-41BE-8F94-D69FA6A6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3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BC35E-92C6-40EB-A4BE-1BCA84A5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48300"/>
            <a:ext cx="758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For H2, MICE fixed the scaler, embedding and cluster boundaries.</a:t>
            </a:r>
          </a:p>
        </p:txBody>
      </p:sp>
    </p:spTree>
    <p:extLst>
      <p:ext uri="{BB962C8B-B14F-4D97-AF65-F5344CB8AC3E}">
        <p14:creationId xmlns:p14="http://schemas.microsoft.com/office/powerpoint/2010/main" val="4297622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D162F3-868C-431A-8741-6C5E7783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C615F-4D0A-41E1-BD25-73D2328A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D27CA-3A64-462A-B6D9-CAF91665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H1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7C929-F5A8-42DD-A922-9D029E31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F2E0C-103C-4991-BA0E-7CF0F4D4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21E57-D40B-4F56-9AF2-08556A8B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Three cognitive severity tiers emerge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D402A-1C6F-4C73-BC7F-C66E8C07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clusters are ordered bands on a severity continuum.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EDB4B-FFC8-4608-B251-5EA20364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933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6E91B-AD10-4465-B6E6-B069AECE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BD2F9-2E2A-4BD3-93A8-56406557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647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6,725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B3AA6-1A1C-49F9-92F9-C0FB3779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Above-Average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above cohort mean on all domains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D588B-DB6D-40FE-949B-87B8AF0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2933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796A1-FBBA-42A7-ABD9-A85BAC97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D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0A599-2D46-4A96-811D-BA6ADCDD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2647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6,328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308B0-47CD-4D98-AD64-E61C4015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Near-Normal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near the cohort average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0832A-0ABE-459C-8CA8-97FDA621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52650"/>
            <a:ext cx="2933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FBB8F-3456-4CEA-9795-FD31CADB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52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B7038-5200-4A18-BE2E-3F646FA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2647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83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F8354"/>
                </a:solidFill>
                <a:latin typeface="Aptos"/>
                <a:ea typeface="Aptos"/>
                <a:cs typeface="Aptos"/>
              </a:rPr>
              <a:t>4,353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95375-E906-466C-9A09-4CD9FB7F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479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Global Impairment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below cohort mean on all domains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0EE0D-C861-410D-9163-0EBA6DE6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A25F0-03D5-45A0-BEF1-C4722ADD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7962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All 10 imputation methods clear the pre-registered thresholds.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68588-24C4-4686-BCE1-278CBD05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23CD8-EEA3-496C-9E4F-96C2F57F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7962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MICE reference: silhouette 0.53, k = 3.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9FD12-FCDC-4C68-B085-D764FB55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C54D0-EFC4-4186-BA5F-2A5F0D30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7962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One severity axis explains 56% of variance.</a:t>
            </a:r>
          </a:p>
        </p:txBody>
      </p:sp>
    </p:spTree>
    <p:extLst>
      <p:ext uri="{BB962C8B-B14F-4D97-AF65-F5344CB8AC3E}">
        <p14:creationId xmlns:p14="http://schemas.microsoft.com/office/powerpoint/2010/main" val="11470527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062A0-A5C8-4812-8E5C-9BE33121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ACE61-7099-48C5-AACF-BB731680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EAC27-A42A-416E-98E5-45EA36B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Severity profile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D55B4-194C-46DA-8AB1-D3F2A1DB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71285-918D-417E-8B33-65924E5A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875A4-D090-4B39-8149-6F2F7B63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The tiers differ by level, not profile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4E4D5-7460-4D22-91E3-A91E051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polygons are nearly concentric: domains move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4483F-75E2-4E98-9EE2-2C7BE438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6f16055304bf2"/>
          <a:stretch xmlns:a="http://schemas.openxmlformats.org/drawingml/2006/main"/>
        </p:blipFill>
        <p:spPr>
          <a:xfrm xmlns:a="http://schemas.openxmlformats.org/drawingml/2006/main">
            <a:off x="742950" y="2688276"/>
            <a:ext cx="5924550" cy="262444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433A8-718D-48CA-83AC-13672A43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What to take 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05B18-EEDE-495B-A1C0-4ACF9F0F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F2491-93EE-40BC-8033-CDF83B73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The signal is global cognitive severity.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35A57-743B-4E60-AAEC-C86A177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43329-C8AE-42B0-9AA2-A0B74C29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PC1 explains 56% of variance.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56C8C-7FD2-40BD-BF45-799BC6A4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B1D4E-9FB4-4801-971A-7A586940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No attention-specific dissociation remains after proper scaling.</a:t>
            </a:r>
          </a:p>
        </p:txBody>
      </p:sp>
    </p:spTree>
    <p:extLst>
      <p:ext uri="{BB962C8B-B14F-4D97-AF65-F5344CB8AC3E}">
        <p14:creationId xmlns:p14="http://schemas.microsoft.com/office/powerpoint/2010/main" val="10467545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F3C8F3-4943-4203-974E-4E23F44B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424E9-491C-49D9-846D-2465A530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A6A2B-86E7-4ECF-80EA-18F48AD0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H2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7D0EE-6BA1-487F-A0DE-7BF22C97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4B7A1-DBC2-468B-86B4-7D1F30A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C1B99-8ED1-4060-984C-AEE5DD7E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The tiers are robust to imputation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B0E8B-1492-46D1-AC0C-B67B9944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Every method pair agrees above the pre-registered threshold.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317FA-3700-49DD-BE66-5532712D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6179b549d47a3"/>
          <a:stretch xmlns:a="http://schemas.openxmlformats.org/drawingml/2006/main"/>
        </p:blipFill>
        <p:spPr>
          <a:xfrm xmlns:a="http://schemas.openxmlformats.org/drawingml/2006/main">
            <a:off x="742950" y="2721403"/>
            <a:ext cx="5924550" cy="255819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97A2A-8727-481C-9F6B-57D2449E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What to take 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2E92D-68F0-4715-8376-EF44ABA2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1DFD1-8595-4046-833A-15C7A460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Mean pairwise ARI = 0.71 [95% CI 0.70-0.72].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7C0E2-B9DE-4226-9BFC-F12AE8E0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ADEE2-2F41-4352-A557-B170077C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44 of 45 pairs survive Holm correction.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13E63-6A18-46F2-9B31-E34369E9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C63FE-19A6-42E3-91BC-86523024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86% of assessments receive high-confidence consensus labels.</a:t>
            </a:r>
          </a:p>
        </p:txBody>
      </p:sp>
    </p:spTree>
    <p:extLst>
      <p:ext uri="{BB962C8B-B14F-4D97-AF65-F5344CB8AC3E}">
        <p14:creationId xmlns:p14="http://schemas.microsoft.com/office/powerpoint/2010/main" val="3076133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8F3756-5517-4D99-8C86-F15D3BED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90E70-E7C8-48C5-86B8-998FE8CB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B40A7-7418-42F5-98F3-20C7E9C2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Why imputation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8ACAB-38BB-4907-BB39-89CECEB9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6330F-1341-4093-A3E5-FE9322EC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4EB0B-E6B5-4C4A-9492-653607E9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Listwise deletion changes the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734F9-EBD3-494E-9A12-0CA345FB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Removing incomplete rows does not merely reduce power; it changes the partition.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1C539-B57A-47BF-9A1E-CFC33E76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Complete-case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82CC7-630F-48BA-8D12-EFB18835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12E42-C684-4D8C-9845-17F20542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12026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71523-4E45-4644-9BCB-B41B8790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431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53%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54A48-3331-415B-A0D1-24ACBC31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Imputed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19D18-5A3F-4473-A720-C92FAACF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6BE14-B0D9-4EEE-91DC-C192B019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D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A4280-3AD0-49E6-8D50-66A03E97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71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E1FB3-6E0E-48C3-AA29-25BFEF09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Listwise silhouette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DE593-7A85-426A-ABF4-371CC98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38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1B593-CD01-4642-9973-482B8F8B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38550"/>
            <a:ext cx="104013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FF833-4D98-44A0-B281-2C75957E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004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0F2E0-2765-4601-8527-3981B7B2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MICE silhouette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DF765-104C-40D8-85FC-3BBFC2A8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672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5D8CA-6BAF-49C9-95B6-303FBC59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67200"/>
            <a:ext cx="212026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D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104A4-736A-43D7-841F-80822D11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29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53%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C729D-98BD-4DF7-A381-D9A01DA9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66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C16B0A-F24C-4080-9576-3B79C842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247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Complete-case baseline keeps 9,245 of 17,406 assessments.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2BB47-E38E-46CE-A12A-8E08FF7A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71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1580D-CC7A-450E-BE21-3E5BCCAA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247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It returns 2 clusters rather than 3 tiers.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B2BCFD-FDA3-496A-B72B-CC5869F7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76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BB382-96E1-4F10-B5C7-871C94AE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90950"/>
            <a:ext cx="2247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ARI vs. MICE = 0.63: related, but not equivalent.</a:t>
            </a:r>
          </a:p>
        </p:txBody>
      </p:sp>
    </p:spTree>
    <p:extLst>
      <p:ext uri="{BB962C8B-B14F-4D97-AF65-F5344CB8AC3E}">
        <p14:creationId xmlns:p14="http://schemas.microsoft.com/office/powerpoint/2010/main" val="19349454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2379C0-8330-473B-ABF8-85855C7E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236E9-A3B4-434E-8C57-2AE14439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BDD65-1CE8-4CAF-BBAC-017D0708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H3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DB1F8-5892-4070-8ABC-661B35FD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794C0-ACB9-4702-91CD-AFB3D05B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615EF-6889-484A-AB10-30D80183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Severity tier tracks treating clinical 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6D1C7-C7E7-4A30-B6A2-2951AFC8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association survives adjustment for diagnosis.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052BD-CC02-44E4-AE94-E8BD48E1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905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1409C-22AD-48E9-859A-366EB80E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A196F-B2E7-4BFC-9602-40562140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χ² = 911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8BC2F-8BF9-4906-B388-0C02AD9D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clinical unit association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 ≈ 10^-156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B0B7C-D4FF-4FAE-97FC-694A2B3E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90750"/>
            <a:ext cx="2905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2CF0B-5F72-4984-9EAC-D9383CD4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907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D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7031E-1022-4FE4-A274-6B90AA70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0505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V = 0.16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D759A-1317-4C54-8FC1-2A004CB8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686050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Cramér's V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above 0.10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4A94F-DD58-42FE-848E-3965710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2905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977DF-3FAF-4D74-B80A-819279B2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09D08-8F9D-423F-91E6-4DB77A80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0505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83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F8354"/>
                </a:solidFill>
                <a:latin typeface="Aptos"/>
                <a:ea typeface="Aptos"/>
                <a:cs typeface="Aptos"/>
              </a:rPr>
              <a:t>CMH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8B8CB-E6D6-4A0D-A328-739EA00E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not explained solely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by diagnosis group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5ED6E-986B-4564-B1B6-F400962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09550" tIns="133350" rIns="209550" bIns="1333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Severity tier adds information beyond diagnostic category, supporting severity-informed patient routing.</a:t>
            </a:r>
          </a:p>
        </p:txBody>
      </p:sp>
    </p:spTree>
    <p:extLst>
      <p:ext uri="{BB962C8B-B14F-4D97-AF65-F5344CB8AC3E}">
        <p14:creationId xmlns:p14="http://schemas.microsoft.com/office/powerpoint/2010/main" val="6267265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C9B43-315A-4516-A299-B5D5757F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F431B-188E-450D-B242-56F16D73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BC0DE-9C7E-49FA-BAF5-B653AE14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H4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3C378-85E3-456C-BCCF-9CB2C304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638A4-67C0-450A-8F46-97E829E1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D712D-6A63-4A2C-9C7F-F3FF579C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Six domains beat fourteen raw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D7FF4-EAD5-4FCD-898C-8BAC461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Domain aggregation preserves separation while improving numerical conditioning.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5D3A8-D7BE-48BF-BF18-2629D8EA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a50da06ce42ec"/>
          <a:stretch xmlns:a="http://schemas.openxmlformats.org/drawingml/2006/main"/>
        </p:blipFill>
        <p:spPr>
          <a:xfrm xmlns:a="http://schemas.openxmlformats.org/drawingml/2006/main">
            <a:off x="742950" y="3122789"/>
            <a:ext cx="5924550" cy="175542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D4A04-8845-46E0-9C7F-2C2A1204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What to take 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CAD5B-8E8A-421B-9598-7B3BB489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A30F5-DA10-4CF8-95CC-C1B9578B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Silhouette: 0.48 vs. 0.47.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24692-4658-4672-ACCD-686C32BA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A2083-54D9-4243-9CD4-5306D70D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Mean VIF: 1.9 vs. 2.8.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AEBC7-EB84-4E90-B7A7-925199E5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D0C8A-9ED7-4272-975C-903A2521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Condition number: 12 vs. 62.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83B09-6EB4-4FD1-AE8C-34F1D03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00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7AC21-FAEA-4B7B-B7F8-3E151847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14850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Clinical interpretation is cleaner at domain level.</a:t>
            </a:r>
          </a:p>
        </p:txBody>
      </p:sp>
    </p:spTree>
    <p:extLst>
      <p:ext uri="{BB962C8B-B14F-4D97-AF65-F5344CB8AC3E}">
        <p14:creationId xmlns:p14="http://schemas.microsoft.com/office/powerpoint/2010/main" val="156108213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6BF8F-2EEF-41C1-83E5-BC9B1A8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93154-25EB-4794-B10E-88060398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8721F-F01A-417E-8A01-FE96F57E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Result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62253-AC5D-474D-A86C-37C7CB58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028AA-2164-47DA-A98C-737B03A8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058AB-BD20-4D97-B0B6-88E7E6EC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All four hypotheses are supported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6E426-78D6-471A-817B-DD744904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4FA82-8E9A-4476-9E1A-F1D48950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F5483-F24A-4347-AEE1-110D2414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H1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E0602-AA1A-42AD-BC2B-FFF5BE55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BBE45-BD08-4B5E-A76A-DE26C032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47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52C87-CCE3-46D5-B5A8-03D8C39D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3 stable severity tiers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5F001-1A74-44A4-A042-D317B583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2D295-B19F-40F9-BE3F-2D29CD6C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8FAD5-655B-4DBF-8BA2-92E48426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H2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E687E-B3DC-4142-97DF-B7FAF24F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EA31B-A20A-42E0-A0F0-2AF9D29B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A394F-90F4-40B8-BAC4-601764D6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mean ARI 0.71; robust across imputation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747B6-3FB4-4805-AA03-5FBDCB2C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0B3CC-A791-4637-92B3-013A973B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F96B1-9A37-46B1-B2CE-5A7DB773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H3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1A123-D3AC-447A-8F25-AD81CD0C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D4EF8-0DCD-4412-B31D-6EE808E0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33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108743-4596-4EF3-B8C4-942C8BD9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clinical-unit association persists after diagnosis adjustment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3E95B3-BE04-44EE-9C64-8858383C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19251-F862-46AA-980D-28BD7E44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28FE02-5D47-4FEA-9F33-64486360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83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F8354"/>
                </a:solidFill>
                <a:latin typeface="Aptos"/>
                <a:ea typeface="Aptos"/>
                <a:cs typeface="Aptos"/>
              </a:rPr>
              <a:t>H4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2CEA29-3AA5-4EA5-A62A-712EC1D6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AB63FF-C7AA-48D4-84F7-BDD49DE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160D8A-5095-409F-A536-89DFB363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domain aggregation improves conditioning</a:t>
            </a:r>
          </a:p>
        </p:txBody>
      </p:sp>
    </p:spTree>
    <p:extLst>
      <p:ext uri="{BB962C8B-B14F-4D97-AF65-F5344CB8AC3E}">
        <p14:creationId xmlns:p14="http://schemas.microsoft.com/office/powerpoint/2010/main" val="15638569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9BA878-BBA8-4CF5-99AE-6212F18C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FBB62-2627-4956-8435-E86AF08A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85294-636F-4149-8B0D-2C6F3B92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035F1-4936-4E02-9EEB-64870552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B83CD-BE5D-48B4-81A0-19B25AA3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69F3C-E6CF-4A9A-BEE1-81EBA97F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This is a severity gradient, not a subtype catalogue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A957F-9721-49E4-BF7B-9E433A92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9419B-A255-4703-858E-DDC1C7F2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6629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The strongest unsupervised signal is general cognitive severity.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5B597-78ED-480F-BB93-BA8ED4FF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7CEA4-2AC3-4EC5-BA10-BCC67718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6629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Domain-specific phenotypes are weaker than the shared severity axis.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ED3DD-C8F2-4A57-9AE0-D6C62C80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AC411-BABD-4576-BA18-9EA85F49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6629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 preprocessing artefact can look like a phenotype unless scaling and variable screening are handled carefully.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49B22-0E03-49A5-AF51-DE0811F3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PC1 = 56%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 domains load positively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Tiers are bands of one gradient</a:t>
            </a:r>
          </a:p>
        </p:txBody>
      </p:sp>
    </p:spTree>
    <p:extLst>
      <p:ext uri="{BB962C8B-B14F-4D97-AF65-F5344CB8AC3E}">
        <p14:creationId xmlns:p14="http://schemas.microsoft.com/office/powerpoint/2010/main" val="39411025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5B5025-BB6F-4F24-8256-BC34419F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29CB4-33B7-4680-A1FD-8EDEE14A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81772-2330-45CC-A8B9-EEEF0522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Clinical and analytical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3CE6B-EA90-4357-BF95-5A31AAF8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FC2E8-33EC-4A98-AFCF-3C00FA4A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A0A65-011F-4D5A-A6CB-1D225F21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The framework has two practical audiences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9F47B-8BA3-4F70-93A1-A82AE15D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For the clinic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EFC0F-8463-42D0-8840-B717DEFC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28736-8BD2-41E5-BCB3-23E1F49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248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Match rehabilitation intensity to severity tier.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49055-F01A-4AA3-A420-E8D54544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8EBDE-72A8-4FC9-8D57-7A8E1734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4248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Report tier assignments with 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B6583-5C73-4463-9B1D-7601FA8E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C5C3D-94DA-4534-8A37-A7372838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4248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Use severity tier alongside diagnosis, not instead of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D50E6-2198-4BFD-BD39-B42EBC36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For analysts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388DF-B451-44B7-B5D0-90CD5C22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C7BC9-9A5D-4900-A0A5-1FC3BDD3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248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Use MICE as a practical default.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343F7-8026-4CC8-A132-4DC890DA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71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3630F-F267-4147-9332-53AF73A4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4248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Run sensitivity checks with more than one imputation method.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EE870-EFEF-4829-A1F5-693D7711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0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8BFDD-AA35-4C83-914E-21A9DC2B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248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Cluster domain-level scores rather than raw tests.</a:t>
            </a:r>
          </a:p>
        </p:txBody>
      </p:sp>
    </p:spTree>
    <p:extLst>
      <p:ext uri="{BB962C8B-B14F-4D97-AF65-F5344CB8AC3E}">
        <p14:creationId xmlns:p14="http://schemas.microsoft.com/office/powerpoint/2010/main" val="22044261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94076A-66B3-46CF-BB01-A18186C7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A1B76-329A-4325-8044-640E5847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783F0-DC1E-471F-8800-059E7257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Translation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622C0-9ED7-4C66-A971-BCF73437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D7398-50E4-42D4-896C-E567E346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5CC50-0650-453A-91A9-32AB9992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CogDash turns the pipeline into decision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77C6F-B0C4-462D-B589-6C0CEDF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Streamlit dashboard classifies new patients and reports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90684-A7B2-4D1F-B2E2-6248F7BE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013f5d3b84730"/>
          <a:stretch xmlns:a="http://schemas.openxmlformats.org/drawingml/2006/main"/>
        </p:blipFill>
        <p:spPr>
          <a:xfrm xmlns:a="http://schemas.openxmlformats.org/drawingml/2006/main">
            <a:off x="4038600" y="2816349"/>
            <a:ext cx="2876550" cy="141580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83A7B-3F6A-46E8-AFBD-9731BD89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a423878a54434"/>
          <a:stretch xmlns:a="http://schemas.openxmlformats.org/drawingml/2006/main"/>
        </p:blipFill>
        <p:spPr>
          <a:xfrm xmlns:a="http://schemas.openxmlformats.org/drawingml/2006/main">
            <a:off x="7372350" y="2816349"/>
            <a:ext cx="2876550" cy="141580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612D9-90FA-4FCC-B6E9-A9FE0348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83CEF-7CE7-4039-A014-56B7CCDE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cluster explorer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2CC19-1B91-416E-AEC2-C6B7D91E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F42EF-733A-4515-8E95-27C2FFA0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patient lookup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ABF5A-3016-44D2-B176-7B8006ED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03C22-F7A7-432B-BA98-7760F00F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new-patient classifier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EF592-2D25-4A36-9FBB-B79B5C18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98B4A-ED39-4CC1-828D-072E8120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hypothesis 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8EBAE-8BF4-4898-99A0-FCFD42C5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D83142-F6A4-453B-91E9-D3150317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83B5A"/>
                </a:solidFill>
                <a:latin typeface="Aptos"/>
                <a:ea typeface="Aptos"/>
                <a:cs typeface="Aptos"/>
              </a:rPr>
              <a:t>advanced analytics</a:t>
            </a:r>
          </a:p>
        </p:txBody>
      </p:sp>
    </p:spTree>
    <p:extLst>
      <p:ext uri="{BB962C8B-B14F-4D97-AF65-F5344CB8AC3E}">
        <p14:creationId xmlns:p14="http://schemas.microsoft.com/office/powerpoint/2010/main" val="132448527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D2F474-5386-4AB1-B674-0943FC81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7D2EA-2024-4425-A139-CF6AA3FD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43B80-E7F8-400F-8354-F479DB36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F33E8-B74B-4E6B-96D9-05F01350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585AF-777D-4156-9274-BBCCAA25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8A3E2-37F5-4433-A321-6044B0B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The main limits are design constraints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EB854-1286-4CBC-94B2-8EE92829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48815-C063-4A91-B0C2-97CFB86C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Single centre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E1CDD-66F8-406B-B0B0-DA0180D8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needs external validation.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73783-C9BC-4B2A-B7FC-CBF5CEE3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23B10-23A6-4C2B-B065-DBB876C9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Cross-sectional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0C01B-6A52-40BA-A872-C18C0EF4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76575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recovery trajectories require longitudinal modelling.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76FE6-0BDC-44FF-B393-E10C4C43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8DBC6-7274-4E0F-AB0B-2412D59F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MAR assumption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650E8-0F4B-4CCE-A317-D936D980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14775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MNAR cannot be ruled out from observed data alone.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2401B-E236-429C-BBA1-9479F7BC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3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3EA68-D586-4732-951C-7EB8C958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No functional outcomes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E5B09-F676-4EFA-8100-E902F59E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52975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return-to-work and length-of-stay validation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52849042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C1B3BA-2935-4067-9603-E9954C5B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6A8EE-A87A-4E50-8B5C-086534F3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E6C20-B4A1-4A1E-8817-360D701E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5D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5D99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E2A1C-2C46-4CAB-9AD2-2697F249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BA60E-3438-445A-AC93-286E3C3D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DCEAF-E5A8-423B-A202-4DE7EEB3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3B5A"/>
                </a:solidFill>
                <a:latin typeface="Aptos Display"/>
                <a:ea typeface="Aptos Display"/>
                <a:cs typeface="Aptos Display"/>
              </a:rPr>
              <a:t>Three conclusions for a 20-minute defense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F1EA9-7BE3-40D8-B4BC-79B072B7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8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4BF69-1A88-49CA-813D-043CBB9C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1D6C1-B33A-4D2D-A356-1C5630A9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8CAE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56938-BECD-4F2C-9991-E71372C0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3F23A-71DB-47C9-AE7E-132D35F9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860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A robust ABI cognitive severity gradient exists in routine clinical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ED1CE-A5AD-4940-9E10-F113A2F8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68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22E14-E0C2-4E17-A85D-FE18BC56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1651B-8944-4468-9FBB-C1C52BC6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E1C74-01B3-409C-AC88-56905ABD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ADBF2-CD7F-4A3C-9044-09EBA53E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528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Imputation is a substantive modelling decision, not a cosmetic preprocessing step.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E2047-2050-48EB-A68D-14D1BBEB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68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B08A1-40D6-4764-843A-7AFF3C10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F1FB0-3CA6-4AD5-93A0-292FB06C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E0A49-1C88-4D0B-BCBC-6C8AFA62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AEE82-C554-444B-B8F6-5FA010C7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196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3B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3B5A"/>
                </a:solidFill>
                <a:latin typeface="Aptos"/>
                <a:ea typeface="Aptos"/>
                <a:cs typeface="Aptos"/>
              </a:rPr>
              <a:t>Domain-level severity tiers provide a clinically interpretable and numerically stable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93249940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DC7F1F-CCDC-40F5-8787-2FB9584C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FB2E9-3276-475B-B04D-2AB09963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91F11-2397-4DBC-80C6-9DE836E6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0E9A2-B6F9-4F2D-9497-CF4B7ECB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8CAE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8CAE4"/>
                </a:solidFill>
                <a:latin typeface="Aptos"/>
                <a:ea typeface="Aptos"/>
                <a:cs typeface="Aptos"/>
              </a:rPr>
              <a:t>Questions and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13559-8F34-4D48-9053-EA773B44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D638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846FF-D386-47C6-9235-84F7550B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59638-D8B5-4785-99AF-DB83BA05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Email: z.kunos@gmail.com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31C83-32BB-4BD3-87F8-45361DBB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695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F8B32-5851-4762-9515-088811CE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D63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37A3B-D7C3-412D-A251-BA61A19A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11A5F-01B4-4789-B9E1-494871AF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7190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 &amp; dashboard: github.com/zkunos/thesis_project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8B2AF-B1D6-4E42-912C-F3820C1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695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91406-80FE-43A3-832E-242A48AD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6D"/>
          </a:solidFill>
          <a:ln xmlns:a="http://schemas.openxmlformats.org/drawingml/2006/main" w="9525">
            <a:solidFill>
              <a:srgbClr val="2D63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7D857-332F-4A86-A77C-886B78E4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453B5-1FF8-422A-A04D-AF00AB6D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CogDash: dashboard + new-patient classifier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CC29B-9B46-439A-AACB-BF538141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43500"/>
            <a:ext cx="695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8844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2026-06-08T00:35:41.6580000Z</dcterms:created>
  <dcterms:modified xsi:type="dcterms:W3CDTF">2026-06-08T00:35:41.6580000Z</dcterms:modified>
</coreProperties>
</file>